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62" r:id="rId3"/>
    <p:sldId id="263" r:id="rId4"/>
    <p:sldId id="264" r:id="rId5"/>
    <p:sldId id="265" r:id="rId6"/>
    <p:sldId id="257" r:id="rId7"/>
    <p:sldId id="266" r:id="rId8"/>
    <p:sldId id="258" r:id="rId9"/>
    <p:sldId id="269" r:id="rId10"/>
    <p:sldId id="267" r:id="rId11"/>
    <p:sldId id="259" r:id="rId12"/>
    <p:sldId id="268" r:id="rId13"/>
    <p:sldId id="278" r:id="rId14"/>
    <p:sldId id="270" r:id="rId15"/>
    <p:sldId id="271" r:id="rId16"/>
    <p:sldId id="277" r:id="rId17"/>
    <p:sldId id="272" r:id="rId18"/>
    <p:sldId id="273" r:id="rId19"/>
    <p:sldId id="274" r:id="rId20"/>
    <p:sldId id="275" r:id="rId21"/>
    <p:sldId id="276" r:id="rId22"/>
    <p:sldId id="279" r:id="rId23"/>
    <p:sldId id="286" r:id="rId24"/>
    <p:sldId id="281" r:id="rId25"/>
    <p:sldId id="282" r:id="rId26"/>
    <p:sldId id="283" r:id="rId27"/>
    <p:sldId id="284" r:id="rId28"/>
    <p:sldId id="287" r:id="rId29"/>
    <p:sldId id="293" r:id="rId30"/>
    <p:sldId id="294" r:id="rId31"/>
    <p:sldId id="295" r:id="rId32"/>
    <p:sldId id="288" r:id="rId33"/>
    <p:sldId id="289" r:id="rId34"/>
    <p:sldId id="290" r:id="rId35"/>
    <p:sldId id="291" r:id="rId36"/>
    <p:sldId id="297" r:id="rId37"/>
    <p:sldId id="292" r:id="rId38"/>
    <p:sldId id="285" r:id="rId39"/>
    <p:sldId id="296" r:id="rId4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515151"/>
    <a:srgbClr val="775973"/>
    <a:srgbClr val="F5F5F5"/>
    <a:srgbClr val="EEEEEE"/>
    <a:srgbClr val="4A3D5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000" autoAdjust="0"/>
    <p:restoredTop sz="57519" autoAdjust="0"/>
  </p:normalViewPr>
  <p:slideViewPr>
    <p:cSldViewPr snapToGrid="0">
      <p:cViewPr varScale="1">
        <p:scale>
          <a:sx n="33" d="100"/>
          <a:sy n="33" d="100"/>
        </p:scale>
        <p:origin x="-1723" y="-9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E68C5-6E85-458D-9FCC-88B9397465A2}" type="datetimeFigureOut">
              <a:rPr lang="pl-PL" smtClean="0"/>
              <a:pPr/>
              <a:t>15.06.2018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378F5-BDB5-462D-8E10-49C4C7500174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xmlns="" val="1942683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pl-PL" baseline="0" dirty="0" smtClean="0"/>
              <a:t>Przedstawiam się – kilka słów o mnie: </a:t>
            </a:r>
          </a:p>
          <a:p>
            <a:pPr lvl="1">
              <a:buFontTx/>
              <a:buChar char="-"/>
            </a:pPr>
            <a:r>
              <a:rPr lang="pl-PL" baseline="0" dirty="0" smtClean="0"/>
              <a:t>ponad 5 lat doświadczenia zawodowego w firmie </a:t>
            </a:r>
            <a:r>
              <a:rPr lang="pl-PL" baseline="0" dirty="0" err="1" smtClean="0"/>
              <a:t>Goyello</a:t>
            </a:r>
            <a:endParaRPr lang="pl-PL" baseline="0" dirty="0" smtClean="0"/>
          </a:p>
          <a:p>
            <a:pPr lvl="1">
              <a:buFontTx/>
              <a:buChar char="-"/>
            </a:pPr>
            <a:r>
              <a:rPr lang="pl-PL" baseline="0" dirty="0" smtClean="0"/>
              <a:t>Głównie .Net, C# + </a:t>
            </a:r>
            <a:r>
              <a:rPr lang="pl-PL" baseline="0" dirty="0" err="1" smtClean="0"/>
              <a:t>frontend</a:t>
            </a:r>
            <a:endParaRPr lang="pl-PL" baseline="0" dirty="0" smtClean="0"/>
          </a:p>
          <a:p>
            <a:pPr lvl="1">
              <a:buFontTx/>
              <a:buChar char="-"/>
            </a:pPr>
            <a:r>
              <a:rPr lang="pl-PL" baseline="0" dirty="0" smtClean="0"/>
              <a:t>Spotkamy się na 3 zajęciach do poniedziałku</a:t>
            </a:r>
          </a:p>
          <a:p>
            <a:pPr lvl="1">
              <a:buFontTx/>
              <a:buChar char="-"/>
            </a:pPr>
            <a:endParaRPr lang="pl-PL" baseline="0" dirty="0" smtClean="0"/>
          </a:p>
          <a:p>
            <a:pPr lvl="1">
              <a:buFontTx/>
              <a:buChar char="-"/>
            </a:pPr>
            <a:endParaRPr lang="pl-PL" baseline="0" dirty="0" smtClean="0"/>
          </a:p>
          <a:p>
            <a:pPr lvl="0">
              <a:buFontTx/>
              <a:buNone/>
            </a:pPr>
            <a:r>
              <a:rPr lang="pl-PL" baseline="0" dirty="0" smtClean="0"/>
              <a:t>Przedstawcie się(opowiedziałem o sobie, teraz wasza kolej) i sprawdzenie obecności</a:t>
            </a:r>
          </a:p>
          <a:p>
            <a:pPr lvl="0">
              <a:buFontTx/>
              <a:buNone/>
            </a:pPr>
            <a:r>
              <a:rPr lang="pl-PL" baseline="0" dirty="0" smtClean="0"/>
              <a:t>	Przykładowe:</a:t>
            </a:r>
          </a:p>
          <a:p>
            <a:pPr lvl="0">
              <a:buFontTx/>
              <a:buNone/>
            </a:pPr>
            <a:r>
              <a:rPr lang="pl-PL" baseline="0" dirty="0" smtClean="0"/>
              <a:t>		- czy kojarzycie dzisiejszy temat?</a:t>
            </a:r>
          </a:p>
          <a:p>
            <a:pPr lvl="0">
              <a:buFontTx/>
              <a:buNone/>
            </a:pPr>
            <a:r>
              <a:rPr lang="pl-PL" baseline="0" dirty="0" smtClean="0"/>
              <a:t>		- czego oczekujecie od zajęć?</a:t>
            </a:r>
          </a:p>
          <a:p>
            <a:pPr lvl="0">
              <a:buFontTx/>
              <a:buNone/>
            </a:pPr>
            <a:r>
              <a:rPr lang="pl-PL" baseline="0" dirty="0" smtClean="0"/>
              <a:t>		- jak widzicie zajęcia?</a:t>
            </a:r>
          </a:p>
          <a:p>
            <a:pPr lvl="1">
              <a:buFontTx/>
              <a:buNone/>
            </a:pPr>
            <a:endParaRPr lang="pl-PL" baseline="0" dirty="0" smtClean="0"/>
          </a:p>
          <a:p>
            <a:pPr lvl="1">
              <a:buFontTx/>
              <a:buChar char="-"/>
            </a:pPr>
            <a:endParaRPr lang="pl-PL" baseline="0" dirty="0" smtClean="0"/>
          </a:p>
          <a:p>
            <a:pPr lvl="0">
              <a:buFontTx/>
              <a:buChar char="-"/>
            </a:pPr>
            <a:r>
              <a:rPr lang="pl-PL" baseline="0" dirty="0" smtClean="0"/>
              <a:t>Propozycja zasad</a:t>
            </a:r>
          </a:p>
          <a:p>
            <a:pPr lvl="1">
              <a:buFontTx/>
              <a:buChar char="-"/>
            </a:pPr>
            <a:r>
              <a:rPr lang="pl-PL" baseline="0" dirty="0" smtClean="0"/>
              <a:t>Żeby nam się dobrze i miło współpracowało i żebyście wynieśli jak najwięcej</a:t>
            </a:r>
          </a:p>
          <a:p>
            <a:pPr lvl="1">
              <a:buFontTx/>
              <a:buChar char="-"/>
            </a:pPr>
            <a:r>
              <a:rPr lang="pl-PL" baseline="0" dirty="0" smtClean="0"/>
              <a:t>Proponuje przejść na „Ty”</a:t>
            </a:r>
          </a:p>
          <a:p>
            <a:pPr lvl="1">
              <a:buFontTx/>
              <a:buChar char="-"/>
            </a:pPr>
            <a:r>
              <a:rPr lang="pl-PL" baseline="0" dirty="0" smtClean="0"/>
              <a:t>Zrobię wszystko co w mojej mocy, żeby nauczyć i pomóc.</a:t>
            </a:r>
          </a:p>
          <a:p>
            <a:pPr lvl="1">
              <a:buFontTx/>
              <a:buChar char="-"/>
            </a:pPr>
            <a:r>
              <a:rPr lang="pl-PL" baseline="0" dirty="0" smtClean="0"/>
              <a:t>Zachęcam do aktywności, zadawania pytań, zgłaszania wątpliwości</a:t>
            </a:r>
          </a:p>
          <a:p>
            <a:pPr lvl="1">
              <a:buFontTx/>
              <a:buChar char="-"/>
            </a:pPr>
            <a:r>
              <a:rPr lang="pl-PL" baseline="0" dirty="0" smtClean="0"/>
              <a:t>Nie ma głupich pytań</a:t>
            </a:r>
          </a:p>
          <a:p>
            <a:pPr lvl="1">
              <a:buFontTx/>
              <a:buChar char="-"/>
            </a:pPr>
            <a:r>
              <a:rPr lang="pl-PL" baseline="0" dirty="0" smtClean="0"/>
              <a:t>Czasem ktoś utknie, to niech woła</a:t>
            </a:r>
          </a:p>
          <a:p>
            <a:pPr lvl="1">
              <a:buFontTx/>
              <a:buChar char="-"/>
            </a:pPr>
            <a:r>
              <a:rPr lang="pl-PL" baseline="0" dirty="0" smtClean="0"/>
              <a:t>Na przerwie można też podejść</a:t>
            </a:r>
          </a:p>
          <a:p>
            <a:pPr lvl="1">
              <a:buFontTx/>
              <a:buChar char="-"/>
            </a:pPr>
            <a:r>
              <a:rPr lang="pl-PL" baseline="0" dirty="0" smtClean="0"/>
              <a:t>Wymagajcie ode mnie – jestem po to, żeby nauczyć.</a:t>
            </a:r>
          </a:p>
          <a:p>
            <a:pPr lvl="1">
              <a:buFontTx/>
              <a:buChar char="-"/>
            </a:pPr>
            <a:r>
              <a:rPr lang="pl-PL" baseline="0" dirty="0" smtClean="0"/>
              <a:t>Jestem otwarty na sugestie, uwagi – w trakcie zajęć można też coś zmienić w formie, treści – niech dadzą znać</a:t>
            </a:r>
          </a:p>
          <a:p>
            <a:pPr lvl="1">
              <a:buFontTx/>
              <a:buChar char="-"/>
            </a:pPr>
            <a:r>
              <a:rPr lang="pl-PL" baseline="0" dirty="0" smtClean="0"/>
              <a:t>Będę zadawał pytania – to wszystko, żebym wiedział czy wszystko jest zrozumiałe i jak najwięcej się nauczyli – proszę o </a:t>
            </a:r>
            <a:r>
              <a:rPr lang="pl-PL" baseline="0" dirty="0" err="1" smtClean="0"/>
              <a:t>feedback</a:t>
            </a:r>
            <a:r>
              <a:rPr lang="pl-PL" baseline="0" dirty="0" smtClean="0"/>
              <a:t> </a:t>
            </a:r>
          </a:p>
          <a:p>
            <a:pPr lvl="1">
              <a:buFontTx/>
              <a:buChar char="-"/>
            </a:pPr>
            <a:r>
              <a:rPr lang="pl-PL" baseline="0" dirty="0" smtClean="0"/>
              <a:t>Na kolejnych zajęciach będą wykorzystywać tą wiedzę – jeżeli pojawią się jakieś wątpliwości, to najlepiej zgłaszać je od razu. Czym szybciej tym lepiej</a:t>
            </a:r>
          </a:p>
          <a:p>
            <a:pPr lvl="1">
              <a:buFontTx/>
              <a:buChar char="-"/>
            </a:pPr>
            <a:r>
              <a:rPr lang="pl-PL" baseline="0" dirty="0" smtClean="0"/>
              <a:t>Wszyscy wiedzą po co tu są, jesteśmy dorośli i szanujmy się na wzajem – nie przeszkadzajmy sobie nawzajem telefonami, wychodzeniem – róbmy to po cichu</a:t>
            </a:r>
          </a:p>
          <a:p>
            <a:pPr lvl="1">
              <a:buFontTx/>
              <a:buChar char="-"/>
            </a:pPr>
            <a:endParaRPr lang="pl-PL" baseline="0" dirty="0" smtClean="0"/>
          </a:p>
          <a:p>
            <a:pPr lvl="1">
              <a:buFontTx/>
              <a:buChar char="-"/>
            </a:pPr>
            <a:endParaRPr lang="pl-PL" baseline="0" dirty="0" smtClean="0"/>
          </a:p>
          <a:p>
            <a:pPr lvl="1">
              <a:buFontTx/>
              <a:buNone/>
            </a:pPr>
            <a:endParaRPr lang="pl-PL" baseline="0" dirty="0" smtClean="0"/>
          </a:p>
          <a:p>
            <a:pPr lvl="1">
              <a:buFontTx/>
              <a:buNone/>
            </a:pPr>
            <a:endParaRPr lang="pl-PL" baseline="0" dirty="0" smtClean="0"/>
          </a:p>
          <a:p>
            <a:pPr lvl="1">
              <a:buFontTx/>
              <a:buNone/>
            </a:pPr>
            <a:endParaRPr lang="pl-PL" baseline="0" dirty="0" smtClean="0"/>
          </a:p>
          <a:p>
            <a:pPr lvl="1">
              <a:buFontTx/>
              <a:buChar char="-"/>
            </a:pPr>
            <a:endParaRPr lang="pl-PL" baseline="0" dirty="0" smtClean="0"/>
          </a:p>
          <a:p>
            <a:pPr lvl="1">
              <a:buFontTx/>
              <a:buChar char="-"/>
            </a:pPr>
            <a:r>
              <a:rPr lang="pl-PL" baseline="0" dirty="0" smtClean="0"/>
              <a:t>Ustalmy </a:t>
            </a:r>
            <a:r>
              <a:rPr lang="pl-PL" baseline="0" dirty="0" err="1" smtClean="0"/>
              <a:t>przerwe</a:t>
            </a:r>
            <a:endParaRPr lang="pl-PL" baseline="0" dirty="0" smtClean="0"/>
          </a:p>
          <a:p>
            <a:pPr lvl="1">
              <a:buFontTx/>
              <a:buChar char="-"/>
            </a:pPr>
            <a:r>
              <a:rPr lang="pl-PL" baseline="0" dirty="0" smtClean="0"/>
              <a:t>Wszyscy mają </a:t>
            </a:r>
            <a:r>
              <a:rPr lang="pl-PL" baseline="0" dirty="0" err="1" smtClean="0"/>
              <a:t>brackets</a:t>
            </a:r>
            <a:r>
              <a:rPr lang="pl-PL" baseline="0" dirty="0" smtClean="0"/>
              <a:t>? </a:t>
            </a:r>
            <a:r>
              <a:rPr lang="pl-PL" baseline="0" dirty="0" err="1" smtClean="0"/>
              <a:t>Chorme</a:t>
            </a:r>
            <a:r>
              <a:rPr lang="pl-PL" baseline="0" dirty="0" smtClean="0"/>
              <a:t>?</a:t>
            </a:r>
          </a:p>
          <a:p>
            <a:pPr lvl="1">
              <a:buFontTx/>
              <a:buChar char="-"/>
            </a:pPr>
            <a:r>
              <a:rPr lang="pl-PL" baseline="0" dirty="0" smtClean="0"/>
              <a:t>Wszyscy widzą? Powiększyć? Jasny czy ciemny?</a:t>
            </a:r>
          </a:p>
          <a:p>
            <a:endParaRPr lang="pl-PL" dirty="0" smtClean="0"/>
          </a:p>
          <a:p>
            <a:pPr lvl="1">
              <a:buFontTx/>
              <a:buNone/>
            </a:pPr>
            <a:endParaRPr lang="pl-PL" baseline="0" dirty="0" smtClean="0"/>
          </a:p>
          <a:p>
            <a:pPr lvl="0">
              <a:buFontTx/>
              <a:buNone/>
            </a:pPr>
            <a:r>
              <a:rPr lang="pl-PL" baseline="0" dirty="0" smtClean="0"/>
              <a:t>		</a:t>
            </a:r>
          </a:p>
          <a:p>
            <a:pPr lvl="1">
              <a:buFontTx/>
              <a:buNone/>
            </a:pPr>
            <a:endParaRPr lang="pl-PL" baseline="0" dirty="0" smtClean="0"/>
          </a:p>
          <a:p>
            <a:pPr lvl="1">
              <a:buFontTx/>
              <a:buChar char="-"/>
            </a:pPr>
            <a:endParaRPr lang="pl-PL" baseline="0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1</a:t>
            </a:fld>
            <a:endParaRPr lang="pl-P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smtClean="0"/>
              <a:t>Przebieg zajęć</a:t>
            </a:r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2</a:t>
            </a:fld>
            <a:endParaRPr lang="pl-P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err="1" smtClean="0"/>
              <a:t>Why</a:t>
            </a:r>
            <a:r>
              <a:rPr lang="pl-PL" dirty="0" smtClean="0"/>
              <a:t>? Po co? A komu to potrzebne? – </a:t>
            </a:r>
          </a:p>
          <a:p>
            <a:endParaRPr lang="pl-PL" dirty="0" smtClean="0"/>
          </a:p>
          <a:p>
            <a:r>
              <a:rPr lang="pl-PL" dirty="0" smtClean="0"/>
              <a:t>	każda strona, cały </a:t>
            </a:r>
            <a:r>
              <a:rPr lang="pl-PL" dirty="0" err="1" smtClean="0"/>
              <a:t>internet</a:t>
            </a:r>
            <a:r>
              <a:rPr lang="pl-PL" dirty="0" smtClean="0"/>
              <a:t>, różne </a:t>
            </a:r>
            <a:r>
              <a:rPr lang="pl-PL" dirty="0" err="1" smtClean="0"/>
              <a:t>urzadzenia</a:t>
            </a:r>
            <a:r>
              <a:rPr lang="pl-PL" dirty="0" smtClean="0"/>
              <a:t>, </a:t>
            </a:r>
            <a:r>
              <a:rPr lang="pl-PL" dirty="0" err="1" smtClean="0"/>
              <a:t>full</a:t>
            </a:r>
            <a:r>
              <a:rPr lang="pl-PL" dirty="0" smtClean="0"/>
              <a:t> </a:t>
            </a:r>
            <a:r>
              <a:rPr lang="pl-PL" dirty="0" err="1" smtClean="0"/>
              <a:t>stack</a:t>
            </a:r>
            <a:r>
              <a:rPr lang="pl-PL" dirty="0" smtClean="0"/>
              <a:t>, bardziej doceniane, </a:t>
            </a:r>
            <a:r>
              <a:rPr lang="pl-PL" dirty="0" err="1" smtClean="0"/>
              <a:t>frontend</a:t>
            </a:r>
            <a:r>
              <a:rPr lang="pl-PL" dirty="0" smtClean="0"/>
              <a:t>,</a:t>
            </a:r>
          </a:p>
          <a:p>
            <a:r>
              <a:rPr lang="pl-PL" dirty="0" smtClean="0"/>
              <a:t>	jak to jest ważne, w pracy nieuniknione praktycznie</a:t>
            </a:r>
          </a:p>
          <a:p>
            <a:endParaRPr lang="pl-PL" dirty="0" smtClean="0"/>
          </a:p>
          <a:p>
            <a:r>
              <a:rPr lang="pl-PL" dirty="0" smtClean="0"/>
              <a:t>	połączenie </a:t>
            </a:r>
            <a:r>
              <a:rPr lang="pl-PL" dirty="0" err="1" smtClean="0"/>
              <a:t>hmtl+css+js,sd</a:t>
            </a:r>
            <a:endParaRPr lang="pl-PL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 smtClean="0"/>
              <a:t>	HTML - </a:t>
            </a:r>
            <a:r>
              <a:rPr lang="pl-PL" baseline="0" dirty="0" smtClean="0"/>
              <a:t>Co jest prezentowane użytkownikowi, zawartość strony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baseline="0" dirty="0" smtClean="0"/>
              <a:t>	</a:t>
            </a:r>
            <a:r>
              <a:rPr lang="pl-PL" baseline="0" dirty="0" err="1" smtClean="0"/>
              <a:t>Css</a:t>
            </a:r>
            <a:r>
              <a:rPr lang="pl-PL" baseline="0" dirty="0" smtClean="0"/>
              <a:t> - jak to jest zaprezentowane, układ</a:t>
            </a:r>
          </a:p>
          <a:p>
            <a:endParaRPr lang="pl-PL" dirty="0" smtClean="0"/>
          </a:p>
          <a:p>
            <a:endParaRPr lang="pl-PL" dirty="0" smtClean="0"/>
          </a:p>
          <a:p>
            <a:r>
              <a:rPr lang="pl-PL" dirty="0" smtClean="0"/>
              <a:t>		Praktyka - na przykładzie pokazać czym jest każda z tych rzeczy:</a:t>
            </a:r>
          </a:p>
          <a:p>
            <a:r>
              <a:rPr lang="pl-PL" dirty="0" smtClean="0"/>
              <a:t>		</a:t>
            </a:r>
            <a:r>
              <a:rPr lang="pl-PL" dirty="0" err="1" smtClean="0"/>
              <a:t>view-source</a:t>
            </a:r>
            <a:r>
              <a:rPr lang="pl-PL" dirty="0" smtClean="0"/>
              <a:t> - skrót i klikając + adres</a:t>
            </a:r>
          </a:p>
          <a:p>
            <a:r>
              <a:rPr lang="pl-PL" dirty="0" smtClean="0"/>
              <a:t>		ktoś pokazywał </a:t>
            </a:r>
            <a:r>
              <a:rPr lang="pl-PL" dirty="0" err="1" smtClean="0"/>
              <a:t>dev</a:t>
            </a:r>
            <a:r>
              <a:rPr lang="pl-PL" dirty="0" smtClean="0"/>
              <a:t> </a:t>
            </a:r>
            <a:r>
              <a:rPr lang="pl-PL" dirty="0" err="1" smtClean="0"/>
              <a:t>tools</a:t>
            </a:r>
            <a:r>
              <a:rPr lang="pl-PL" dirty="0" smtClean="0"/>
              <a:t>?</a:t>
            </a:r>
          </a:p>
          <a:p>
            <a:r>
              <a:rPr lang="pl-PL" dirty="0" smtClean="0"/>
              <a:t>			</a:t>
            </a:r>
            <a:r>
              <a:rPr lang="pl-PL" dirty="0" err="1" smtClean="0"/>
              <a:t>Dev</a:t>
            </a:r>
            <a:r>
              <a:rPr lang="pl-PL" dirty="0" smtClean="0"/>
              <a:t> </a:t>
            </a:r>
            <a:r>
              <a:rPr lang="pl-PL" dirty="0" err="1" smtClean="0"/>
              <a:t>tools+użycie</a:t>
            </a:r>
            <a:r>
              <a:rPr lang="pl-PL" dirty="0" smtClean="0"/>
              <a:t> - przykład na jakieś stronie</a:t>
            </a:r>
          </a:p>
          <a:p>
            <a:r>
              <a:rPr lang="pl-PL" dirty="0" smtClean="0"/>
              <a:t>				(skrót klawiszowy, zbadaj, </a:t>
            </a:r>
            <a:r>
              <a:rPr lang="pl-PL" dirty="0" err="1" smtClean="0"/>
              <a:t>docowanie</a:t>
            </a:r>
            <a:r>
              <a:rPr lang="pl-PL" dirty="0" smtClean="0"/>
              <a:t>, zmiana elementu, </a:t>
            </a:r>
            <a:r>
              <a:rPr lang="pl-PL" dirty="0" err="1" smtClean="0"/>
              <a:t>console</a:t>
            </a:r>
            <a:r>
              <a:rPr lang="pl-PL" dirty="0" smtClean="0"/>
              <a:t>, zmiana stylu, zmiana treści, zmiana elementu, ukrycie stylami i prawym), </a:t>
            </a:r>
          </a:p>
          <a:p>
            <a:r>
              <a:rPr lang="pl-PL" dirty="0" smtClean="0"/>
              <a:t>				widok innych urządzeń, </a:t>
            </a:r>
            <a:r>
              <a:rPr lang="pl-PL" dirty="0" err="1" smtClean="0"/>
              <a:t>disable</a:t>
            </a:r>
            <a:r>
              <a:rPr lang="pl-PL" dirty="0" smtClean="0"/>
              <a:t> </a:t>
            </a:r>
            <a:r>
              <a:rPr lang="pl-PL" dirty="0" err="1" smtClean="0"/>
              <a:t>javascript</a:t>
            </a:r>
            <a:r>
              <a:rPr lang="pl-PL" dirty="0" smtClean="0"/>
              <a:t>, 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3</a:t>
            </a:fld>
            <a:endParaRPr lang="pl-P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Język znaczników – format dokumentu, który obok tekstu zawiera także dodatkowe informacje, które go opisują. </a:t>
            </a:r>
          </a:p>
          <a:p>
            <a:r>
              <a:rPr lang="pl-PL" dirty="0" smtClean="0"/>
              <a:t>	Te</a:t>
            </a:r>
            <a:r>
              <a:rPr lang="pl-PL" baseline="0" dirty="0" smtClean="0"/>
              <a:t> informacje są wyrażone poprzez wplecione w tekst znaczniki.</a:t>
            </a:r>
          </a:p>
          <a:p>
            <a:r>
              <a:rPr lang="pl-PL" baseline="0" dirty="0" smtClean="0"/>
              <a:t>	Co jest prezentowane użytkownikowi, nie jak to jest zaprezentowane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4</a:t>
            </a:fld>
            <a:endParaRPr lang="pl-P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To co Sławomirowi powiedzieć. </a:t>
            </a:r>
            <a:br>
              <a:rPr lang="pl-PL" dirty="0" smtClean="0"/>
            </a:b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>https://www.w3schools.com/</a:t>
            </a:r>
            <a:r>
              <a:rPr lang="pl-PL" dirty="0" err="1" smtClean="0"/>
              <a:t>html</a:t>
            </a:r>
            <a:r>
              <a:rPr lang="pl-PL" dirty="0" smtClean="0"/>
              <a:t>/html5_intro.asp – bo wszystkiego nie będę w stanie pokazać i może się przydać podczas zajęć</a:t>
            </a:r>
          </a:p>
          <a:p>
            <a:r>
              <a:rPr lang="pl-PL" dirty="0" smtClean="0"/>
              <a:t>+ </a:t>
            </a:r>
            <a:r>
              <a:rPr lang="pl-PL" dirty="0" err="1" smtClean="0"/>
              <a:t>mozilla</a:t>
            </a:r>
            <a:endParaRPr lang="pl-PL" dirty="0" smtClean="0"/>
          </a:p>
          <a:p>
            <a:endParaRPr lang="pl-PL" dirty="0" smtClean="0"/>
          </a:p>
          <a:p>
            <a:r>
              <a:rPr lang="pl-PL" dirty="0" err="1" smtClean="0"/>
              <a:t>Sktruktura</a:t>
            </a:r>
            <a:r>
              <a:rPr lang="pl-PL" dirty="0" smtClean="0"/>
              <a:t> dokumentu</a:t>
            </a:r>
          </a:p>
          <a:p>
            <a:r>
              <a:rPr lang="pl-PL" dirty="0" smtClean="0"/>
              <a:t>	</a:t>
            </a:r>
            <a:r>
              <a:rPr lang="pl-PL" dirty="0" err="1" smtClean="0"/>
              <a:t>html</a:t>
            </a:r>
            <a:r>
              <a:rPr lang="pl-PL" dirty="0" smtClean="0"/>
              <a:t>, </a:t>
            </a:r>
            <a:r>
              <a:rPr lang="pl-PL" dirty="0" err="1" smtClean="0"/>
              <a:t>head</a:t>
            </a:r>
            <a:r>
              <a:rPr lang="pl-PL" dirty="0" smtClean="0"/>
              <a:t>, body, itd.</a:t>
            </a:r>
          </a:p>
          <a:p>
            <a:r>
              <a:rPr lang="pl-PL" dirty="0" smtClean="0"/>
              <a:t>	</a:t>
            </a:r>
            <a:r>
              <a:rPr lang="pl-PL" dirty="0" err="1" smtClean="0"/>
              <a:t>head</a:t>
            </a:r>
            <a:r>
              <a:rPr lang="pl-PL" dirty="0" smtClean="0"/>
              <a:t> mogę pokazać, </a:t>
            </a:r>
            <a:r>
              <a:rPr lang="pl-PL" dirty="0" err="1" smtClean="0"/>
              <a:t>title</a:t>
            </a:r>
            <a:r>
              <a:rPr lang="pl-PL" dirty="0" smtClean="0"/>
              <a:t>, meta(</a:t>
            </a:r>
            <a:r>
              <a:rPr lang="pl-PL" dirty="0" err="1" smtClean="0"/>
              <a:t>author</a:t>
            </a:r>
            <a:r>
              <a:rPr lang="pl-PL" dirty="0" smtClean="0"/>
              <a:t>, </a:t>
            </a:r>
            <a:r>
              <a:rPr lang="pl-PL" dirty="0" err="1" smtClean="0"/>
              <a:t>description</a:t>
            </a:r>
            <a:r>
              <a:rPr lang="pl-PL" dirty="0" smtClean="0"/>
              <a:t>, </a:t>
            </a:r>
            <a:r>
              <a:rPr lang="pl-PL" dirty="0" err="1" smtClean="0"/>
              <a:t>keywords</a:t>
            </a:r>
            <a:r>
              <a:rPr lang="pl-PL" dirty="0" smtClean="0"/>
              <a:t>, przykład na żywej stronie)</a:t>
            </a:r>
          </a:p>
          <a:p>
            <a:endParaRPr lang="pl-PL" dirty="0" smtClean="0"/>
          </a:p>
          <a:p>
            <a:r>
              <a:rPr lang="en-US" dirty="0" smtClean="0"/>
              <a:t>element</a:t>
            </a:r>
          </a:p>
          <a:p>
            <a:r>
              <a:rPr lang="en-US" dirty="0" smtClean="0"/>
              <a:t>	tag, content, open/close, good practice, </a:t>
            </a:r>
            <a:r>
              <a:rPr lang="en-US" dirty="0" err="1" smtClean="0"/>
              <a:t>znacznik</a:t>
            </a:r>
            <a:r>
              <a:rPr lang="en-US" dirty="0" smtClean="0"/>
              <a:t>, </a:t>
            </a:r>
            <a:r>
              <a:rPr lang="en-US" dirty="0" err="1" smtClean="0"/>
              <a:t>atrybut</a:t>
            </a:r>
            <a:endParaRPr lang="pl-PL" dirty="0" smtClean="0"/>
          </a:p>
          <a:p>
            <a:endParaRPr lang="pl-PL" dirty="0" smtClean="0"/>
          </a:p>
          <a:p>
            <a:r>
              <a:rPr lang="pl-PL" dirty="0" smtClean="0"/>
              <a:t>Pisać małymi literami.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5</a:t>
            </a:fld>
            <a:endParaRPr lang="pl-P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err="1" smtClean="0"/>
              <a:t>Head</a:t>
            </a:r>
            <a:r>
              <a:rPr lang="pl-PL" dirty="0" smtClean="0"/>
              <a:t> – nie</a:t>
            </a:r>
            <a:r>
              <a:rPr lang="pl-PL" baseline="0" dirty="0" smtClean="0"/>
              <a:t>widoczne, informacje o stronie – </a:t>
            </a:r>
            <a:r>
              <a:rPr lang="pl-PL" baseline="0" dirty="0" err="1" smtClean="0"/>
              <a:t>metadane</a:t>
            </a:r>
            <a:r>
              <a:rPr lang="pl-PL" baseline="0" dirty="0" smtClean="0"/>
              <a:t>, np. import z zewnętrznych plików</a:t>
            </a:r>
          </a:p>
          <a:p>
            <a:r>
              <a:rPr lang="pl-PL" baseline="0" dirty="0" smtClean="0"/>
              <a:t>Body – część widoczna dla użytkownika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6</a:t>
            </a:fld>
            <a:endParaRPr lang="pl-P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Zrobić to w notatniku. Żeby pokazać, że to</a:t>
            </a:r>
            <a:r>
              <a:rPr lang="pl-PL" baseline="0" dirty="0" smtClean="0"/>
              <a:t> jest plik tekstowy.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7</a:t>
            </a:fld>
            <a:endParaRPr lang="pl-P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H1  - jeden na stronie – dobra praktyka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8</a:t>
            </a:fld>
            <a:endParaRPr lang="pl-P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Element, znacznik</a:t>
            </a:r>
            <a:r>
              <a:rPr lang="pl-PL" dirty="0" err="1" smtClean="0"/>
              <a:t>(ta</a:t>
            </a:r>
            <a:r>
              <a:rPr lang="pl-PL" dirty="0" smtClean="0"/>
              <a:t>g), </a:t>
            </a:r>
          </a:p>
          <a:p>
            <a:r>
              <a:rPr lang="pl-PL" dirty="0" smtClean="0"/>
              <a:t>Otwierający i zamykający – ich kolejność. Nie przeplatanie, ale zagnieżdżanie</a:t>
            </a:r>
          </a:p>
          <a:p>
            <a:r>
              <a:rPr lang="pl-PL" dirty="0" smtClean="0"/>
              <a:t>Nie wszystkie mają zamykający:</a:t>
            </a:r>
            <a:r>
              <a:rPr lang="pl-PL" baseline="0" dirty="0" smtClean="0"/>
              <a:t> </a:t>
            </a:r>
            <a:r>
              <a:rPr lang="pl-PL" baseline="0" dirty="0" err="1" smtClean="0"/>
              <a:t>br</a:t>
            </a:r>
            <a:r>
              <a:rPr lang="pl-PL" baseline="0" dirty="0" smtClean="0"/>
              <a:t>, </a:t>
            </a:r>
            <a:r>
              <a:rPr lang="pl-PL" baseline="0" dirty="0" err="1" smtClean="0"/>
              <a:t>img</a:t>
            </a:r>
            <a:r>
              <a:rPr lang="pl-PL" baseline="0" dirty="0" smtClean="0"/>
              <a:t>, </a:t>
            </a:r>
            <a:r>
              <a:rPr lang="pl-PL" baseline="0" dirty="0" err="1" smtClean="0"/>
              <a:t>input</a:t>
            </a:r>
            <a:r>
              <a:rPr lang="pl-PL" baseline="0" dirty="0" smtClean="0"/>
              <a:t>, meta … </a:t>
            </a:r>
            <a:endParaRPr lang="pl-PL" dirty="0" smtClean="0"/>
          </a:p>
          <a:p>
            <a:endParaRPr lang="pl-PL" dirty="0" smtClean="0"/>
          </a:p>
          <a:p>
            <a:r>
              <a:rPr lang="pl-PL" dirty="0" smtClean="0"/>
              <a:t>Jak przeglądarka</a:t>
            </a:r>
            <a:r>
              <a:rPr lang="pl-PL" baseline="0" dirty="0" smtClean="0"/>
              <a:t> interpretuje stronę? Zamienia tekst na efekt wizualny?</a:t>
            </a:r>
          </a:p>
          <a:p>
            <a:r>
              <a:rPr lang="pl-PL" baseline="0" dirty="0" smtClean="0"/>
              <a:t>	</a:t>
            </a:r>
            <a:r>
              <a:rPr lang="pl-PL" baseline="0" dirty="0" err="1" smtClean="0"/>
              <a:t>vs</a:t>
            </a:r>
            <a:r>
              <a:rPr lang="pl-PL" baseline="0" dirty="0" smtClean="0"/>
              <a:t> kompilator</a:t>
            </a:r>
          </a:p>
          <a:p>
            <a:r>
              <a:rPr lang="pl-PL" baseline="0" dirty="0" smtClean="0"/>
              <a:t>	Trochę analogicznie do tego jak czytamy książki. Wiemy co znaczą dane słowa i możemy zrozumieć czytany tekst. Znaczniki to tak jakby język polski dla nas. Przeglądarka go rozumie.</a:t>
            </a:r>
            <a:endParaRPr lang="pl-PL" dirty="0" smtClean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9</a:t>
            </a:fld>
            <a:endParaRPr lang="pl-P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Semantyczny - znaczeniowy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10</a:t>
            </a:fld>
            <a:endParaRPr lang="pl-P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13</a:t>
            </a:fld>
            <a:endParaRPr lang="pl-P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14</a:t>
            </a:fld>
            <a:endParaRPr lang="pl-P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Pokazać,</a:t>
            </a:r>
            <a:r>
              <a:rPr lang="pl-PL" baseline="0" dirty="0" smtClean="0"/>
              <a:t> że formatowanie tekstu nie działa.</a:t>
            </a:r>
          </a:p>
          <a:p>
            <a:endParaRPr lang="pl-PL" baseline="0" dirty="0" smtClean="0"/>
          </a:p>
          <a:p>
            <a:endParaRPr lang="pl-PL" baseline="0" dirty="0" smtClean="0"/>
          </a:p>
          <a:p>
            <a:endParaRPr lang="pl-PL" baseline="0" dirty="0" smtClean="0"/>
          </a:p>
          <a:p>
            <a:r>
              <a:rPr lang="pl-PL" baseline="0" dirty="0" smtClean="0"/>
              <a:t>Co to znaczy znaczniki semantyczne?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15</a:t>
            </a:fld>
            <a:endParaRPr lang="pl-PL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pl-PL" dirty="0" smtClean="0"/>
              <a:t>Odróżnianie znaczników od innych tego typu(</a:t>
            </a:r>
            <a:r>
              <a:rPr lang="pl-PL" dirty="0" err="1" smtClean="0"/>
              <a:t>artybuty</a:t>
            </a:r>
            <a:r>
              <a:rPr lang="pl-PL" dirty="0" smtClean="0"/>
              <a:t> „</a:t>
            </a:r>
            <a:r>
              <a:rPr lang="pl-PL" dirty="0" err="1" smtClean="0"/>
              <a:t>class</a:t>
            </a:r>
            <a:r>
              <a:rPr lang="pl-PL" dirty="0" smtClean="0"/>
              <a:t>” i „id”) – główne(jeszcze style) i lokalne</a:t>
            </a:r>
          </a:p>
          <a:p>
            <a:pPr>
              <a:buFontTx/>
              <a:buChar char="-"/>
            </a:pPr>
            <a:r>
              <a:rPr lang="pl-PL" dirty="0" smtClean="0"/>
              <a:t>Grupowanie elementów</a:t>
            </a:r>
          </a:p>
          <a:p>
            <a:pPr>
              <a:buFontTx/>
              <a:buChar char="-"/>
            </a:pPr>
            <a:r>
              <a:rPr lang="pl-PL" dirty="0" smtClean="0"/>
              <a:t>Wskazywanie źródeł zawartości(np. „</a:t>
            </a:r>
            <a:r>
              <a:rPr lang="pl-PL" dirty="0" err="1" smtClean="0"/>
              <a:t>src</a:t>
            </a:r>
            <a:r>
              <a:rPr lang="pl-PL" dirty="0" smtClean="0"/>
              <a:t>” w &lt;</a:t>
            </a:r>
            <a:r>
              <a:rPr lang="pl-PL" dirty="0" err="1" smtClean="0"/>
              <a:t>img</a:t>
            </a:r>
            <a:r>
              <a:rPr lang="pl-PL" dirty="0" smtClean="0"/>
              <a:t>&gt;, „</a:t>
            </a:r>
            <a:r>
              <a:rPr lang="pl-PL" dirty="0" err="1" smtClean="0"/>
              <a:t>href</a:t>
            </a:r>
            <a:r>
              <a:rPr lang="pl-PL" dirty="0" smtClean="0"/>
              <a:t>” w &lt;a&gt;)</a:t>
            </a:r>
          </a:p>
          <a:p>
            <a:pPr>
              <a:buFontTx/>
              <a:buChar char="-"/>
            </a:pPr>
            <a:r>
              <a:rPr lang="pl-PL" dirty="0" smtClean="0"/>
              <a:t>Przechowywanie dodatkowej informacji(atrybut „data”)</a:t>
            </a:r>
          </a:p>
          <a:p>
            <a:pPr>
              <a:buFontTx/>
              <a:buChar char="-"/>
            </a:pPr>
            <a:r>
              <a:rPr lang="pl-PL" dirty="0" smtClean="0"/>
              <a:t>Wyszukiwanie elementów w CSS i </a:t>
            </a:r>
            <a:r>
              <a:rPr lang="pl-PL" dirty="0" err="1" smtClean="0"/>
              <a:t>JavaScript</a:t>
            </a:r>
            <a:endParaRPr lang="pl-PL" dirty="0" smtClean="0"/>
          </a:p>
          <a:p>
            <a:endParaRPr lang="pl-PL" dirty="0" smtClean="0"/>
          </a:p>
          <a:p>
            <a:r>
              <a:rPr lang="pl-PL" dirty="0" smtClean="0"/>
              <a:t>Id – powinien być unikalny</a:t>
            </a:r>
          </a:p>
          <a:p>
            <a:endParaRPr lang="pl-PL" dirty="0" smtClean="0"/>
          </a:p>
          <a:p>
            <a:endParaRPr lang="pl-PL" dirty="0" smtClean="0"/>
          </a:p>
          <a:p>
            <a:r>
              <a:rPr lang="pl-PL" dirty="0" smtClean="0"/>
              <a:t> &lt;meta </a:t>
            </a:r>
            <a:r>
              <a:rPr lang="pl-PL" dirty="0" err="1" smtClean="0"/>
              <a:t>name="description</a:t>
            </a:r>
            <a:r>
              <a:rPr lang="pl-PL" dirty="0" smtClean="0"/>
              <a:t>" </a:t>
            </a:r>
            <a:r>
              <a:rPr lang="pl-PL" dirty="0" err="1" smtClean="0"/>
              <a:t>content="Opis</a:t>
            </a:r>
            <a:r>
              <a:rPr lang="pl-PL" dirty="0" smtClean="0"/>
              <a:t> mojej strony, który nie jest widoczny dla przeglądarki"&gt;</a:t>
            </a:r>
          </a:p>
          <a:p>
            <a:r>
              <a:rPr lang="pl-PL" dirty="0" smtClean="0"/>
              <a:t>    &lt;meta </a:t>
            </a:r>
            <a:r>
              <a:rPr lang="pl-PL" dirty="0" err="1" smtClean="0"/>
              <a:t>name="author</a:t>
            </a:r>
            <a:r>
              <a:rPr lang="pl-PL" dirty="0" smtClean="0"/>
              <a:t>" </a:t>
            </a:r>
            <a:r>
              <a:rPr lang="pl-PL" dirty="0" err="1" smtClean="0"/>
              <a:t>content="Kamil</a:t>
            </a:r>
            <a:r>
              <a:rPr lang="pl-PL" dirty="0" smtClean="0"/>
              <a:t> Kowalski"&gt;</a:t>
            </a:r>
          </a:p>
          <a:p>
            <a:r>
              <a:rPr lang="pl-PL" dirty="0" smtClean="0"/>
              <a:t>    &lt;meta </a:t>
            </a:r>
            <a:r>
              <a:rPr lang="pl-PL" dirty="0" err="1" smtClean="0"/>
              <a:t>name="keywords</a:t>
            </a:r>
            <a:r>
              <a:rPr lang="pl-PL" dirty="0" smtClean="0"/>
              <a:t>" </a:t>
            </a:r>
            <a:r>
              <a:rPr lang="pl-PL" dirty="0" err="1" smtClean="0"/>
              <a:t>content="pierwsza</a:t>
            </a:r>
            <a:r>
              <a:rPr lang="pl-PL" dirty="0" smtClean="0"/>
              <a:t> strona, </a:t>
            </a:r>
            <a:r>
              <a:rPr lang="pl-PL" dirty="0" err="1" smtClean="0"/>
              <a:t>html</a:t>
            </a:r>
            <a:r>
              <a:rPr lang="pl-PL" dirty="0" smtClean="0"/>
              <a:t>, </a:t>
            </a:r>
            <a:r>
              <a:rPr lang="pl-PL" dirty="0" err="1" smtClean="0"/>
              <a:t>css</a:t>
            </a:r>
            <a:r>
              <a:rPr lang="pl-PL" dirty="0" smtClean="0"/>
              <a:t>, </a:t>
            </a:r>
            <a:r>
              <a:rPr lang="pl-PL" dirty="0" err="1" smtClean="0"/>
              <a:t>sda</a:t>
            </a:r>
            <a:r>
              <a:rPr lang="pl-PL" dirty="0" smtClean="0"/>
              <a:t>" /&gt;</a:t>
            </a:r>
          </a:p>
          <a:p>
            <a:endParaRPr lang="pl-PL" dirty="0" smtClean="0"/>
          </a:p>
          <a:p>
            <a:endParaRPr lang="pl-PL" dirty="0" smtClean="0"/>
          </a:p>
          <a:p>
            <a:r>
              <a:rPr lang="pl-PL" dirty="0" err="1" smtClean="0"/>
              <a:t>Class</a:t>
            </a:r>
            <a:r>
              <a:rPr lang="pl-PL" dirty="0" smtClean="0"/>
              <a:t> i id pokazać w kodzie</a:t>
            </a:r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16</a:t>
            </a:fld>
            <a:endParaRPr lang="pl-PL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&lt;a </a:t>
            </a:r>
            <a:r>
              <a:rPr lang="pl-PL" dirty="0" err="1" smtClean="0"/>
              <a:t>href="wizytowka.html"&gt;wizytowka</a:t>
            </a:r>
            <a:r>
              <a:rPr lang="pl-PL" dirty="0" smtClean="0"/>
              <a:t>&lt;/a&gt;</a:t>
            </a:r>
          </a:p>
          <a:p>
            <a:r>
              <a:rPr lang="pl-PL" dirty="0" smtClean="0"/>
              <a:t>&lt;</a:t>
            </a:r>
            <a:r>
              <a:rPr lang="pl-PL" dirty="0" err="1" smtClean="0"/>
              <a:t>img</a:t>
            </a:r>
            <a:r>
              <a:rPr lang="pl-PL" dirty="0" smtClean="0"/>
              <a:t> </a:t>
            </a:r>
            <a:r>
              <a:rPr lang="pl-PL" dirty="0" err="1" smtClean="0"/>
              <a:t>src="example_images</a:t>
            </a:r>
            <a:r>
              <a:rPr lang="pl-PL" dirty="0" smtClean="0"/>
              <a:t>/</a:t>
            </a:r>
            <a:r>
              <a:rPr lang="pl-PL" dirty="0" err="1" smtClean="0"/>
              <a:t>cat.jpg</a:t>
            </a:r>
            <a:r>
              <a:rPr lang="pl-PL" dirty="0" smtClean="0"/>
              <a:t>" </a:t>
            </a:r>
            <a:r>
              <a:rPr lang="pl-PL" dirty="0" err="1" smtClean="0"/>
              <a:t>alt="Kot</a:t>
            </a:r>
            <a:r>
              <a:rPr lang="pl-PL" dirty="0" smtClean="0"/>
              <a:t>(tekst alternatywny)" /&gt;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17</a:t>
            </a:fld>
            <a:endParaRPr lang="pl-PL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18</a:t>
            </a:fld>
            <a:endParaRPr lang="pl-PL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&lt;form action="/</a:t>
            </a:r>
            <a:r>
              <a:rPr lang="pl-PL" dirty="0" err="1" smtClean="0"/>
              <a:t>sendForm</a:t>
            </a:r>
            <a:r>
              <a:rPr lang="pl-PL" dirty="0" smtClean="0"/>
              <a:t>" </a:t>
            </a:r>
            <a:r>
              <a:rPr lang="pl-PL" dirty="0" err="1" smtClean="0"/>
              <a:t>method="post</a:t>
            </a:r>
            <a:r>
              <a:rPr lang="pl-PL" dirty="0" smtClean="0"/>
              <a:t>"&gt;</a:t>
            </a:r>
          </a:p>
          <a:p>
            <a:r>
              <a:rPr lang="pl-PL" dirty="0" smtClean="0"/>
              <a:t>            &lt;</a:t>
            </a:r>
            <a:r>
              <a:rPr lang="pl-PL" dirty="0" err="1" smtClean="0"/>
              <a:t>label</a:t>
            </a:r>
            <a:r>
              <a:rPr lang="pl-PL" dirty="0" smtClean="0"/>
              <a:t> </a:t>
            </a:r>
            <a:r>
              <a:rPr lang="pl-PL" dirty="0" err="1" smtClean="0"/>
              <a:t>for="surname"&gt;Nazwisko</a:t>
            </a:r>
            <a:r>
              <a:rPr lang="pl-PL" dirty="0" smtClean="0"/>
              <a:t>&lt;/</a:t>
            </a:r>
            <a:r>
              <a:rPr lang="pl-PL" dirty="0" err="1" smtClean="0"/>
              <a:t>label</a:t>
            </a:r>
            <a:r>
              <a:rPr lang="pl-PL" dirty="0" smtClean="0"/>
              <a:t>&gt; &lt;</a:t>
            </a:r>
            <a:r>
              <a:rPr lang="pl-PL" dirty="0" err="1" smtClean="0"/>
              <a:t>input</a:t>
            </a:r>
            <a:r>
              <a:rPr lang="pl-PL" dirty="0" smtClean="0"/>
              <a:t> </a:t>
            </a:r>
            <a:r>
              <a:rPr lang="pl-PL" dirty="0" err="1" smtClean="0"/>
              <a:t>type="text</a:t>
            </a:r>
            <a:r>
              <a:rPr lang="pl-PL" dirty="0" smtClean="0"/>
              <a:t>" </a:t>
            </a:r>
            <a:r>
              <a:rPr lang="pl-PL" dirty="0" err="1" smtClean="0"/>
              <a:t>name="nazwisko</a:t>
            </a:r>
            <a:r>
              <a:rPr lang="pl-PL" dirty="0" smtClean="0"/>
              <a:t>" </a:t>
            </a:r>
            <a:r>
              <a:rPr lang="pl-PL" dirty="0" err="1" smtClean="0"/>
              <a:t>id="surname</a:t>
            </a:r>
            <a:r>
              <a:rPr lang="pl-PL" dirty="0" smtClean="0"/>
              <a:t>"/&gt;</a:t>
            </a:r>
          </a:p>
          <a:p>
            <a:r>
              <a:rPr lang="pl-PL" dirty="0" smtClean="0"/>
              <a:t>            &lt;</a:t>
            </a:r>
            <a:r>
              <a:rPr lang="pl-PL" dirty="0" err="1" smtClean="0"/>
              <a:t>label&gt;Login</a:t>
            </a:r>
            <a:r>
              <a:rPr lang="pl-PL" dirty="0" smtClean="0"/>
              <a:t>: &lt;</a:t>
            </a:r>
            <a:r>
              <a:rPr lang="pl-PL" dirty="0" err="1" smtClean="0"/>
              <a:t>input</a:t>
            </a:r>
            <a:r>
              <a:rPr lang="pl-PL" dirty="0" smtClean="0"/>
              <a:t> </a:t>
            </a:r>
            <a:r>
              <a:rPr lang="pl-PL" dirty="0" err="1" smtClean="0"/>
              <a:t>type="text</a:t>
            </a:r>
            <a:r>
              <a:rPr lang="pl-PL" dirty="0" smtClean="0"/>
              <a:t>" </a:t>
            </a:r>
            <a:r>
              <a:rPr lang="pl-PL" dirty="0" err="1" smtClean="0"/>
              <a:t>placeholder="Email</a:t>
            </a:r>
            <a:r>
              <a:rPr lang="pl-PL" dirty="0" smtClean="0"/>
              <a:t>"/&gt;&lt;/</a:t>
            </a:r>
            <a:r>
              <a:rPr lang="pl-PL" dirty="0" err="1" smtClean="0"/>
              <a:t>label</a:t>
            </a:r>
            <a:r>
              <a:rPr lang="pl-PL" dirty="0" smtClean="0"/>
              <a:t>&gt;</a:t>
            </a:r>
          </a:p>
          <a:p>
            <a:r>
              <a:rPr lang="pl-PL" dirty="0" smtClean="0"/>
              <a:t>            &lt;</a:t>
            </a:r>
            <a:r>
              <a:rPr lang="pl-PL" dirty="0" err="1" smtClean="0"/>
              <a:t>label&gt;Hasło</a:t>
            </a:r>
            <a:r>
              <a:rPr lang="pl-PL" dirty="0" smtClean="0"/>
              <a:t>&lt;/</a:t>
            </a:r>
            <a:r>
              <a:rPr lang="pl-PL" dirty="0" err="1" smtClean="0"/>
              <a:t>label</a:t>
            </a:r>
            <a:r>
              <a:rPr lang="pl-PL" dirty="0" smtClean="0"/>
              <a:t>&gt; &lt;</a:t>
            </a:r>
            <a:r>
              <a:rPr lang="pl-PL" dirty="0" err="1" smtClean="0"/>
              <a:t>input</a:t>
            </a:r>
            <a:r>
              <a:rPr lang="pl-PL" dirty="0" smtClean="0"/>
              <a:t> </a:t>
            </a:r>
            <a:r>
              <a:rPr lang="pl-PL" dirty="0" err="1" smtClean="0"/>
              <a:t>type="password</a:t>
            </a:r>
            <a:r>
              <a:rPr lang="pl-PL" dirty="0" smtClean="0"/>
              <a:t>" </a:t>
            </a:r>
            <a:r>
              <a:rPr lang="pl-PL" dirty="0" err="1" smtClean="0"/>
              <a:t>name="haslo</a:t>
            </a:r>
            <a:r>
              <a:rPr lang="pl-PL" dirty="0" smtClean="0"/>
              <a:t>" /&gt;</a:t>
            </a:r>
          </a:p>
          <a:p>
            <a:r>
              <a:rPr lang="pl-PL" dirty="0" smtClean="0"/>
              <a:t>            &lt;</a:t>
            </a:r>
            <a:r>
              <a:rPr lang="pl-PL" dirty="0" err="1" smtClean="0"/>
              <a:t>br</a:t>
            </a:r>
            <a:r>
              <a:rPr lang="pl-PL" dirty="0" smtClean="0"/>
              <a:t> /&gt;</a:t>
            </a:r>
          </a:p>
          <a:p>
            <a:r>
              <a:rPr lang="pl-PL" dirty="0" smtClean="0"/>
              <a:t>            &lt;</a:t>
            </a:r>
            <a:r>
              <a:rPr lang="pl-PL" dirty="0" err="1" smtClean="0"/>
              <a:t>input</a:t>
            </a:r>
            <a:r>
              <a:rPr lang="pl-PL" dirty="0" smtClean="0"/>
              <a:t> </a:t>
            </a:r>
            <a:r>
              <a:rPr lang="pl-PL" dirty="0" err="1" smtClean="0"/>
              <a:t>type="checkbox</a:t>
            </a:r>
            <a:r>
              <a:rPr lang="pl-PL" dirty="0" smtClean="0"/>
              <a:t>" </a:t>
            </a:r>
            <a:r>
              <a:rPr lang="pl-PL" dirty="0" err="1" smtClean="0"/>
              <a:t>name="checkbox</a:t>
            </a:r>
            <a:r>
              <a:rPr lang="pl-PL" dirty="0" smtClean="0"/>
              <a:t>" </a:t>
            </a:r>
            <a:r>
              <a:rPr lang="pl-PL" dirty="0" err="1" smtClean="0"/>
              <a:t>value="a</a:t>
            </a:r>
            <a:r>
              <a:rPr lang="pl-PL" dirty="0" smtClean="0"/>
              <a:t>" /&gt; A</a:t>
            </a:r>
          </a:p>
          <a:p>
            <a:r>
              <a:rPr lang="pl-PL" dirty="0" smtClean="0"/>
              <a:t>            &lt;</a:t>
            </a:r>
            <a:r>
              <a:rPr lang="pl-PL" dirty="0" err="1" smtClean="0"/>
              <a:t>input</a:t>
            </a:r>
            <a:r>
              <a:rPr lang="pl-PL" dirty="0" smtClean="0"/>
              <a:t> </a:t>
            </a:r>
            <a:r>
              <a:rPr lang="pl-PL" dirty="0" err="1" smtClean="0"/>
              <a:t>type="checkbox</a:t>
            </a:r>
            <a:r>
              <a:rPr lang="pl-PL" dirty="0" smtClean="0"/>
              <a:t>" </a:t>
            </a:r>
            <a:r>
              <a:rPr lang="pl-PL" dirty="0" err="1" smtClean="0"/>
              <a:t>name="checkbox</a:t>
            </a:r>
            <a:r>
              <a:rPr lang="pl-PL" dirty="0" smtClean="0"/>
              <a:t>" </a:t>
            </a:r>
            <a:r>
              <a:rPr lang="pl-PL" dirty="0" err="1" smtClean="0"/>
              <a:t>value="b</a:t>
            </a:r>
            <a:r>
              <a:rPr lang="pl-PL" dirty="0" smtClean="0"/>
              <a:t>" /&gt; B</a:t>
            </a:r>
          </a:p>
          <a:p>
            <a:r>
              <a:rPr lang="pl-PL" dirty="0" smtClean="0"/>
              <a:t>            &lt;</a:t>
            </a:r>
            <a:r>
              <a:rPr lang="pl-PL" dirty="0" err="1" smtClean="0"/>
              <a:t>input</a:t>
            </a:r>
            <a:r>
              <a:rPr lang="pl-PL" dirty="0" smtClean="0"/>
              <a:t> </a:t>
            </a:r>
            <a:r>
              <a:rPr lang="pl-PL" dirty="0" err="1" smtClean="0"/>
              <a:t>type="checkbox</a:t>
            </a:r>
            <a:r>
              <a:rPr lang="pl-PL" dirty="0" smtClean="0"/>
              <a:t>" </a:t>
            </a:r>
            <a:r>
              <a:rPr lang="pl-PL" dirty="0" err="1" smtClean="0"/>
              <a:t>name="checkbox</a:t>
            </a:r>
            <a:r>
              <a:rPr lang="pl-PL" dirty="0" smtClean="0"/>
              <a:t>" </a:t>
            </a:r>
            <a:r>
              <a:rPr lang="pl-PL" dirty="0" err="1" smtClean="0"/>
              <a:t>value="c</a:t>
            </a:r>
            <a:r>
              <a:rPr lang="pl-PL" dirty="0" smtClean="0"/>
              <a:t>" /&gt; C</a:t>
            </a:r>
          </a:p>
          <a:p>
            <a:r>
              <a:rPr lang="pl-PL" dirty="0" smtClean="0"/>
              <a:t>            &lt;</a:t>
            </a:r>
            <a:r>
              <a:rPr lang="pl-PL" dirty="0" err="1" smtClean="0"/>
              <a:t>br</a:t>
            </a:r>
            <a:r>
              <a:rPr lang="pl-PL" dirty="0" smtClean="0"/>
              <a:t> /&gt;</a:t>
            </a:r>
          </a:p>
          <a:p>
            <a:r>
              <a:rPr lang="pl-PL" dirty="0" smtClean="0"/>
              <a:t>            &lt;</a:t>
            </a:r>
            <a:r>
              <a:rPr lang="pl-PL" dirty="0" err="1" smtClean="0"/>
              <a:t>select</a:t>
            </a:r>
            <a:r>
              <a:rPr lang="pl-PL" dirty="0" smtClean="0"/>
              <a:t> </a:t>
            </a:r>
            <a:r>
              <a:rPr lang="pl-PL" dirty="0" err="1" smtClean="0"/>
              <a:t>name="select</a:t>
            </a:r>
            <a:r>
              <a:rPr lang="pl-PL" dirty="0" smtClean="0"/>
              <a:t>"&gt;</a:t>
            </a:r>
          </a:p>
          <a:p>
            <a:r>
              <a:rPr lang="pl-PL" dirty="0" smtClean="0"/>
              <a:t>                &lt;</a:t>
            </a:r>
            <a:r>
              <a:rPr lang="pl-PL" dirty="0" err="1" smtClean="0"/>
              <a:t>option&gt;Opcja</a:t>
            </a:r>
            <a:r>
              <a:rPr lang="pl-PL" dirty="0" smtClean="0"/>
              <a:t> 1&lt;/</a:t>
            </a:r>
            <a:r>
              <a:rPr lang="pl-PL" dirty="0" err="1" smtClean="0"/>
              <a:t>option</a:t>
            </a:r>
            <a:r>
              <a:rPr lang="pl-PL" dirty="0" smtClean="0"/>
              <a:t>&gt;</a:t>
            </a:r>
          </a:p>
          <a:p>
            <a:r>
              <a:rPr lang="pl-PL" dirty="0" smtClean="0"/>
              <a:t>                &lt;</a:t>
            </a:r>
            <a:r>
              <a:rPr lang="pl-PL" dirty="0" err="1" smtClean="0"/>
              <a:t>option&gt;Opcja</a:t>
            </a:r>
            <a:r>
              <a:rPr lang="pl-PL" dirty="0" smtClean="0"/>
              <a:t> 2&lt;/</a:t>
            </a:r>
            <a:r>
              <a:rPr lang="pl-PL" dirty="0" err="1" smtClean="0"/>
              <a:t>option</a:t>
            </a:r>
            <a:r>
              <a:rPr lang="pl-PL" dirty="0" smtClean="0"/>
              <a:t>&gt;</a:t>
            </a:r>
          </a:p>
          <a:p>
            <a:r>
              <a:rPr lang="pl-PL" dirty="0" smtClean="0"/>
              <a:t>                &lt;</a:t>
            </a:r>
            <a:r>
              <a:rPr lang="pl-PL" dirty="0" err="1" smtClean="0"/>
              <a:t>option&gt;Opcja</a:t>
            </a:r>
            <a:r>
              <a:rPr lang="pl-PL" dirty="0" smtClean="0"/>
              <a:t> 3&lt;/</a:t>
            </a:r>
            <a:r>
              <a:rPr lang="pl-PL" dirty="0" err="1" smtClean="0"/>
              <a:t>option</a:t>
            </a:r>
            <a:r>
              <a:rPr lang="pl-PL" dirty="0" smtClean="0"/>
              <a:t>&gt;</a:t>
            </a:r>
          </a:p>
          <a:p>
            <a:r>
              <a:rPr lang="pl-PL" dirty="0" smtClean="0"/>
              <a:t>            &lt;/</a:t>
            </a:r>
            <a:r>
              <a:rPr lang="pl-PL" dirty="0" err="1" smtClean="0"/>
              <a:t>select</a:t>
            </a:r>
            <a:r>
              <a:rPr lang="pl-PL" dirty="0" smtClean="0"/>
              <a:t>&gt;</a:t>
            </a:r>
          </a:p>
          <a:p>
            <a:r>
              <a:rPr lang="pl-PL" dirty="0" smtClean="0"/>
              <a:t>            &lt;</a:t>
            </a:r>
            <a:r>
              <a:rPr lang="pl-PL" dirty="0" err="1" smtClean="0"/>
              <a:t>br</a:t>
            </a:r>
            <a:r>
              <a:rPr lang="pl-PL" dirty="0" smtClean="0"/>
              <a:t> /&gt;</a:t>
            </a:r>
          </a:p>
          <a:p>
            <a:r>
              <a:rPr lang="pl-PL" dirty="0" smtClean="0"/>
              <a:t>            &lt;</a:t>
            </a:r>
            <a:r>
              <a:rPr lang="pl-PL" dirty="0" err="1" smtClean="0"/>
              <a:t>button</a:t>
            </a:r>
            <a:r>
              <a:rPr lang="pl-PL" dirty="0" smtClean="0"/>
              <a:t> </a:t>
            </a:r>
            <a:r>
              <a:rPr lang="pl-PL" dirty="0" err="1" smtClean="0"/>
              <a:t>type="submit"&gt;Wyślij</a:t>
            </a:r>
            <a:r>
              <a:rPr lang="pl-PL" dirty="0" smtClean="0"/>
              <a:t> formularz&lt;/</a:t>
            </a:r>
            <a:r>
              <a:rPr lang="pl-PL" dirty="0" err="1" smtClean="0"/>
              <a:t>button</a:t>
            </a:r>
            <a:r>
              <a:rPr lang="pl-PL" dirty="0" smtClean="0"/>
              <a:t>&gt;</a:t>
            </a:r>
          </a:p>
          <a:p>
            <a:r>
              <a:rPr lang="pl-PL" dirty="0" smtClean="0"/>
              <a:t>        &lt;/form&gt;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19</a:t>
            </a:fld>
            <a:endParaRPr lang="pl-PL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Żeby uzupełnić – programista musi dużo wiedzieć, pamiętać, na pewno znać zasady, </a:t>
            </a:r>
            <a:r>
              <a:rPr lang="pl-PL" dirty="0" err="1" smtClean="0"/>
              <a:t>machanizmy</a:t>
            </a:r>
            <a:endParaRPr lang="pl-PL" dirty="0" smtClean="0"/>
          </a:p>
          <a:p>
            <a:endParaRPr lang="pl-PL" dirty="0" smtClean="0"/>
          </a:p>
          <a:p>
            <a:r>
              <a:rPr lang="pl-PL" dirty="0" err="1" smtClean="0"/>
              <a:t>Linkedin</a:t>
            </a:r>
            <a:endParaRPr lang="pl-PL" dirty="0" smtClean="0"/>
          </a:p>
          <a:p>
            <a:r>
              <a:rPr lang="pl-PL" dirty="0" smtClean="0"/>
              <a:t>Praktyki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20</a:t>
            </a:fld>
            <a:endParaRPr lang="pl-PL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21</a:t>
            </a:fld>
            <a:endParaRPr lang="pl-PL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selektor</a:t>
            </a:r>
            <a:r>
              <a:rPr lang="pl-PL" baseline="0" dirty="0" smtClean="0"/>
              <a:t> { właściwość: wartość}</a:t>
            </a:r>
          </a:p>
          <a:p>
            <a:r>
              <a:rPr lang="pl-PL" dirty="0" smtClean="0"/>
              <a:t>https://caniuse.com/</a:t>
            </a:r>
          </a:p>
          <a:p>
            <a:r>
              <a:rPr lang="pl-PL" dirty="0" smtClean="0"/>
              <a:t>W3cschool</a:t>
            </a:r>
          </a:p>
          <a:p>
            <a:endParaRPr lang="pl-PL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Standalone entity that is meaningful on its own.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Examples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header, container, menu, checkbox, input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part of a block that has no standalone meaning and is semantically tied to its block.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Examples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menu item, list item, checkbox caption, header title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Modifier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flag on a block or element. Use them to change appearance or behavior.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Examples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disabled, highlighted, checked, fixed, size big, color yellow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22</a:t>
            </a:fld>
            <a:endParaRPr lang="pl-PL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https://www.w3schools.com/</a:t>
            </a:r>
            <a:r>
              <a:rPr lang="pl-PL" dirty="0" err="1" smtClean="0"/>
              <a:t>html</a:t>
            </a:r>
            <a:r>
              <a:rPr lang="pl-PL" dirty="0" smtClean="0"/>
              <a:t>/html5_intro.asp</a:t>
            </a:r>
          </a:p>
          <a:p>
            <a:endParaRPr lang="pl-PL" dirty="0" smtClean="0"/>
          </a:p>
          <a:p>
            <a:r>
              <a:rPr lang="pl-PL" dirty="0" smtClean="0"/>
              <a:t>Zachęcam tutaj do</a:t>
            </a:r>
            <a:r>
              <a:rPr lang="pl-PL" baseline="0" dirty="0" smtClean="0"/>
              <a:t> eksperymentów</a:t>
            </a:r>
            <a:endParaRPr lang="pl-PL" dirty="0" smtClean="0"/>
          </a:p>
          <a:p>
            <a:endParaRPr lang="pl-PL" dirty="0" smtClean="0"/>
          </a:p>
          <a:p>
            <a:r>
              <a:rPr lang="pl-PL" dirty="0" err="1" smtClean="0"/>
              <a:t>style=</a:t>
            </a:r>
            <a:r>
              <a:rPr lang="pl-P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"color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pl-P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blue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</a:t>
            </a:r>
            <a:r>
              <a:rPr lang="pl-P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font-size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20px„</a:t>
            </a:r>
          </a:p>
          <a:p>
            <a:endParaRPr lang="pl-PL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smtClean="0"/>
              <a:t>&lt;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style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#container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{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</a:t>
            </a:r>
            <a:r>
              <a:rPr lang="en-US" dirty="0" smtClean="0"/>
              <a:t>: red;</a:t>
            </a:r>
            <a:br>
              <a:rPr lang="en-US" dirty="0" smtClean="0"/>
            </a:br>
            <a:r>
              <a:rPr lang="en-US" dirty="0" smtClean="0"/>
              <a:t>}</a:t>
            </a:r>
            <a:br>
              <a:rPr lang="en-US" dirty="0" smtClean="0"/>
            </a:br>
            <a:r>
              <a:rPr lang="en-US" dirty="0" smtClean="0"/>
              <a:t>&lt;/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style</a:t>
            </a:r>
            <a:r>
              <a:rPr lang="en-US" dirty="0" smtClean="0"/>
              <a:t>&gt; </a:t>
            </a:r>
            <a:endParaRPr lang="pl-PL" dirty="0" smtClean="0"/>
          </a:p>
          <a:p>
            <a:endParaRPr lang="pl-PL" dirty="0" smtClean="0"/>
          </a:p>
          <a:p>
            <a:r>
              <a:rPr lang="pl-PL" dirty="0" smtClean="0"/>
              <a:t>&lt;</a:t>
            </a: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</a:t>
            </a:r>
            <a:r>
              <a:rPr lang="pl-PL" dirty="0" smtClean="0"/>
              <a:t> </a:t>
            </a:r>
            <a:r>
              <a:rPr lang="pl-PL" dirty="0" err="1" smtClean="0"/>
              <a:t>rel=</a:t>
            </a:r>
            <a:r>
              <a:rPr lang="pl-P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"stylesheet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pl-PL" dirty="0" smtClean="0"/>
              <a:t> </a:t>
            </a:r>
            <a:r>
              <a:rPr lang="pl-PL" dirty="0" err="1" smtClean="0"/>
              <a:t>href=</a:t>
            </a:r>
            <a:r>
              <a:rPr lang="pl-P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"arkusz.css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„ </a:t>
            </a:r>
            <a:r>
              <a:rPr lang="pl-P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type=„text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pl-P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css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 /</a:t>
            </a:r>
            <a:r>
              <a:rPr lang="pl-PL" dirty="0" smtClean="0"/>
              <a:t>&gt;</a:t>
            </a:r>
          </a:p>
          <a:p>
            <a:endParaRPr lang="pl-PL" dirty="0" smtClean="0"/>
          </a:p>
          <a:p>
            <a:r>
              <a:rPr lang="pl-PL" dirty="0" smtClean="0"/>
              <a:t>Dlaczego zewnętrzne</a:t>
            </a:r>
            <a:r>
              <a:rPr lang="pl-PL" baseline="0" dirty="0" smtClean="0"/>
              <a:t> są najlepsze? – 100 stron, zespół, zmiana styli dla linków, jedno miejsce i jedno </a:t>
            </a:r>
            <a:r>
              <a:rPr lang="pl-PL" baseline="0" dirty="0" err="1" smtClean="0"/>
              <a:t>stylowanie</a:t>
            </a:r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23</a:t>
            </a:fld>
            <a:endParaRPr lang="pl-PL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https://www.w3schools.com/</a:t>
            </a:r>
            <a:r>
              <a:rPr lang="pl-PL" dirty="0" err="1" smtClean="0"/>
              <a:t>html</a:t>
            </a:r>
            <a:r>
              <a:rPr lang="pl-PL" dirty="0" smtClean="0"/>
              <a:t>/html5_intro.asp</a:t>
            </a:r>
          </a:p>
          <a:p>
            <a:endParaRPr lang="pl-PL" dirty="0" smtClean="0"/>
          </a:p>
          <a:p>
            <a:r>
              <a:rPr lang="pl-PL" dirty="0" smtClean="0"/>
              <a:t>Zachęcam tutaj do</a:t>
            </a:r>
            <a:r>
              <a:rPr lang="pl-PL" baseline="0" dirty="0" smtClean="0"/>
              <a:t> eksperymentów</a:t>
            </a:r>
            <a:endParaRPr lang="pl-PL" dirty="0" smtClean="0"/>
          </a:p>
          <a:p>
            <a:endParaRPr lang="pl-PL" dirty="0" smtClean="0"/>
          </a:p>
          <a:p>
            <a:r>
              <a:rPr lang="pl-PL" dirty="0" err="1" smtClean="0"/>
              <a:t>style=</a:t>
            </a:r>
            <a:r>
              <a:rPr lang="pl-P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"color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pl-P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blue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</a:t>
            </a:r>
            <a:r>
              <a:rPr lang="pl-P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font-size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20px„</a:t>
            </a:r>
          </a:p>
          <a:p>
            <a:endParaRPr lang="pl-PL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smtClean="0"/>
              <a:t>&lt;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style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#container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{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</a:t>
            </a:r>
            <a:r>
              <a:rPr lang="en-US" dirty="0" smtClean="0"/>
              <a:t>: red;</a:t>
            </a:r>
            <a:br>
              <a:rPr lang="en-US" dirty="0" smtClean="0"/>
            </a:br>
            <a:r>
              <a:rPr lang="en-US" dirty="0" smtClean="0"/>
              <a:t>}</a:t>
            </a:r>
            <a:br>
              <a:rPr lang="en-US" dirty="0" smtClean="0"/>
            </a:br>
            <a:r>
              <a:rPr lang="en-US" dirty="0" smtClean="0"/>
              <a:t>&lt;/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style</a:t>
            </a:r>
            <a:r>
              <a:rPr lang="en-US" dirty="0" smtClean="0"/>
              <a:t>&gt; </a:t>
            </a:r>
            <a:endParaRPr lang="pl-PL" dirty="0" smtClean="0"/>
          </a:p>
          <a:p>
            <a:endParaRPr lang="pl-PL" dirty="0" smtClean="0"/>
          </a:p>
          <a:p>
            <a:r>
              <a:rPr lang="pl-PL" dirty="0" smtClean="0"/>
              <a:t>&lt;</a:t>
            </a: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</a:t>
            </a:r>
            <a:r>
              <a:rPr lang="pl-PL" dirty="0" smtClean="0"/>
              <a:t> </a:t>
            </a:r>
            <a:r>
              <a:rPr lang="pl-PL" dirty="0" err="1" smtClean="0"/>
              <a:t>rel=</a:t>
            </a:r>
            <a:r>
              <a:rPr lang="pl-P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"stylesheet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pl-PL" dirty="0" smtClean="0"/>
              <a:t> </a:t>
            </a:r>
            <a:r>
              <a:rPr lang="pl-PL" dirty="0" err="1" smtClean="0"/>
              <a:t>href=</a:t>
            </a:r>
            <a:r>
              <a:rPr lang="pl-P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"arkusz.css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„ </a:t>
            </a:r>
            <a:r>
              <a:rPr lang="pl-P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type=„text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pl-P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css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 /</a:t>
            </a:r>
            <a:r>
              <a:rPr lang="pl-PL" dirty="0" smtClean="0"/>
              <a:t>&gt;</a:t>
            </a:r>
          </a:p>
          <a:p>
            <a:endParaRPr lang="pl-PL" dirty="0" smtClean="0"/>
          </a:p>
          <a:p>
            <a:r>
              <a:rPr lang="pl-PL" dirty="0" smtClean="0"/>
              <a:t>Dlaczego zewnętrzne</a:t>
            </a:r>
            <a:r>
              <a:rPr lang="pl-PL" baseline="0" dirty="0" smtClean="0"/>
              <a:t> są najlepsze? – 100 stron, zespół, zmiana styli dla linków, jedno miejsce i jedno </a:t>
            </a:r>
            <a:r>
              <a:rPr lang="pl-PL" baseline="0" dirty="0" err="1" smtClean="0"/>
              <a:t>stylowanie</a:t>
            </a:r>
            <a:endParaRPr lang="pl-PL" baseline="0" dirty="0" smtClean="0"/>
          </a:p>
          <a:p>
            <a:endParaRPr lang="pl-PL" baseline="0" dirty="0" smtClean="0"/>
          </a:p>
          <a:p>
            <a:r>
              <a:rPr lang="pl-PL" baseline="0" dirty="0" err="1" smtClean="0"/>
              <a:t>Loading</a:t>
            </a:r>
            <a:r>
              <a:rPr lang="pl-PL" baseline="0" dirty="0" smtClean="0"/>
              <a:t> order:</a:t>
            </a:r>
          </a:p>
          <a:p>
            <a:r>
              <a:rPr lang="pl-PL" baseline="0" dirty="0" smtClean="0"/>
              <a:t>	</a:t>
            </a:r>
            <a:r>
              <a:rPr lang="pl-PL" baseline="0" dirty="0" err="1" smtClean="0"/>
              <a:t>User</a:t>
            </a:r>
            <a:r>
              <a:rPr lang="pl-PL" baseline="0" dirty="0" smtClean="0"/>
              <a:t> Agent</a:t>
            </a:r>
          </a:p>
          <a:p>
            <a:r>
              <a:rPr lang="pl-PL" baseline="0" dirty="0" smtClean="0"/>
              <a:t>	</a:t>
            </a:r>
            <a:r>
              <a:rPr lang="pl-PL" baseline="0" dirty="0" err="1" smtClean="0"/>
              <a:t>User</a:t>
            </a:r>
            <a:r>
              <a:rPr lang="pl-PL" baseline="0" dirty="0" smtClean="0"/>
              <a:t> </a:t>
            </a:r>
            <a:r>
              <a:rPr lang="pl-PL" baseline="0" dirty="0" err="1" smtClean="0"/>
              <a:t>styles</a:t>
            </a:r>
            <a:endParaRPr lang="pl-PL" baseline="0" dirty="0" smtClean="0"/>
          </a:p>
          <a:p>
            <a:r>
              <a:rPr lang="pl-PL" baseline="0" dirty="0" smtClean="0"/>
              <a:t>	</a:t>
            </a:r>
            <a:r>
              <a:rPr lang="pl-PL" baseline="0" dirty="0" err="1" smtClean="0"/>
              <a:t>author</a:t>
            </a:r>
            <a:r>
              <a:rPr lang="pl-PL" baseline="0" dirty="0" smtClean="0"/>
              <a:t> </a:t>
            </a:r>
            <a:r>
              <a:rPr lang="pl-PL" baseline="0" dirty="0" err="1" smtClean="0"/>
              <a:t>styles</a:t>
            </a:r>
            <a:r>
              <a:rPr lang="pl-PL" baseline="0" dirty="0" smtClean="0"/>
              <a:t>: </a:t>
            </a:r>
            <a:r>
              <a:rPr lang="pl-PL" baseline="0" dirty="0" err="1" smtClean="0"/>
              <a:t>files</a:t>
            </a:r>
            <a:r>
              <a:rPr lang="pl-PL" baseline="0" dirty="0" smtClean="0"/>
              <a:t>, &lt;style&gt;</a:t>
            </a:r>
          </a:p>
          <a:p>
            <a:r>
              <a:rPr lang="pl-PL" baseline="0" dirty="0" smtClean="0"/>
              <a:t>	</a:t>
            </a:r>
            <a:r>
              <a:rPr lang="pl-PL" baseline="0" dirty="0" err="1" smtClean="0"/>
              <a:t>inline</a:t>
            </a:r>
            <a:r>
              <a:rPr lang="pl-PL" baseline="0" dirty="0" smtClean="0"/>
              <a:t> </a:t>
            </a:r>
            <a:r>
              <a:rPr lang="pl-PL" baseline="0" dirty="0" err="1" smtClean="0"/>
              <a:t>styles</a:t>
            </a:r>
            <a:endParaRPr lang="pl-PL" baseline="0" dirty="0" smtClean="0"/>
          </a:p>
          <a:p>
            <a:endParaRPr lang="pl-PL" baseline="0" dirty="0" smtClean="0"/>
          </a:p>
          <a:p>
            <a:r>
              <a:rPr lang="pl-PL" baseline="0" dirty="0" err="1" smtClean="0"/>
              <a:t>Last</a:t>
            </a:r>
            <a:r>
              <a:rPr lang="pl-PL" baseline="0" dirty="0" smtClean="0"/>
              <a:t> </a:t>
            </a:r>
            <a:r>
              <a:rPr lang="pl-PL" baseline="0" dirty="0" err="1" smtClean="0"/>
              <a:t>loaded</a:t>
            </a:r>
            <a:r>
              <a:rPr lang="pl-PL" baseline="0" dirty="0" smtClean="0"/>
              <a:t> </a:t>
            </a:r>
            <a:r>
              <a:rPr lang="pl-PL" baseline="0" dirty="0" err="1" smtClean="0"/>
              <a:t>wins</a:t>
            </a:r>
            <a:endParaRPr lang="pl-PL" baseline="0" dirty="0" smtClean="0"/>
          </a:p>
          <a:p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24</a:t>
            </a:fld>
            <a:endParaRPr lang="pl-PL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25</a:t>
            </a:fld>
            <a:endParaRPr lang="pl-PL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BŁĄD!!!!!!!</a:t>
            </a: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</a:t>
            </a:r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ostatnim kolejność jest inna.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title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– wszystkie elementy z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title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[{attribute}="{value}"]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Myślnik w nazwie id – nazewnictwo – wielkość liter ma znaczenie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 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id: #{id}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element in element: elm1 elm2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class: .{class}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by specific element and class or id: elm.{class} #{id}.elm 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many elements: elm1, elm2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all elements in element: elm * or even *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one element that is directly after other element(the same depth): elm1 + elm2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elements that follows another element(the same depth): elm1 ~ elm2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direct child of an element: elm1 &gt; elm2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first child element inside of another element: :first-child;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elm:first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-child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element that is the only element inside of another one: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elm:only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-child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the last element inside of another element: :last-child;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elm:last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-child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element by its order in another element: :nth-child({integer});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elm:nth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-child({integer})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element by its order in another element, but counting from the back: :nth-last-child({integer})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the first element of a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specitic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type: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elm:first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-of-type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based on its type and order in another element: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elm:nth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-of-type({integer});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elm:nth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-of-type(odd/even)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every nth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element,starting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count at a specific instance of that element: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elm:nth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-of-type({integer}n+{start integer})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element that is the only one of its type: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elm:only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-of-type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the last element of a specific type: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elm:last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-of-type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element that doesn't have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:empty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element that doesn't match the negation selector: :not({selector})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element that has a specific attribute: elm[{attribute}]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element that has a specific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attirbute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value: [{attribute}="{value}"]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element with an attribute value that starts with specific characters: [{attribute}^="value"]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element with an attribute value that ends with specific characters: [{attribute}$="value"]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element with an attribute value that contains specific characters anywhere: [{attribute}*="value"]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[From game: https://flukeout.github.io/]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Gra: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flukeout.github.io</a:t>
            </a:r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26</a:t>
            </a:fld>
            <a:endParaRPr lang="pl-PL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Ja pokazuje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27</a:t>
            </a:fld>
            <a:endParaRPr lang="pl-PL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https://www.w3schools.com/</a:t>
            </a: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cssref</a:t>
            </a: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css_selectors.asp</a:t>
            </a: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Sprawdzić powiązanie </a:t>
            </a: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label</a:t>
            </a: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</a:t>
            </a: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</a:t>
            </a: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label</a:t>
            </a: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+ </a:t>
            </a: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</a:t>
            </a:r>
            <a:r>
              <a:rPr lang="pl-PL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l-PL" sz="1200" b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pl-PL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id</a:t>
            </a:r>
            <a:endParaRPr lang="pl-PL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font-family</a:t>
            </a:r>
            <a:r>
              <a:rPr lang="pl-PL" dirty="0" smtClean="0"/>
              <a:t>: Arial;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font-family: "Times New Roman", Times, serif;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(‘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sdafsdf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’) format(‘woff2’), itd. ;</a:t>
            </a:r>
            <a:endParaRPr lang="pl-PL" dirty="0" smtClean="0"/>
          </a:p>
          <a:p>
            <a:r>
              <a:rPr lang="fr-FR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font-size</a:t>
            </a:r>
            <a:r>
              <a:rPr lang="fr-FR" dirty="0" smtClean="0"/>
              <a:t>: 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22px</a:t>
            </a:r>
            <a:r>
              <a:rPr lang="fr-FR" dirty="0" smtClean="0"/>
              <a:t>;</a:t>
            </a:r>
            <a:br>
              <a:rPr lang="fr-FR" dirty="0" smtClean="0"/>
            </a:br>
            <a:r>
              <a:rPr lang="fr-FR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font-size</a:t>
            </a:r>
            <a:r>
              <a:rPr lang="fr-FR" dirty="0" smtClean="0"/>
              <a:t>: 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2em</a:t>
            </a:r>
            <a:r>
              <a:rPr lang="fr-FR" dirty="0" smtClean="0"/>
              <a:t>;</a:t>
            </a:r>
            <a:br>
              <a:rPr lang="fr-FR" dirty="0" smtClean="0"/>
            </a:br>
            <a:r>
              <a:rPr lang="fr-FR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font-size</a:t>
            </a:r>
            <a:r>
              <a:rPr lang="fr-FR" dirty="0" smtClean="0"/>
              <a:t>: x-small;</a:t>
            </a:r>
            <a:br>
              <a:rPr lang="fr-FR" dirty="0" smtClean="0"/>
            </a:br>
            <a:r>
              <a:rPr lang="fr-FR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font-size</a:t>
            </a:r>
            <a:r>
              <a:rPr lang="fr-FR" dirty="0" smtClean="0"/>
              <a:t>: larger;</a:t>
            </a:r>
            <a:endParaRPr lang="pl-PL" dirty="0" smtClean="0"/>
          </a:p>
          <a:p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font-weight</a:t>
            </a:r>
            <a:r>
              <a:rPr lang="en-US" dirty="0" smtClean="0"/>
              <a:t>: bold;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font-weight</a:t>
            </a:r>
            <a:r>
              <a:rPr lang="en-US" dirty="0" smtClean="0"/>
              <a:t>: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700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font-weight</a:t>
            </a:r>
            <a:r>
              <a:rPr lang="en-US" dirty="0" smtClean="0"/>
              <a:t>: lighter;</a:t>
            </a:r>
            <a:endParaRPr lang="pl-PL" dirty="0" smtClean="0"/>
          </a:p>
          <a:p>
            <a:r>
              <a:rPr lang="pl-PL" dirty="0" smtClean="0"/>
              <a:t>font-style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– kolejno: </a:t>
            </a:r>
            <a:r>
              <a:rPr lang="pl-PL" dirty="0" err="1" smtClean="0"/>
              <a:t>normal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pl-PL" dirty="0" err="1" smtClean="0"/>
              <a:t>italic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pl-PL" dirty="0" err="1" smtClean="0"/>
              <a:t>oblique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text-align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justify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https://fonts.google.com/ Montserrat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&lt;link </a:t>
            </a:r>
            <a:r>
              <a:rPr lang="en-US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href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='https://fonts.googleapis.com/css?family=Playfair+Display:400,400italic&amp;subset=latin,latin-ext' </a:t>
            </a:r>
            <a:r>
              <a:rPr lang="en-US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</a:t>
            </a:r>
            <a:r>
              <a:rPr lang="en-US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stylesheet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 type='text/</a:t>
            </a:r>
            <a:r>
              <a:rPr lang="en-US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css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'&gt;</a:t>
            </a: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ul</a:t>
            </a:r>
            <a:r>
              <a:rPr lang="en-US" dirty="0" smtClean="0"/>
              <a:t> </a:t>
            </a:r>
            <a:r>
              <a:rPr lang="en-US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</a:t>
            </a:r>
            <a:r>
              <a:rPr lang="en-US" dirty="0" smtClean="0"/>
              <a:t> 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font-family: '</a:t>
            </a:r>
            <a:r>
              <a:rPr lang="en-US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Playfair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Display', serif; }</a:t>
            </a:r>
            <a:endParaRPr lang="pl-PL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background-color</a:t>
            </a:r>
            <a:r>
              <a:rPr lang="pl-PL" dirty="0" smtClean="0"/>
              <a:t>: </a:t>
            </a:r>
            <a:r>
              <a:rPr lang="pl-PL" dirty="0" err="1" smtClean="0"/>
              <a:t>gray</a:t>
            </a:r>
            <a:r>
              <a:rPr lang="pl-PL" dirty="0" smtClean="0"/>
              <a:t>;</a:t>
            </a:r>
          </a:p>
          <a:p>
            <a:r>
              <a:rPr lang="en-US" dirty="0" smtClean="0"/>
              <a:t>background-color: #2e353f;</a:t>
            </a:r>
            <a:br>
              <a:rPr lang="en-US" dirty="0" smtClean="0"/>
            </a:br>
            <a:r>
              <a:rPr lang="en-US" dirty="0" smtClean="0"/>
              <a:t>background-color: </a:t>
            </a:r>
            <a:r>
              <a:rPr lang="en-US" dirty="0" err="1" smtClean="0"/>
              <a:t>rgb</a:t>
            </a:r>
            <a:r>
              <a:rPr lang="en-US" dirty="0" smtClean="0"/>
              <a:t>(59, 75, 102);</a:t>
            </a:r>
            <a:endParaRPr lang="pl-PL" dirty="0" smtClean="0"/>
          </a:p>
          <a:p>
            <a:r>
              <a:rPr lang="pl-PL" dirty="0" err="1" smtClean="0"/>
              <a:t>background-image</a:t>
            </a:r>
            <a:r>
              <a:rPr lang="pl-PL" dirty="0" smtClean="0"/>
              <a:t>: </a:t>
            </a:r>
            <a:r>
              <a:rPr lang="pl-PL" dirty="0" err="1" smtClean="0"/>
              <a:t>url</a:t>
            </a:r>
            <a:r>
              <a:rPr lang="pl-PL" dirty="0" smtClean="0"/>
              <a:t>(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pl-P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pl-P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tlo.jpg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pl-PL" dirty="0" smtClean="0"/>
              <a:t>);</a:t>
            </a:r>
          </a:p>
          <a:p>
            <a:r>
              <a:rPr lang="pl-PL" dirty="0" err="1" smtClean="0"/>
              <a:t>background-repeat</a:t>
            </a:r>
            <a:r>
              <a:rPr lang="pl-PL" dirty="0" smtClean="0"/>
              <a:t>: </a:t>
            </a:r>
            <a:r>
              <a:rPr lang="pl-PL" dirty="0" err="1" smtClean="0"/>
              <a:t>no-repeat</a:t>
            </a:r>
            <a:r>
              <a:rPr lang="pl-PL" dirty="0" smtClean="0"/>
              <a:t>;</a:t>
            </a:r>
          </a:p>
          <a:p>
            <a:r>
              <a:rPr lang="en-US" dirty="0" smtClean="0"/>
              <a:t>background-position: left bottom;</a:t>
            </a:r>
            <a:br>
              <a:rPr lang="en-US" dirty="0" smtClean="0"/>
            </a:br>
            <a:r>
              <a:rPr lang="en-US" dirty="0" smtClean="0"/>
              <a:t>background-position: 25% 75%; </a:t>
            </a:r>
            <a:endParaRPr lang="pl-PL" dirty="0" smtClean="0"/>
          </a:p>
          <a:p>
            <a:r>
              <a:rPr lang="en-US" dirty="0" smtClean="0"/>
              <a:t>background-size: auto </a:t>
            </a:r>
            <a:r>
              <a:rPr lang="en-US" dirty="0" err="1" smtClean="0"/>
              <a:t>auto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background-size: cover;</a:t>
            </a:r>
            <a:br>
              <a:rPr lang="en-US" dirty="0" smtClean="0"/>
            </a:br>
            <a:r>
              <a:rPr lang="en-US" dirty="0" smtClean="0"/>
              <a:t>background-size: contain;</a:t>
            </a:r>
            <a:br>
              <a:rPr lang="en-US" dirty="0" smtClean="0"/>
            </a:br>
            <a:r>
              <a:rPr lang="en-US" dirty="0" smtClean="0"/>
              <a:t>background-size: 75%;</a:t>
            </a:r>
            <a:br>
              <a:rPr lang="en-US" dirty="0" smtClean="0"/>
            </a:br>
            <a:r>
              <a:rPr lang="en-US" dirty="0" smtClean="0"/>
              <a:t>background-size: 24px;</a:t>
            </a:r>
            <a:br>
              <a:rPr lang="en-US" dirty="0" smtClean="0"/>
            </a:br>
            <a:r>
              <a:rPr lang="en-US" dirty="0" smtClean="0"/>
              <a:t>background-size: 1.5em;</a:t>
            </a:r>
            <a:endParaRPr lang="pl-PL" dirty="0" smtClean="0"/>
          </a:p>
          <a:p>
            <a:r>
              <a:rPr lang="pl-PL" dirty="0" err="1" smtClean="0"/>
              <a:t>background-attachment</a:t>
            </a:r>
            <a:r>
              <a:rPr lang="pl-PL" dirty="0" smtClean="0"/>
              <a:t>: </a:t>
            </a:r>
            <a:r>
              <a:rPr lang="pl-PL" dirty="0" err="1" smtClean="0"/>
              <a:t>fixed</a:t>
            </a:r>
            <a:r>
              <a:rPr lang="pl-PL" dirty="0" smtClean="0"/>
              <a:t>;</a:t>
            </a:r>
            <a:br>
              <a:rPr lang="pl-PL" dirty="0" smtClean="0"/>
            </a:br>
            <a:r>
              <a:rPr lang="pl-PL" dirty="0" err="1" smtClean="0"/>
              <a:t>background-attachment</a:t>
            </a:r>
            <a:r>
              <a:rPr lang="pl-PL" dirty="0" smtClean="0"/>
              <a:t>: </a:t>
            </a:r>
            <a:r>
              <a:rPr lang="pl-PL" dirty="0" err="1" smtClean="0"/>
              <a:t>scroll</a:t>
            </a:r>
            <a:r>
              <a:rPr lang="pl-PL" dirty="0" smtClean="0"/>
              <a:t>;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body {</a:t>
            </a:r>
            <a:b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background: #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ffffff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("img_tree.png") no-repeat right top;</a:t>
            </a:r>
            <a:b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background-color: 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powderblue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endParaRPr lang="pl-PL" dirty="0" smtClean="0"/>
          </a:p>
          <a:p>
            <a:r>
              <a:rPr lang="pl-PL" dirty="0" smtClean="0"/>
              <a:t/>
            </a:r>
            <a:br>
              <a:rPr lang="pl-PL" dirty="0" smtClean="0"/>
            </a:b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text-align</a:t>
            </a:r>
            <a:r>
              <a:rPr lang="pl-PL" dirty="0" smtClean="0"/>
              <a:t>: center; </a:t>
            </a:r>
            <a:r>
              <a:rPr lang="pl-PL" dirty="0" err="1" smtClean="0"/>
              <a:t>left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pl-PL" dirty="0" smtClean="0"/>
              <a:t>center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pl-PL" dirty="0" err="1" smtClean="0"/>
              <a:t>right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pl-PL" dirty="0" err="1" smtClean="0"/>
              <a:t>justify</a:t>
            </a:r>
            <a:endParaRPr lang="pl-PL" dirty="0" smtClean="0"/>
          </a:p>
          <a:p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text-transform</a:t>
            </a:r>
            <a:r>
              <a:rPr lang="pl-PL" dirty="0" smtClean="0"/>
              <a:t>: </a:t>
            </a:r>
            <a:r>
              <a:rPr lang="pl-PL" dirty="0" err="1" smtClean="0"/>
              <a:t>uppercase</a:t>
            </a:r>
            <a:r>
              <a:rPr lang="pl-PL" dirty="0" smtClean="0"/>
              <a:t>;</a:t>
            </a: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text-decoration-color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(kolor linii wyróżniającej),</a:t>
            </a: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text-decoration-style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(rodzaj linii: solid, double,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dotted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dashed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wavy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</a:t>
            </a: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text-decoration-line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(położenie linii: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underline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overline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line-through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blink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underline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overline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</a:p>
          <a:p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letter-spacing</a:t>
            </a:r>
            <a:r>
              <a:rPr lang="pl-PL" dirty="0" smtClean="0"/>
              <a:t>: 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2px</a:t>
            </a:r>
            <a:r>
              <a:rPr lang="pl-PL" dirty="0" smtClean="0"/>
              <a:t>;</a:t>
            </a:r>
          </a:p>
          <a:p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</a:t>
            </a:r>
            <a:r>
              <a:rPr lang="pl-PL" dirty="0" smtClean="0"/>
              <a:t>: 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350px</a:t>
            </a:r>
            <a:r>
              <a:rPr lang="pl-PL" dirty="0" smtClean="0"/>
              <a:t>;</a:t>
            </a:r>
          </a:p>
          <a:p>
            <a:r>
              <a:rPr lang="pl-PL" dirty="0" err="1" smtClean="0"/>
              <a:t>text-decoration</a:t>
            </a:r>
            <a:r>
              <a:rPr lang="pl-PL" dirty="0" smtClean="0"/>
              <a:t>: </a:t>
            </a:r>
            <a:r>
              <a:rPr lang="pl-PL" dirty="0" err="1" smtClean="0"/>
              <a:t>none</a:t>
            </a:r>
            <a:r>
              <a:rPr lang="pl-PL" dirty="0" smtClean="0"/>
              <a:t>, </a:t>
            </a:r>
          </a:p>
          <a:p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pl-PL" dirty="0" smtClean="0"/>
              <a:t>: 10%; </a:t>
            </a: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pl-PL" dirty="0" smtClean="0"/>
              <a:t>: 10px 15px 20px 5px; 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margin-left</a:t>
            </a:r>
            <a:r>
              <a:rPr lang="en-US" dirty="0" smtClean="0"/>
              <a:t>: 5px;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margin-right</a:t>
            </a:r>
            <a:r>
              <a:rPr lang="en-US" dirty="0" smtClean="0"/>
              <a:t>: 15px;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margin-top</a:t>
            </a:r>
            <a:r>
              <a:rPr lang="en-US" dirty="0" smtClean="0"/>
              <a:t>: 10px;</a:t>
            </a:r>
            <a:endParaRPr lang="pl-PL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height: 200px;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width: 50%;</a:t>
            </a:r>
            <a:r>
              <a:rPr lang="en-US" dirty="0" smtClean="0"/>
              <a:t/>
            </a:r>
            <a:br>
              <a:rPr lang="en-US" dirty="0" smtClean="0"/>
            </a:br>
            <a:endParaRPr lang="pl-PL" dirty="0" smtClean="0"/>
          </a:p>
          <a:p>
            <a:endParaRPr lang="pl-PL" dirty="0" smtClean="0"/>
          </a:p>
          <a:p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border-style</a:t>
            </a:r>
            <a:r>
              <a:rPr lang="pl-PL" dirty="0" smtClean="0"/>
              <a:t>: solid;</a:t>
            </a:r>
            <a:br>
              <a:rPr lang="pl-PL" dirty="0" smtClean="0"/>
            </a:b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border-style</a:t>
            </a:r>
            <a:r>
              <a:rPr lang="pl-PL" dirty="0" smtClean="0"/>
              <a:t>: </a:t>
            </a:r>
            <a:r>
              <a:rPr lang="pl-PL" dirty="0" err="1" smtClean="0"/>
              <a:t>dotted</a:t>
            </a:r>
            <a:r>
              <a:rPr lang="pl-PL" dirty="0" smtClean="0"/>
              <a:t>;</a:t>
            </a:r>
            <a:br>
              <a:rPr lang="pl-PL" dirty="0" smtClean="0"/>
            </a:b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border-style</a:t>
            </a:r>
            <a:r>
              <a:rPr lang="pl-PL" dirty="0" smtClean="0"/>
              <a:t>: </a:t>
            </a:r>
            <a:r>
              <a:rPr lang="pl-PL" dirty="0" err="1" smtClean="0"/>
              <a:t>dashed</a:t>
            </a:r>
            <a:r>
              <a:rPr lang="pl-PL" dirty="0" smtClean="0"/>
              <a:t>;</a:t>
            </a:r>
          </a:p>
          <a:p>
            <a:endParaRPr lang="pl-PL" dirty="0" smtClean="0"/>
          </a:p>
          <a:p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border-left</a:t>
            </a:r>
            <a:r>
              <a:rPr lang="en-US" dirty="0" smtClean="0"/>
              <a:t>: 1px solid black;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border-right</a:t>
            </a:r>
            <a:r>
              <a:rPr lang="en-US" dirty="0" smtClean="0"/>
              <a:t>: 1px dashed blue;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margin-bottom</a:t>
            </a:r>
            <a:r>
              <a:rPr lang="en-US" dirty="0" smtClean="0"/>
              <a:t>: 20px; </a:t>
            </a:r>
            <a:endParaRPr lang="pl-PL" dirty="0" smtClean="0"/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border-radius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4px;</a:t>
            </a:r>
            <a:endParaRPr lang="pl-PL" dirty="0" smtClean="0"/>
          </a:p>
          <a:p>
            <a:endParaRPr lang="pl-PL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list-style-type (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patrz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ilustracja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poniżej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możliwe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wartości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disc, circle, square, decimal, decimal-leading-zero, lower-roman, upper-roman, lower-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greek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lower-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latin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upper-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latin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armenian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georgian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lower-alpha, upper-alpha)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list-style-image (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obraz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markera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z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użyciem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list-style-image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('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sqpurple.gif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');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list-style-position (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pozycja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markera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inside, outside)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list-style: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square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sqpurple.gif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");</a:t>
            </a: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list-style-type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</a:t>
            </a:r>
            <a:r>
              <a:rPr lang="en-US" dirty="0" smtClean="0"/>
              <a:t>: absolute;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left</a:t>
            </a:r>
            <a:r>
              <a:rPr lang="en-US" dirty="0" smtClean="0"/>
              <a:t>: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5%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en-US" dirty="0" smtClean="0"/>
              <a:t>: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25px</a:t>
            </a:r>
            <a:r>
              <a:rPr lang="en-US" dirty="0" smtClean="0"/>
              <a:t>;</a:t>
            </a:r>
            <a:endParaRPr lang="pl-PL" dirty="0" smtClean="0"/>
          </a:p>
          <a:p>
            <a:r>
              <a:rPr lang="pl-PL" dirty="0" err="1" smtClean="0"/>
              <a:t>position</a:t>
            </a:r>
            <a:r>
              <a:rPr lang="pl-PL" dirty="0" smtClean="0"/>
              <a:t>: </a:t>
            </a:r>
            <a:r>
              <a:rPr lang="pl-PL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pl-PL" dirty="0" smtClean="0"/>
              <a:t>; </a:t>
            </a:r>
            <a:r>
              <a:rPr lang="pl-PL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wartość domyślna, więc i tak obowiązuje</a:t>
            </a:r>
          </a:p>
          <a:p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</a:t>
            </a:r>
            <a:r>
              <a:rPr lang="pl-PL" dirty="0" smtClean="0"/>
              <a:t>: </a:t>
            </a:r>
            <a:r>
              <a:rPr lang="pl-PL" dirty="0" err="1" smtClean="0"/>
              <a:t>relative</a:t>
            </a:r>
            <a:r>
              <a:rPr lang="pl-PL" dirty="0" smtClean="0"/>
              <a:t>; 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Visibility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hidden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Display:none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auto;</a:t>
            </a: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text-align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center; - wyśrodkuj tekst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clearfix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{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overflow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auto;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text-decoraton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underline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Pozostałe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paragrafy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wewnątrz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diva –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</a:t>
            </a:r>
            <a:r>
              <a:rPr lang="en-US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decoraton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line-through.</a:t>
            </a:r>
            <a:endParaRPr lang="pl-PL" sz="1200" b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width: 200px;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height: 50px;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background-color: #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overflow: visible;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Formularze: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type=text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28</a:t>
            </a:fld>
            <a:endParaRPr lang="pl-PL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pl-PL" dirty="0" smtClean="0"/>
              <a:t>: 10%; </a:t>
            </a: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pl-PL" dirty="0" smtClean="0"/>
              <a:t>: 10px 15px 20px 5px; 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margin-left</a:t>
            </a:r>
            <a:r>
              <a:rPr lang="en-US" dirty="0" smtClean="0"/>
              <a:t>: 5px;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margin-right</a:t>
            </a:r>
            <a:r>
              <a:rPr lang="en-US" dirty="0" smtClean="0"/>
              <a:t>: 15px;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margin-top</a:t>
            </a:r>
            <a:r>
              <a:rPr lang="en-US" dirty="0" smtClean="0"/>
              <a:t>: 10px;</a:t>
            </a:r>
            <a:endParaRPr lang="pl-PL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height: 200px;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width: 50%;</a:t>
            </a:r>
            <a:r>
              <a:rPr lang="en-US" dirty="0" smtClean="0"/>
              <a:t/>
            </a:r>
            <a:br>
              <a:rPr lang="en-US" dirty="0" smtClean="0"/>
            </a:br>
            <a:endParaRPr lang="pl-PL" dirty="0" smtClean="0"/>
          </a:p>
          <a:p>
            <a:endParaRPr lang="pl-PL" dirty="0" smtClean="0"/>
          </a:p>
          <a:p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border-style</a:t>
            </a:r>
            <a:r>
              <a:rPr lang="pl-PL" dirty="0" smtClean="0"/>
              <a:t>: solid;</a:t>
            </a:r>
            <a:br>
              <a:rPr lang="pl-PL" dirty="0" smtClean="0"/>
            </a:b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border-style</a:t>
            </a:r>
            <a:r>
              <a:rPr lang="pl-PL" dirty="0" smtClean="0"/>
              <a:t>: </a:t>
            </a:r>
            <a:r>
              <a:rPr lang="pl-PL" dirty="0" err="1" smtClean="0"/>
              <a:t>dotted</a:t>
            </a:r>
            <a:r>
              <a:rPr lang="pl-PL" dirty="0" smtClean="0"/>
              <a:t>;</a:t>
            </a:r>
            <a:br>
              <a:rPr lang="pl-PL" dirty="0" smtClean="0"/>
            </a:b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border-style</a:t>
            </a:r>
            <a:r>
              <a:rPr lang="pl-PL" dirty="0" smtClean="0"/>
              <a:t>: </a:t>
            </a:r>
            <a:r>
              <a:rPr lang="pl-PL" dirty="0" err="1" smtClean="0"/>
              <a:t>dashed</a:t>
            </a:r>
            <a:r>
              <a:rPr lang="pl-PL" dirty="0" smtClean="0"/>
              <a:t>;</a:t>
            </a:r>
          </a:p>
          <a:p>
            <a:endParaRPr lang="pl-PL" dirty="0" smtClean="0"/>
          </a:p>
          <a:p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border-left</a:t>
            </a:r>
            <a:r>
              <a:rPr lang="en-US" dirty="0" smtClean="0"/>
              <a:t>: 1px solid black;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border-right</a:t>
            </a:r>
            <a:r>
              <a:rPr lang="en-US" dirty="0" smtClean="0"/>
              <a:t>: 1px dashed blue;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margin-bottom</a:t>
            </a:r>
            <a:r>
              <a:rPr lang="en-US" dirty="0" smtClean="0"/>
              <a:t>: 20px; </a:t>
            </a:r>
            <a:endParaRPr lang="pl-PL" dirty="0" smtClean="0"/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border-radius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4px;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dirty="0" smtClean="0"/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</a:t>
            </a:r>
            <a:r>
              <a:rPr lang="en-US" dirty="0" smtClean="0"/>
              <a:t>: absolute;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left</a:t>
            </a:r>
            <a:r>
              <a:rPr lang="en-US" dirty="0" smtClean="0"/>
              <a:t>: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5%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en-US" dirty="0" smtClean="0"/>
              <a:t>: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25px</a:t>
            </a:r>
            <a:r>
              <a:rPr lang="en-US" dirty="0" smtClean="0"/>
              <a:t>;</a:t>
            </a:r>
            <a:endParaRPr lang="pl-PL" dirty="0" smtClean="0"/>
          </a:p>
          <a:p>
            <a:r>
              <a:rPr lang="pl-PL" dirty="0" err="1" smtClean="0"/>
              <a:t>position</a:t>
            </a:r>
            <a:r>
              <a:rPr lang="pl-PL" dirty="0" smtClean="0"/>
              <a:t>: </a:t>
            </a:r>
            <a:r>
              <a:rPr lang="pl-PL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pl-PL" dirty="0" smtClean="0"/>
              <a:t>; </a:t>
            </a:r>
            <a:r>
              <a:rPr lang="pl-PL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wartość domyślna, więc i tak obowiązuje</a:t>
            </a:r>
          </a:p>
          <a:p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</a:t>
            </a:r>
            <a:r>
              <a:rPr lang="pl-PL" dirty="0" smtClean="0"/>
              <a:t>: </a:t>
            </a:r>
            <a:r>
              <a:rPr lang="pl-PL" dirty="0" err="1" smtClean="0"/>
              <a:t>relative</a:t>
            </a:r>
            <a:r>
              <a:rPr lang="pl-PL" dirty="0" smtClean="0"/>
              <a:t>; 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Visibility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hidden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Display:none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auto;</a:t>
            </a: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text-align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center; - wyśrodkuj tekst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clearfix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{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overflow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auto;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text-decoraton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underline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Pozostałe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paragrafy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wewnątrz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diva –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</a:t>
            </a:r>
            <a:r>
              <a:rPr lang="en-US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decoraton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line-through.</a:t>
            </a:r>
            <a:endParaRPr lang="pl-PL" sz="1200" b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width: 200px;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height: 50px;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background-color: #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overflow: visible;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background-image</a:t>
            </a: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('tutaj podaję ścieżkę do obrazka')</a:t>
            </a:r>
            <a:r>
              <a:rPr lang="pl-PL" dirty="0" smtClean="0"/>
              <a:t>;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Formularze: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type=text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29</a:t>
            </a:fld>
            <a:endParaRPr lang="pl-PL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Ktoś wie</a:t>
            </a:r>
            <a:r>
              <a:rPr lang="pl-PL" baseline="0" dirty="0" smtClean="0"/>
              <a:t> jak zmienić to zachowanie za pomocą </a:t>
            </a:r>
            <a:r>
              <a:rPr lang="pl-PL" baseline="0" dirty="0" err="1" smtClean="0"/>
              <a:t>cssa</a:t>
            </a:r>
            <a:r>
              <a:rPr lang="pl-PL" baseline="0" dirty="0" smtClean="0"/>
              <a:t>?</a:t>
            </a: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err="1" smtClean="0"/>
              <a:t>Box-sizing</a:t>
            </a:r>
            <a:r>
              <a:rPr lang="pl-PL" dirty="0" smtClean="0"/>
              <a:t>:</a:t>
            </a:r>
            <a:r>
              <a:rPr lang="pl-PL" baseline="0" dirty="0" smtClean="0"/>
              <a:t> </a:t>
            </a:r>
            <a:r>
              <a:rPr lang="pl-PL" baseline="0" dirty="0" err="1" smtClean="0"/>
              <a:t>content-box</a:t>
            </a:r>
            <a:endParaRPr lang="pl-PL" baseline="0" dirty="0" smtClean="0"/>
          </a:p>
          <a:p>
            <a:r>
              <a:rPr lang="pl-PL" baseline="0" dirty="0" err="1" smtClean="0"/>
              <a:t>Border-box</a:t>
            </a:r>
            <a:r>
              <a:rPr lang="pl-PL" baseline="0" dirty="0" smtClean="0"/>
              <a:t> – </a:t>
            </a:r>
            <a:r>
              <a:rPr lang="pl-PL" baseline="0" dirty="0" err="1" smtClean="0"/>
              <a:t>border</a:t>
            </a:r>
            <a:r>
              <a:rPr lang="pl-PL" baseline="0" dirty="0" smtClean="0"/>
              <a:t>, </a:t>
            </a:r>
            <a:r>
              <a:rPr lang="pl-PL" baseline="0" dirty="0" err="1" smtClean="0"/>
              <a:t>padding</a:t>
            </a:r>
            <a:r>
              <a:rPr lang="pl-PL" baseline="0" dirty="0" smtClean="0"/>
              <a:t> </a:t>
            </a:r>
            <a:r>
              <a:rPr lang="pl-PL" baseline="0" dirty="0" err="1" smtClean="0"/>
              <a:t>include</a:t>
            </a:r>
            <a:r>
              <a:rPr lang="pl-PL" baseline="0" dirty="0" smtClean="0"/>
              <a:t>  </a:t>
            </a:r>
          </a:p>
          <a:p>
            <a:r>
              <a:rPr lang="pl-PL" baseline="0" dirty="0" err="1" smtClean="0"/>
              <a:t>Padding-box</a:t>
            </a:r>
            <a:r>
              <a:rPr lang="pl-PL" baseline="0" dirty="0" smtClean="0"/>
              <a:t> – tylko </a:t>
            </a:r>
            <a:r>
              <a:rPr lang="pl-PL" baseline="0" dirty="0" err="1" smtClean="0"/>
              <a:t>firefox</a:t>
            </a:r>
            <a:endParaRPr lang="pl-PL" baseline="0" dirty="0" smtClean="0"/>
          </a:p>
          <a:p>
            <a:endParaRPr lang="pl-PL" baseline="0" dirty="0" smtClean="0"/>
          </a:p>
          <a:p>
            <a:endParaRPr lang="pl-PL" baseline="0" dirty="0" smtClean="0"/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 {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box-sizing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border-box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dirty="0" smtClean="0"/>
              <a:t>*, *</a:t>
            </a: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</a:t>
            </a:r>
            <a:r>
              <a:rPr lang="pl-PL" dirty="0" smtClean="0"/>
              <a:t>, *</a:t>
            </a: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</a:t>
            </a:r>
            <a:r>
              <a:rPr lang="pl-PL" dirty="0" smtClean="0"/>
              <a:t> </a:t>
            </a: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</a:t>
            </a: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box-sizing</a:t>
            </a: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border-box</a:t>
            </a:r>
            <a:r>
              <a:rPr lang="pl-PL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}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box-sizing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border-box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} *, *: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*: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box-sizing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inherit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}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webkit-box-sizing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border-box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-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moz-box-sizing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border-box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Przy okazji powiedzieć o wspieraniu przeglądarek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30</a:t>
            </a:fld>
            <a:endParaRPr lang="pl-PL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</a:t>
            </a:r>
            <a:r>
              <a:rPr lang="pl-PL" dirty="0" smtClean="0"/>
              <a:t>: </a:t>
            </a:r>
            <a:r>
              <a:rPr lang="pl-P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350px</a:t>
            </a:r>
            <a:r>
              <a:rPr lang="pl-PL" dirty="0" smtClean="0"/>
              <a:t>;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height: 200px;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width: 50%;</a:t>
            </a:r>
            <a:r>
              <a:rPr lang="en-US" dirty="0" smtClean="0"/>
              <a:t/>
            </a:r>
            <a:br>
              <a:rPr lang="en-US" dirty="0" smtClean="0"/>
            </a:br>
            <a:endParaRPr lang="pl-PL" dirty="0" smtClean="0"/>
          </a:p>
          <a:p>
            <a:endParaRPr lang="pl-PL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list-style-type (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patrz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ilustracja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poniżej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możliwe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wartości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disc, circle, square, decimal, decimal-leading-zero, lower-roman, upper-roman, lower-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greek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lower-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latin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upper-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latin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armenian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georgian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lower-alpha, upper-alpha)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list-style-image (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obraz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markera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z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użyciem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list-style-image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('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sqpurple.gif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');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list-style-position (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pozycja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markera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inside, outside)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list-style: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square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sqpurple.gif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");</a:t>
            </a: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list-style-type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</a:t>
            </a:r>
            <a:r>
              <a:rPr lang="en-US" dirty="0" smtClean="0"/>
              <a:t>: absolute;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left</a:t>
            </a:r>
            <a:r>
              <a:rPr lang="en-US" dirty="0" smtClean="0"/>
              <a:t>: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5%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en-US" dirty="0" smtClean="0"/>
              <a:t>: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25px</a:t>
            </a:r>
            <a:r>
              <a:rPr lang="en-US" dirty="0" smtClean="0"/>
              <a:t>;</a:t>
            </a:r>
            <a:endParaRPr lang="pl-PL" dirty="0" smtClean="0"/>
          </a:p>
          <a:p>
            <a:r>
              <a:rPr lang="pl-PL" dirty="0" err="1" smtClean="0"/>
              <a:t>position</a:t>
            </a:r>
            <a:r>
              <a:rPr lang="pl-PL" dirty="0" smtClean="0"/>
              <a:t>: </a:t>
            </a:r>
            <a:r>
              <a:rPr lang="pl-PL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pl-PL" dirty="0" smtClean="0"/>
              <a:t>; </a:t>
            </a:r>
            <a:r>
              <a:rPr lang="pl-PL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wartość domyślna, więc i tak obowiązuje</a:t>
            </a:r>
          </a:p>
          <a:p>
            <a:r>
              <a:rPr lang="pl-PL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</a:t>
            </a:r>
            <a:r>
              <a:rPr lang="pl-PL" dirty="0" smtClean="0"/>
              <a:t>: </a:t>
            </a:r>
            <a:r>
              <a:rPr lang="pl-PL" dirty="0" err="1" smtClean="0"/>
              <a:t>relative</a:t>
            </a:r>
            <a:r>
              <a:rPr lang="pl-PL" dirty="0" smtClean="0"/>
              <a:t>; 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Visibility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hidden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Display:none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auto;</a:t>
            </a: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text-align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center; - wyśrodkuj tekst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clearfix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{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overflow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auto;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text-decoraton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underline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Pozostałe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paragrafy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wewnątrz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diva –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</a:t>
            </a:r>
            <a:r>
              <a:rPr lang="en-US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decoraton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line-through.</a:t>
            </a:r>
            <a:endParaRPr lang="pl-PL" sz="1200" b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width: 200px;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height: 50px;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background-color: #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overflow: visible;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Formularze: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type=text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31</a:t>
            </a:fld>
            <a:endParaRPr lang="pl-PL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32</a:t>
            </a:fld>
            <a:endParaRPr lang="pl-PL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Format: </a:t>
            </a:r>
            <a:r>
              <a:rPr lang="pl-PL" dirty="0" err="1" smtClean="0"/>
              <a:t>selektor:pseudo</a:t>
            </a:r>
            <a:r>
              <a:rPr lang="pl-PL" dirty="0" smtClean="0"/>
              <a:t>/::pseudo</a:t>
            </a:r>
            <a:r>
              <a:rPr lang="pl-PL" baseline="0" dirty="0" smtClean="0"/>
              <a:t> { }</a:t>
            </a:r>
            <a:endParaRPr lang="pl-PL" dirty="0" smtClean="0"/>
          </a:p>
          <a:p>
            <a:endParaRPr lang="pl-PL" dirty="0" smtClean="0"/>
          </a:p>
          <a:p>
            <a:r>
              <a:rPr lang="pl-PL" dirty="0" smtClean="0"/>
              <a:t>:</a:t>
            </a:r>
            <a:r>
              <a:rPr lang="pl-PL" dirty="0" err="1" smtClean="0"/>
              <a:t>visited</a:t>
            </a:r>
            <a:r>
              <a:rPr lang="pl-PL" dirty="0" smtClean="0"/>
              <a:t>, :link, :</a:t>
            </a:r>
            <a:r>
              <a:rPr lang="pl-PL" dirty="0" err="1" smtClean="0"/>
              <a:t>hover</a:t>
            </a:r>
            <a:r>
              <a:rPr lang="pl-PL" dirty="0" smtClean="0"/>
              <a:t>, :</a:t>
            </a:r>
            <a:r>
              <a:rPr lang="pl-PL" dirty="0" err="1" smtClean="0"/>
              <a:t>active</a:t>
            </a:r>
            <a:r>
              <a:rPr lang="pl-PL" dirty="0" smtClean="0"/>
              <a:t>, 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nth-child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(n), :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nth-child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odd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 :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last-child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: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first-child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first-of-type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P:nth-child(3)</a:t>
            </a:r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p, które jest 3 dzieckiem w ogóle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Dla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linkós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/*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unvisited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link */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a:link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/*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visited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link */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a:visited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wciśnięcie i zwolnienie przycisku myszy</a:t>
            </a: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focus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„zogniskowane” -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::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</a:t>
            </a:r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</a:t>
            </a:r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‘’  ; 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</a:t>
            </a:r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„KONIEC „ 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obr.jpg</a:t>
            </a:r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first-line</a:t>
            </a:r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first-letter</a:t>
            </a:r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selection</a:t>
            </a:r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a:link, a:visited {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background-color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#f44336;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white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14px 25px;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text-align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center; 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text-decoration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none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display: 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inline-block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/>
            </a:r>
            <a:br>
              <a:rPr lang="pl-PL" dirty="0" smtClean="0"/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a:hover, a:active {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background-color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red;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33</a:t>
            </a:fld>
            <a:endParaRPr lang="pl-PL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Style w różnych przeglądarkach mogą się</a:t>
            </a:r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różnić. 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normalize.css</a:t>
            </a:r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(ustawia dla wszystkich jakieś style) albo 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reset.css</a:t>
            </a:r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(wszystko jednolite – jakby goły tekst, brak styli) &lt;- dołączać w pierwszej kolejności</a:t>
            </a: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:after { content: ""; display: table; clear: both; }</a:t>
            </a:r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34</a:t>
            </a:fld>
            <a:endParaRPr lang="pl-PL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err="1" smtClean="0"/>
              <a:t>Box</a:t>
            </a:r>
            <a:r>
              <a:rPr lang="pl-PL" dirty="0" smtClean="0"/>
              <a:t> model,</a:t>
            </a:r>
            <a:r>
              <a:rPr lang="pl-PL" baseline="0" dirty="0" smtClean="0"/>
              <a:t> display: </a:t>
            </a:r>
            <a:r>
              <a:rPr lang="pl-PL" baseline="0" dirty="0" err="1" smtClean="0"/>
              <a:t>inline</a:t>
            </a:r>
            <a:r>
              <a:rPr lang="pl-PL" baseline="0" dirty="0" smtClean="0"/>
              <a:t>, </a:t>
            </a:r>
            <a:r>
              <a:rPr lang="pl-PL" baseline="0" dirty="0" err="1" smtClean="0"/>
              <a:t>block</a:t>
            </a:r>
            <a:r>
              <a:rPr lang="pl-PL" baseline="0" dirty="0" smtClean="0"/>
              <a:t>, </a:t>
            </a:r>
            <a:r>
              <a:rPr lang="pl-PL" baseline="0" dirty="0" err="1" smtClean="0"/>
              <a:t>inline-block</a:t>
            </a:r>
            <a:endParaRPr lang="pl-PL" baseline="0" dirty="0" smtClean="0"/>
          </a:p>
          <a:p>
            <a:endParaRPr lang="pl-PL" baseline="0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Compared to display: inline, the major difference is that display: inline-block allows to set a width and height on the element.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Also, with display: inline-block, the top and bottom margins/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respected, but with display: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inlinethey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not.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Compared to display: block, the major difference is that display: inline-block does not add a line-break after the element, so the element can sit next to other elements.</a:t>
            </a:r>
          </a:p>
          <a:p>
            <a:endParaRPr lang="pl-PL" baseline="0" dirty="0" smtClean="0"/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Rodzaje pozycjonowania elementów:</a:t>
            </a: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a) </a:t>
            </a:r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(domyślna wartość) – elementy pojawiają się w naturalnej</a:t>
            </a: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kolejności – jeden pod drugim;</a:t>
            </a: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b) </a:t>
            </a:r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relatve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pozycja elementu może być </a:t>
            </a:r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modyfkowana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relatywnie</a:t>
            </a: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 jego naturalnego położenia;</a:t>
            </a: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c) </a:t>
            </a:r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absolute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pozycja elementu całkowicie wyłączona z</a:t>
            </a: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naturalnego układu; element pozycjonowany jest relatywnie do</a:t>
            </a: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elementu &lt;</a:t>
            </a:r>
            <a:r>
              <a:rPr lang="pl-PL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</a:t>
            </a:r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lub najbliższego przodka z pozycją inną niż </a:t>
            </a:r>
            <a:r>
              <a:rPr lang="pl-PL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statc</a:t>
            </a:r>
            <a:endParaRPr lang="pl-PL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d) </a:t>
            </a:r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fixed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pozycjonowanie podobne do </a:t>
            </a:r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absolute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element</a:t>
            </a: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ustawiony jest „na stałe” relatywnie do okna przeglądarki</a:t>
            </a: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 float property can have one of the following values: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left - The element floats to the left of its container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right- The element floats to the right of its container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none - The element does not float (will be displayed just where it occurs in the text). This is default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inherit - The element inherits the float value of its parent</a:t>
            </a: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</a:t>
            </a:r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 kolumny</a:t>
            </a:r>
          </a:p>
          <a:p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Tło, kolor</a:t>
            </a:r>
          </a:p>
          <a:p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Marginesy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35</a:t>
            </a:fld>
            <a:endParaRPr lang="pl-PL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err="1" smtClean="0"/>
              <a:t>Box</a:t>
            </a:r>
            <a:r>
              <a:rPr lang="pl-PL" dirty="0" smtClean="0"/>
              <a:t> model,</a:t>
            </a:r>
            <a:r>
              <a:rPr lang="pl-PL" baseline="0" dirty="0" smtClean="0"/>
              <a:t> display: </a:t>
            </a:r>
            <a:r>
              <a:rPr lang="pl-PL" baseline="0" dirty="0" err="1" smtClean="0"/>
              <a:t>inline</a:t>
            </a:r>
            <a:r>
              <a:rPr lang="pl-PL" baseline="0" dirty="0" smtClean="0"/>
              <a:t>, </a:t>
            </a:r>
            <a:r>
              <a:rPr lang="pl-PL" baseline="0" dirty="0" err="1" smtClean="0"/>
              <a:t>block</a:t>
            </a:r>
            <a:r>
              <a:rPr lang="pl-PL" baseline="0" dirty="0" smtClean="0"/>
              <a:t>, </a:t>
            </a:r>
            <a:r>
              <a:rPr lang="pl-PL" baseline="0" dirty="0" err="1" smtClean="0"/>
              <a:t>inline-block</a:t>
            </a:r>
            <a:endParaRPr lang="pl-PL" baseline="0" dirty="0" smtClean="0"/>
          </a:p>
          <a:p>
            <a:endParaRPr lang="pl-PL" baseline="0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Compared to display: inline, the major difference is that display: inline-block allows to set a width and height on the element.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Also, with display: inline-block, the top and bottom margins/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respected, but with display: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inlinethey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not.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Compared to display: block, the major difference is that display: inline-block does not add a line-break after the element, so the element can sit next to other elements.</a:t>
            </a:r>
          </a:p>
          <a:p>
            <a:endParaRPr lang="pl-PL" baseline="0" dirty="0" smtClean="0"/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Rodzaje pozycjonowania elementów:</a:t>
            </a: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a) </a:t>
            </a:r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(domyślna wartość) – elementy pojawiają się w naturalnej</a:t>
            </a: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kolejności – jeden pod drugim;</a:t>
            </a: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b) </a:t>
            </a:r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relatve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pozycja elementu może być </a:t>
            </a:r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modyfkowana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relatywnie</a:t>
            </a: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 jego naturalnego położenia;</a:t>
            </a: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c) </a:t>
            </a:r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absolute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pozycja elementu całkowicie wyłączona z</a:t>
            </a: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naturalnego układu; element pozycjonowany jest relatywnie do</a:t>
            </a: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elementu &lt;</a:t>
            </a:r>
            <a:r>
              <a:rPr lang="pl-PL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</a:t>
            </a:r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lub najbliższego przodka z pozycją inną niż </a:t>
            </a:r>
            <a:r>
              <a:rPr lang="pl-PL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statc</a:t>
            </a:r>
            <a:endParaRPr lang="pl-PL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d) </a:t>
            </a:r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fixed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pozycjonowanie podobne do </a:t>
            </a:r>
            <a:r>
              <a:rPr lang="pl-PL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absolute</a:t>
            </a:r>
            <a:r>
              <a:rPr lang="pl-PL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element</a:t>
            </a:r>
          </a:p>
          <a:p>
            <a:r>
              <a:rPr lang="pl-P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ustawiony jest „na stałe” relatywnie do okna przeglądarki</a:t>
            </a: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 float property can have one of the following values: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left - The element floats to the left of its container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right- The element floats to the right of its container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none - The element does not float (will be displayed just where it occurs in the text). This is default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inherit - The element inherits the float value of its parent</a:t>
            </a: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</a:t>
            </a:r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 kolumny</a:t>
            </a:r>
          </a:p>
          <a:p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Tło, kolor</a:t>
            </a:r>
          </a:p>
          <a:p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Marginesy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36</a:t>
            </a:fld>
            <a:endParaRPr lang="pl-PL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err="1" smtClean="0"/>
              <a:t>Dev</a:t>
            </a:r>
            <a:r>
              <a:rPr lang="pl-PL" dirty="0" smtClean="0"/>
              <a:t> </a:t>
            </a:r>
            <a:r>
              <a:rPr lang="pl-PL" dirty="0" err="1" smtClean="0"/>
              <a:t>tools</a:t>
            </a:r>
            <a:r>
              <a:rPr lang="pl-PL" dirty="0" smtClean="0"/>
              <a:t> jak</a:t>
            </a:r>
            <a:r>
              <a:rPr lang="pl-PL" baseline="0" dirty="0" smtClean="0"/>
              <a:t> został czas</a:t>
            </a:r>
          </a:p>
          <a:p>
            <a:endParaRPr lang="pl-PL" baseline="0" dirty="0" smtClean="0"/>
          </a:p>
          <a:p>
            <a:r>
              <a:rPr lang="pl-PL" baseline="0" dirty="0" smtClean="0"/>
              <a:t>Walidacja</a:t>
            </a:r>
          </a:p>
          <a:p>
            <a:endParaRPr lang="pl-PL" baseline="0" dirty="0" smtClean="0"/>
          </a:p>
          <a:p>
            <a:r>
              <a:rPr lang="pl-PL" baseline="0" dirty="0" smtClean="0"/>
              <a:t>BEM</a:t>
            </a:r>
          </a:p>
          <a:p>
            <a:endParaRPr lang="pl-PL" baseline="0" dirty="0" smtClean="0"/>
          </a:p>
          <a:p>
            <a:r>
              <a:rPr lang="pl-PL" baseline="0" dirty="0" err="1" smtClean="0"/>
              <a:t>Hidden</a:t>
            </a:r>
            <a:r>
              <a:rPr lang="pl-PL" baseline="0" dirty="0" smtClean="0"/>
              <a:t> element</a:t>
            </a:r>
          </a:p>
          <a:p>
            <a:endParaRPr lang="pl-PL" baseline="0" dirty="0" smtClean="0"/>
          </a:p>
          <a:p>
            <a:r>
              <a:rPr lang="pl-PL" baseline="0" dirty="0" err="1" smtClean="0"/>
              <a:t>Validacja</a:t>
            </a:r>
            <a:r>
              <a:rPr lang="pl-PL" baseline="0" dirty="0" smtClean="0"/>
              <a:t> formularza</a:t>
            </a:r>
          </a:p>
          <a:p>
            <a:endParaRPr lang="pl-PL" baseline="0" dirty="0" smtClean="0"/>
          </a:p>
          <a:p>
            <a:r>
              <a:rPr lang="pl-PL" baseline="0" dirty="0" err="1" smtClean="0"/>
              <a:t>Grid</a:t>
            </a:r>
            <a:endParaRPr lang="pl-PL" baseline="0" dirty="0" smtClean="0"/>
          </a:p>
          <a:p>
            <a:endParaRPr lang="pl-PL" baseline="0" dirty="0" smtClean="0"/>
          </a:p>
          <a:p>
            <a:r>
              <a:rPr lang="pl-PL" baseline="0" dirty="0" smtClean="0"/>
              <a:t>https://blog.nayma.pl/wprowadzenie-do-css-grid/</a:t>
            </a:r>
          </a:p>
          <a:p>
            <a:r>
              <a:rPr lang="pl-PL" baseline="0" dirty="0" smtClean="0"/>
              <a:t>https://gridbyexample.com/examples/</a:t>
            </a:r>
          </a:p>
          <a:p>
            <a:r>
              <a:rPr lang="pl-PL" baseline="0" dirty="0" smtClean="0"/>
              <a:t>http://sowaprogramuje.pl/css-grid-kontra-flexbox/</a:t>
            </a:r>
          </a:p>
          <a:p>
            <a:r>
              <a:rPr lang="pl-PL" baseline="0" dirty="0" smtClean="0"/>
              <a:t>https://css-tricks.com/snippets/css/complete-guide-grid/</a:t>
            </a:r>
          </a:p>
          <a:p>
            <a:endParaRPr lang="pl-PL" baseline="0" dirty="0" smtClean="0"/>
          </a:p>
          <a:p>
            <a:r>
              <a:rPr lang="pl-PL" baseline="0" dirty="0" smtClean="0"/>
              <a:t>Tabele</a:t>
            </a:r>
          </a:p>
          <a:p>
            <a:endParaRPr lang="pl-PL" baseline="0" dirty="0" smtClean="0"/>
          </a:p>
          <a:p>
            <a:r>
              <a:rPr lang="pl-PL" baseline="0" dirty="0" err="1" smtClean="0"/>
              <a:t>Layoout</a:t>
            </a:r>
            <a:r>
              <a:rPr lang="pl-PL" baseline="0" dirty="0" smtClean="0"/>
              <a:t> z </a:t>
            </a:r>
            <a:r>
              <a:rPr lang="pl-PL" baseline="0" dirty="0" err="1" smtClean="0"/>
              <a:t>float</a:t>
            </a:r>
            <a:r>
              <a:rPr lang="pl-PL" baseline="0" dirty="0" smtClean="0"/>
              <a:t> a potem z </a:t>
            </a:r>
            <a:r>
              <a:rPr lang="pl-PL" baseline="0" dirty="0" err="1" smtClean="0"/>
              <a:t>gridem</a:t>
            </a:r>
            <a:endParaRPr lang="pl-PL" baseline="0" dirty="0" smtClean="0"/>
          </a:p>
          <a:p>
            <a:endParaRPr lang="pl-PL" baseline="0" dirty="0" smtClean="0"/>
          </a:p>
          <a:p>
            <a:r>
              <a:rPr lang="pl-PL" baseline="0" dirty="0" smtClean="0"/>
              <a:t>Wspomnieć o </a:t>
            </a:r>
            <a:r>
              <a:rPr lang="pl-PL" baseline="0" dirty="0" err="1" smtClean="0"/>
              <a:t>flexie</a:t>
            </a:r>
            <a:r>
              <a:rPr lang="pl-PL" baseline="0" dirty="0" smtClean="0"/>
              <a:t>, ale bez szczegółów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37</a:t>
            </a:fld>
            <a:endParaRPr lang="pl-PL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 źródła:	autor,</a:t>
            </a:r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agent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Zwykłe style domyślne przeglądarki.</a:t>
            </a: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Domyślne style przeglądarki z !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important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Zwykłe style zdefiniowane przez użytkownika.</a:t>
            </a: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Zwykłe style zdefiniowane przez programistę strony.</a:t>
            </a: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Style zdefiniowane przez programistę strony z użyciem !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important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Style zdefiniowane po stronie użytkownika z użyciem !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important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 strony więcej niż jeden plik CSS. Kiedy w obu z nich będą występować te same selektory, lecz zawierające różne właściwości, przeglądarka z pierwszeństwem potraktuje ten selektor, który został załączony jako ostatni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Specyficzność, dokładność selektora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Cechę CSS, dzięki której wartości poszczególnych właściwości są przekazywane od elementu rodzica do elementu dziecka, nazywamy </a:t>
            </a:r>
            <a:r>
              <a:rPr lang="pl-PL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dziedziczeniem</a:t>
            </a:r>
          </a:p>
          <a:p>
            <a:endParaRPr lang="pl-PL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Właściwości, które są dziedziczone:</a:t>
            </a: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font-family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font-size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font-style</a:t>
            </a: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font-weight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text-align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Właściwości, które nie są dziedziczone:</a:t>
            </a: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background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background-color:black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!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important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              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itchFamily="2" charset="2"/>
              </a:rPr>
              <a:t> unikać </a:t>
            </a:r>
            <a:r>
              <a:rPr lang="pl-PL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itchFamily="2" charset="2"/>
              </a:rPr>
              <a:t>importantów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Jakiś</a:t>
            </a:r>
            <a:r>
              <a:rPr lang="pl-PL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pomysł na to, że w różnych przeglądarkach strona może wyglądać inaczej? np. 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inputy</a:t>
            </a:r>
            <a:endParaRPr lang="pl-PL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i="1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38</a:t>
            </a:fld>
            <a:endParaRPr lang="pl-PL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Te wartości są obliczane.</a:t>
            </a:r>
            <a:br>
              <a:rPr lang="pl-PL" dirty="0" smtClean="0"/>
            </a:b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>Rodzic,</a:t>
            </a:r>
            <a:r>
              <a:rPr lang="pl-PL" baseline="0" dirty="0" smtClean="0"/>
              <a:t> czyli element wyższy. Ten w którym się znajduje.</a:t>
            </a:r>
          </a:p>
          <a:p>
            <a:endParaRPr lang="pl-PL" baseline="0" dirty="0" smtClean="0"/>
          </a:p>
          <a:p>
            <a:r>
              <a:rPr lang="pl-PL" baseline="0" dirty="0" smtClean="0"/>
              <a:t>Chodzi o </a:t>
            </a:r>
            <a:r>
              <a:rPr lang="pl-PL" baseline="0" dirty="0" err="1" smtClean="0"/>
              <a:t>font-size</a:t>
            </a:r>
            <a:r>
              <a:rPr lang="pl-PL" baseline="0" dirty="0" smtClean="0"/>
              <a:t>. Np.. </a:t>
            </a:r>
            <a:r>
              <a:rPr lang="pl-PL" baseline="0" dirty="0" err="1" smtClean="0"/>
              <a:t>Padding</a:t>
            </a:r>
            <a:r>
              <a:rPr lang="pl-PL" baseline="0" dirty="0" smtClean="0"/>
              <a:t> będzie obliczany też na podstawie </a:t>
            </a:r>
            <a:r>
              <a:rPr lang="pl-PL" baseline="0" dirty="0" err="1" smtClean="0"/>
              <a:t>font-size</a:t>
            </a:r>
            <a:endParaRPr lang="pl-PL" baseline="0" dirty="0" smtClean="0"/>
          </a:p>
          <a:p>
            <a:endParaRPr lang="pl-PL" baseline="0" dirty="0" smtClean="0"/>
          </a:p>
          <a:p>
            <a:r>
              <a:rPr lang="pl-PL" baseline="0" dirty="0" smtClean="0"/>
              <a:t>Przy coraz większych zagłębieniach będzie mnożenie wymiarów </a:t>
            </a:r>
            <a:r>
              <a:rPr lang="pl-PL" baseline="0" dirty="0" err="1" smtClean="0"/>
              <a:t>dle</a:t>
            </a:r>
            <a:r>
              <a:rPr lang="pl-PL" baseline="0" dirty="0" smtClean="0"/>
              <a:t> </a:t>
            </a:r>
            <a:r>
              <a:rPr lang="pl-PL" baseline="0" dirty="0" err="1" smtClean="0"/>
              <a:t>em</a:t>
            </a:r>
            <a:endParaRPr lang="pl-PL" baseline="0" dirty="0" smtClean="0"/>
          </a:p>
          <a:p>
            <a:endParaRPr lang="pl-PL" baseline="0" dirty="0" smtClean="0"/>
          </a:p>
          <a:p>
            <a:r>
              <a:rPr lang="pl-PL" baseline="0" dirty="0" smtClean="0"/>
              <a:t>Rem – można używać domyślne przeglądarki, chyba, że sami ustawimy.</a:t>
            </a:r>
          </a:p>
          <a:p>
            <a:endParaRPr lang="pl-PL" baseline="0" dirty="0" smtClean="0"/>
          </a:p>
          <a:p>
            <a:r>
              <a:rPr lang="pl-PL" baseline="0" dirty="0" smtClean="0"/>
              <a:t>20/100 – 20vw</a:t>
            </a:r>
          </a:p>
          <a:p>
            <a:endParaRPr lang="pl-PL" baseline="0" dirty="0" smtClean="0"/>
          </a:p>
          <a:p>
            <a:r>
              <a:rPr lang="pl-PL" baseline="0" dirty="0" smtClean="0"/>
              <a:t>Elastyczność</a:t>
            </a:r>
          </a:p>
          <a:p>
            <a:endParaRPr lang="pl-PL" baseline="0" dirty="0" smtClean="0"/>
          </a:p>
          <a:p>
            <a:r>
              <a:rPr lang="pl-PL" baseline="0" dirty="0" smtClean="0"/>
              <a:t>Mały quiz podczas pokazywania?</a:t>
            </a:r>
          </a:p>
          <a:p>
            <a:endParaRPr lang="pl-PL" baseline="0" dirty="0" smtClean="0"/>
          </a:p>
          <a:p>
            <a:r>
              <a:rPr lang="pl-PL" baseline="0" dirty="0" smtClean="0"/>
              <a:t>Rem </a:t>
            </a:r>
            <a:r>
              <a:rPr lang="pl-PL" baseline="0" dirty="0" err="1" smtClean="0"/>
              <a:t>vs</a:t>
            </a:r>
            <a:r>
              <a:rPr lang="pl-PL" baseline="0" dirty="0" smtClean="0"/>
              <a:t> </a:t>
            </a:r>
            <a:r>
              <a:rPr lang="pl-PL" baseline="0" dirty="0" err="1" smtClean="0"/>
              <a:t>em</a:t>
            </a:r>
            <a:r>
              <a:rPr lang="pl-PL" baseline="0" dirty="0" smtClean="0"/>
              <a:t> – który wybrać?</a:t>
            </a:r>
          </a:p>
          <a:p>
            <a:endParaRPr lang="pl-PL" baseline="0" dirty="0" smtClean="0"/>
          </a:p>
          <a:p>
            <a:r>
              <a:rPr lang="pl-PL" baseline="0" dirty="0" smtClean="0"/>
              <a:t>rem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 sizing that doesn’t need </a:t>
            </a:r>
            <a:r>
              <a:rPr lang="en-US" dirty="0" err="1" smtClean="0"/>
              <a:t>em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units for the reasons described above, and that should </a:t>
            </a:r>
            <a:r>
              <a:rPr lang="en-US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scale depending on browser font size settings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pl-PL" baseline="0" dirty="0" smtClean="0"/>
          </a:p>
          <a:p>
            <a:endParaRPr lang="pl-PL" baseline="0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en-US" dirty="0" err="1" smtClean="0"/>
              <a:t>em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units should be to allow for scalability </a:t>
            </a:r>
            <a:r>
              <a:rPr lang="en-US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 the context of a specific design element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example, you might set the </a:t>
            </a:r>
            <a:r>
              <a:rPr lang="en-US" dirty="0" smtClean="0"/>
              <a:t>padding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en-US" dirty="0" smtClean="0"/>
              <a:t>margin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and </a:t>
            </a:r>
            <a:r>
              <a:rPr lang="en-US" dirty="0" smtClean="0"/>
              <a:t>line-height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around a navigation menu item to use </a:t>
            </a:r>
            <a:r>
              <a:rPr lang="en-US" dirty="0" err="1" smtClean="0"/>
              <a:t>em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values.</a:t>
            </a:r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way if you change the menu’s font size the spacing around the menu items will scale proportionately, independently of the rest of the layout.</a:t>
            </a:r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Ale nie używać tego w kontekście szerokości. Tu lepiej %</a:t>
            </a:r>
          </a:p>
          <a:p>
            <a:endParaRPr lang="pl-PL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Dobry artykuł:</a:t>
            </a:r>
          </a:p>
          <a:p>
            <a:r>
              <a:rPr lang="pl-PL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https://webdesign.tutsplus.com/tutorials/comprehensive-guide-when-to-use-em-vs-rem--cms-23984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378F5-BDB5-462D-8E10-49C4C7500174}" type="slidenum">
              <a:rPr lang="pl-PL" smtClean="0"/>
              <a:pPr/>
              <a:t>39</a:t>
            </a:fld>
            <a:endParaRPr lang="pl-P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1951577"/>
          </a:xfrm>
        </p:spPr>
        <p:txBody>
          <a:bodyPr anchor="b" anchorCtr="0"/>
          <a:lstStyle>
            <a:lvl1pPr algn="ctr">
              <a:defRPr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metr212 BkCn BT" panose="020B0603020204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pl-PL" dirty="0"/>
              <a:t>TYTUŁ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16951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metr212 BkCn BT" panose="020B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 dirty="0"/>
              <a:t>PODTYTUŁ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9908-02E0-4A8F-BBDC-97AF4B420089}" type="datetime1">
              <a:rPr lang="pl-PL" smtClean="0"/>
              <a:pPr/>
              <a:t>15.06.2018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Autor: Prawa do korzystania z materiałów posiada Software Development Academy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6FFA4-C635-48B6-A424-1A5ECBB8AB72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12" name="Trójkąt prostokątny 11"/>
          <p:cNvSpPr/>
          <p:nvPr userDrawn="1"/>
        </p:nvSpPr>
        <p:spPr>
          <a:xfrm rot="5400000">
            <a:off x="0" y="0"/>
            <a:ext cx="2500009" cy="2500009"/>
          </a:xfrm>
          <a:prstGeom prst="rtTriangle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Obraz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2752933" cy="129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76960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 userDrawn="1"/>
        </p:nvSpPr>
        <p:spPr>
          <a:xfrm>
            <a:off x="0" y="0"/>
            <a:ext cx="12192000" cy="96303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0894979" cy="963038"/>
          </a:xfrm>
        </p:spPr>
        <p:txBody>
          <a:bodyPr>
            <a:normAutofit/>
          </a:bodyPr>
          <a:lstStyle>
            <a:lvl1pPr>
              <a:defRPr sz="3200" b="1" baseline="0">
                <a:solidFill>
                  <a:srgbClr val="4A3D53"/>
                </a:solidFill>
                <a:latin typeface="Geometr212 BkCn BT" panose="020B0603020204020204" pitchFamily="34" charset="0"/>
              </a:defRPr>
            </a:lvl1pPr>
          </a:lstStyle>
          <a:p>
            <a:r>
              <a:rPr lang="pl-PL" dirty="0"/>
              <a:t>TYTUŁ SLAJDU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 hasCustomPrompt="1"/>
          </p:nvPr>
        </p:nvSpPr>
        <p:spPr>
          <a:xfrm>
            <a:off x="838200" y="4202349"/>
            <a:ext cx="10515600" cy="2075066"/>
          </a:xfrm>
        </p:spPr>
        <p:txBody>
          <a:bodyPr/>
          <a:lstStyle>
            <a:lvl1pPr marL="0" indent="0" algn="ctr">
              <a:buNone/>
              <a:defRPr>
                <a:solidFill>
                  <a:srgbClr val="515151"/>
                </a:solidFill>
                <a:latin typeface="+mj-lt"/>
              </a:defRPr>
            </a:lvl1pPr>
            <a:lvl2pPr>
              <a:defRPr>
                <a:solidFill>
                  <a:srgbClr val="515151"/>
                </a:solidFill>
                <a:latin typeface="+mj-lt"/>
              </a:defRPr>
            </a:lvl2pPr>
            <a:lvl3pPr>
              <a:defRPr>
                <a:solidFill>
                  <a:srgbClr val="515151"/>
                </a:solidFill>
                <a:latin typeface="+mj-lt"/>
              </a:defRPr>
            </a:lvl3pPr>
            <a:lvl4pPr>
              <a:defRPr>
                <a:solidFill>
                  <a:srgbClr val="515151"/>
                </a:solidFill>
                <a:latin typeface="+mj-lt"/>
              </a:defRPr>
            </a:lvl4pPr>
            <a:lvl5pPr>
              <a:defRPr>
                <a:solidFill>
                  <a:srgbClr val="515151"/>
                </a:solidFill>
                <a:latin typeface="+mj-lt"/>
              </a:defRPr>
            </a:lvl5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 </a:t>
            </a:r>
            <a:r>
              <a:rPr lang="pl-PL" dirty="0" err="1"/>
              <a:t>Donec</a:t>
            </a:r>
            <a:r>
              <a:rPr lang="pl-PL" dirty="0"/>
              <a:t> </a:t>
            </a:r>
            <a:r>
              <a:rPr lang="pl-PL" dirty="0" err="1"/>
              <a:t>pharetra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ex </a:t>
            </a:r>
            <a:r>
              <a:rPr lang="pl-PL" dirty="0" err="1"/>
              <a:t>eu</a:t>
            </a:r>
            <a:r>
              <a:rPr lang="pl-PL" dirty="0"/>
              <a:t> </a:t>
            </a:r>
            <a:r>
              <a:rPr lang="pl-PL" dirty="0" err="1"/>
              <a:t>lacinia</a:t>
            </a:r>
            <a:r>
              <a:rPr lang="pl-PL" dirty="0"/>
              <a:t>. </a:t>
            </a:r>
            <a:r>
              <a:rPr lang="pl-PL" dirty="0" err="1"/>
              <a:t>Ut</a:t>
            </a:r>
            <a:r>
              <a:rPr lang="pl-PL" dirty="0"/>
              <a:t> </a:t>
            </a:r>
            <a:r>
              <a:rPr lang="pl-PL" dirty="0" err="1"/>
              <a:t>ac</a:t>
            </a:r>
            <a:r>
              <a:rPr lang="pl-PL" dirty="0"/>
              <a:t> eros </a:t>
            </a:r>
            <a:r>
              <a:rPr lang="pl-PL" dirty="0" err="1"/>
              <a:t>tellus</a:t>
            </a:r>
            <a:r>
              <a:rPr lang="pl-PL" dirty="0"/>
              <a:t>. </a:t>
            </a:r>
            <a:r>
              <a:rPr lang="pl-PL" dirty="0" err="1"/>
              <a:t>Sed</a:t>
            </a:r>
            <a:r>
              <a:rPr lang="pl-PL" dirty="0"/>
              <a:t> elit </a:t>
            </a:r>
            <a:r>
              <a:rPr lang="pl-PL" dirty="0" err="1"/>
              <a:t>leo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sed</a:t>
            </a:r>
            <a:r>
              <a:rPr lang="pl-PL" dirty="0"/>
              <a:t> </a:t>
            </a:r>
            <a:r>
              <a:rPr lang="pl-PL" dirty="0" err="1"/>
              <a:t>volutpat</a:t>
            </a:r>
            <a:r>
              <a:rPr lang="pl-PL" dirty="0"/>
              <a:t> et, </a:t>
            </a:r>
            <a:r>
              <a:rPr lang="pl-PL" dirty="0" err="1"/>
              <a:t>molestie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nunc. </a:t>
            </a:r>
            <a:r>
              <a:rPr lang="pl-PL" dirty="0" err="1"/>
              <a:t>Morbi</a:t>
            </a:r>
            <a:r>
              <a:rPr lang="pl-PL" dirty="0"/>
              <a:t> </a:t>
            </a:r>
            <a:r>
              <a:rPr lang="pl-PL" dirty="0" err="1"/>
              <a:t>sagittis</a:t>
            </a:r>
            <a:r>
              <a:rPr lang="pl-PL" dirty="0"/>
              <a:t> </a:t>
            </a:r>
            <a:r>
              <a:rPr lang="pl-PL" dirty="0" err="1"/>
              <a:t>volutpat</a:t>
            </a:r>
            <a:r>
              <a:rPr lang="pl-PL" dirty="0"/>
              <a:t> </a:t>
            </a:r>
            <a:r>
              <a:rPr lang="pl-PL" dirty="0" err="1"/>
              <a:t>tellus</a:t>
            </a:r>
            <a:r>
              <a:rPr lang="pl-PL" dirty="0"/>
              <a:t> </a:t>
            </a:r>
            <a:r>
              <a:rPr lang="pl-PL" dirty="0" err="1"/>
              <a:t>eu</a:t>
            </a:r>
            <a:r>
              <a:rPr lang="pl-PL" dirty="0"/>
              <a:t> </a:t>
            </a:r>
            <a:r>
              <a:rPr lang="pl-PL" dirty="0" err="1"/>
              <a:t>pharetra</a:t>
            </a:r>
            <a:r>
              <a:rPr lang="pl-PL" dirty="0"/>
              <a:t>. Class </a:t>
            </a:r>
            <a:r>
              <a:rPr lang="pl-PL" dirty="0" err="1"/>
              <a:t>aptent</a:t>
            </a:r>
            <a:r>
              <a:rPr lang="pl-PL" dirty="0"/>
              <a:t> </a:t>
            </a:r>
            <a:r>
              <a:rPr lang="pl-PL" dirty="0" err="1"/>
              <a:t>taciti</a:t>
            </a:r>
            <a:r>
              <a:rPr lang="pl-PL" dirty="0"/>
              <a:t> </a:t>
            </a:r>
            <a:r>
              <a:rPr lang="pl-PL" dirty="0" err="1"/>
              <a:t>sociosqu</a:t>
            </a:r>
            <a:r>
              <a:rPr lang="pl-PL" dirty="0"/>
              <a:t> ad </a:t>
            </a:r>
            <a:r>
              <a:rPr lang="pl-PL" dirty="0" err="1"/>
              <a:t>litora</a:t>
            </a:r>
            <a:r>
              <a:rPr lang="pl-PL" dirty="0"/>
              <a:t> </a:t>
            </a:r>
            <a:r>
              <a:rPr lang="pl-PL" dirty="0" err="1"/>
              <a:t>torquent</a:t>
            </a:r>
            <a:r>
              <a:rPr lang="pl-PL" dirty="0"/>
              <a:t> per </a:t>
            </a:r>
            <a:r>
              <a:rPr lang="pl-PL" dirty="0" err="1"/>
              <a:t>conubia</a:t>
            </a:r>
            <a:r>
              <a:rPr lang="pl-PL" dirty="0"/>
              <a:t> nostra, per </a:t>
            </a:r>
            <a:r>
              <a:rPr lang="pl-PL" dirty="0" err="1"/>
              <a:t>inceptos</a:t>
            </a:r>
            <a:r>
              <a:rPr lang="pl-PL" dirty="0"/>
              <a:t> </a:t>
            </a:r>
            <a:r>
              <a:rPr lang="pl-PL" dirty="0" err="1"/>
              <a:t>himenaeos</a:t>
            </a:r>
            <a:r>
              <a:rPr lang="pl-PL" dirty="0"/>
              <a:t>.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6355-9CB0-4957-8547-5A1D339EA706}" type="datetime1">
              <a:rPr lang="pl-PL" smtClean="0"/>
              <a:pPr/>
              <a:t>15.06.2018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Autor: Prawa do korzystania z materiałów posiada Software Development Academy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6FFA4-C635-48B6-A424-1A5ECBB8AB72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12" name="Symbol zastępczy obrazu 11"/>
          <p:cNvSpPr>
            <a:spLocks noGrp="1"/>
          </p:cNvSpPr>
          <p:nvPr>
            <p:ph type="pic" sz="quarter" idx="13"/>
          </p:nvPr>
        </p:nvSpPr>
        <p:spPr>
          <a:xfrm>
            <a:off x="1896488" y="1459537"/>
            <a:ext cx="2247900" cy="2246312"/>
          </a:xfrm>
          <a:prstGeom prst="ellipse">
            <a:avLst/>
          </a:prstGeom>
        </p:spPr>
        <p:txBody>
          <a:bodyPr/>
          <a:lstStyle/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16" name="Symbol zastępczy tekstu 15"/>
          <p:cNvSpPr>
            <a:spLocks noGrp="1"/>
          </p:cNvSpPr>
          <p:nvPr>
            <p:ph type="body" sz="quarter" idx="14" hasCustomPrompt="1"/>
          </p:nvPr>
        </p:nvSpPr>
        <p:spPr>
          <a:xfrm>
            <a:off x="4649924" y="1755605"/>
            <a:ext cx="4406900" cy="505457"/>
          </a:xfrm>
          <a:effectLst/>
        </p:spPr>
        <p:txBody>
          <a:bodyPr/>
          <a:lstStyle>
            <a:lvl1pPr marL="0" indent="0">
              <a:buNone/>
              <a:defRPr baseline="0">
                <a:solidFill>
                  <a:srgbClr val="775973"/>
                </a:solidFill>
                <a:effectLst/>
              </a:defRPr>
            </a:lvl1pPr>
            <a:lvl2pPr marL="457200" indent="0">
              <a:buNone/>
              <a:defRPr baseline="0"/>
            </a:lvl2pPr>
          </a:lstStyle>
          <a:p>
            <a:pPr lvl="0"/>
            <a:r>
              <a:rPr lang="pl-PL" dirty="0"/>
              <a:t>TEKST TEKSTOWY</a:t>
            </a:r>
          </a:p>
        </p:txBody>
      </p:sp>
      <p:pic>
        <p:nvPicPr>
          <p:cNvPr id="17" name="Obraz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94979" y="-23305"/>
            <a:ext cx="2195209" cy="1034019"/>
          </a:xfrm>
          <a:prstGeom prst="rect">
            <a:avLst/>
          </a:prstGeom>
        </p:spPr>
      </p:pic>
      <p:sp>
        <p:nvSpPr>
          <p:cNvPr id="20" name="Symbol zastępczy tekstu 19"/>
          <p:cNvSpPr>
            <a:spLocks noGrp="1"/>
          </p:cNvSpPr>
          <p:nvPr>
            <p:ph type="body" sz="quarter" idx="15" hasCustomPrompt="1"/>
          </p:nvPr>
        </p:nvSpPr>
        <p:spPr>
          <a:xfrm>
            <a:off x="4649788" y="2368550"/>
            <a:ext cx="4406900" cy="133667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515151"/>
                </a:solidFill>
                <a:latin typeface="+mj-lt"/>
              </a:defRPr>
            </a:lvl1pPr>
          </a:lstStyle>
          <a:p>
            <a:pPr lvl="0"/>
            <a:r>
              <a:rPr lang="pl-PL" dirty="0"/>
              <a:t>Drugi poziom bla </a:t>
            </a:r>
            <a:r>
              <a:rPr lang="pl-PL" dirty="0" err="1"/>
              <a:t>bla</a:t>
            </a:r>
            <a:r>
              <a:rPr lang="pl-PL" dirty="0"/>
              <a:t> </a:t>
            </a:r>
            <a:r>
              <a:rPr lang="pl-PL" dirty="0" err="1"/>
              <a:t>bla</a:t>
            </a:r>
            <a:r>
              <a:rPr lang="pl-PL" dirty="0"/>
              <a:t> </a:t>
            </a:r>
            <a:r>
              <a:rPr lang="pl-PL" dirty="0" err="1"/>
              <a:t>bla</a:t>
            </a:r>
            <a:r>
              <a:rPr lang="pl-PL" dirty="0"/>
              <a:t> </a:t>
            </a:r>
            <a:r>
              <a:rPr lang="pl-PL" dirty="0" err="1"/>
              <a:t>blablablabla</a:t>
            </a:r>
            <a:r>
              <a:rPr lang="pl-PL" dirty="0"/>
              <a:t> </a:t>
            </a:r>
            <a:r>
              <a:rPr lang="pl-PL" dirty="0" err="1"/>
              <a:t>blablabl</a:t>
            </a:r>
            <a:r>
              <a:rPr lang="pl-PL" dirty="0"/>
              <a:t> </a:t>
            </a:r>
            <a:r>
              <a:rPr lang="pl-PL" dirty="0" err="1"/>
              <a:t>blablabla</a:t>
            </a:r>
            <a:r>
              <a:rPr lang="pl-PL" dirty="0"/>
              <a:t> </a:t>
            </a:r>
            <a:r>
              <a:rPr lang="pl-PL" dirty="0" err="1"/>
              <a:t>blablabl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xmlns="" val="1755444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ytuł i zawartość"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 userDrawn="1"/>
        </p:nvSpPr>
        <p:spPr>
          <a:xfrm>
            <a:off x="0" y="0"/>
            <a:ext cx="12192000" cy="96303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0894979" cy="963038"/>
          </a:xfrm>
        </p:spPr>
        <p:txBody>
          <a:bodyPr>
            <a:normAutofit/>
          </a:bodyPr>
          <a:lstStyle>
            <a:lvl1pPr>
              <a:defRPr sz="3200" b="1" baseline="0">
                <a:solidFill>
                  <a:srgbClr val="4A3D53"/>
                </a:solidFill>
                <a:latin typeface="Geometr212 BkCn BT" panose="020B0603020204020204" pitchFamily="34" charset="0"/>
              </a:defRPr>
            </a:lvl1pPr>
          </a:lstStyle>
          <a:p>
            <a:r>
              <a:rPr lang="pl-PL" dirty="0"/>
              <a:t>TYTUŁ SLAJDU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 hasCustomPrompt="1"/>
          </p:nvPr>
        </p:nvSpPr>
        <p:spPr>
          <a:xfrm>
            <a:off x="838200" y="4202349"/>
            <a:ext cx="10515600" cy="2075066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rgbClr val="515151"/>
                </a:solidFill>
                <a:latin typeface="+mj-lt"/>
              </a:defRPr>
            </a:lvl2pPr>
            <a:lvl3pPr>
              <a:defRPr>
                <a:solidFill>
                  <a:srgbClr val="515151"/>
                </a:solidFill>
                <a:latin typeface="+mj-lt"/>
              </a:defRPr>
            </a:lvl3pPr>
            <a:lvl4pPr>
              <a:defRPr>
                <a:solidFill>
                  <a:srgbClr val="515151"/>
                </a:solidFill>
                <a:latin typeface="+mj-lt"/>
              </a:defRPr>
            </a:lvl4pPr>
            <a:lvl5pPr>
              <a:defRPr>
                <a:solidFill>
                  <a:srgbClr val="515151"/>
                </a:solidFill>
                <a:latin typeface="+mj-lt"/>
              </a:defRPr>
            </a:lvl5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 </a:t>
            </a:r>
            <a:r>
              <a:rPr lang="pl-PL" dirty="0" err="1"/>
              <a:t>Donec</a:t>
            </a:r>
            <a:r>
              <a:rPr lang="pl-PL" dirty="0"/>
              <a:t> </a:t>
            </a:r>
            <a:r>
              <a:rPr lang="pl-PL" dirty="0" err="1"/>
              <a:t>pharetra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ex </a:t>
            </a:r>
            <a:r>
              <a:rPr lang="pl-PL" dirty="0" err="1"/>
              <a:t>eu</a:t>
            </a:r>
            <a:r>
              <a:rPr lang="pl-PL" dirty="0"/>
              <a:t> </a:t>
            </a:r>
            <a:r>
              <a:rPr lang="pl-PL" dirty="0" err="1"/>
              <a:t>lacinia</a:t>
            </a:r>
            <a:r>
              <a:rPr lang="pl-PL" dirty="0"/>
              <a:t>. </a:t>
            </a:r>
            <a:r>
              <a:rPr lang="pl-PL" dirty="0" err="1"/>
              <a:t>Ut</a:t>
            </a:r>
            <a:r>
              <a:rPr lang="pl-PL" dirty="0"/>
              <a:t> </a:t>
            </a:r>
            <a:r>
              <a:rPr lang="pl-PL" dirty="0" err="1"/>
              <a:t>ac</a:t>
            </a:r>
            <a:r>
              <a:rPr lang="pl-PL" dirty="0"/>
              <a:t> eros </a:t>
            </a:r>
            <a:r>
              <a:rPr lang="pl-PL" dirty="0" err="1"/>
              <a:t>tellus</a:t>
            </a:r>
            <a:r>
              <a:rPr lang="pl-PL" dirty="0"/>
              <a:t>. </a:t>
            </a:r>
            <a:r>
              <a:rPr lang="pl-PL" dirty="0" err="1"/>
              <a:t>Sed</a:t>
            </a:r>
            <a:r>
              <a:rPr lang="pl-PL" dirty="0"/>
              <a:t> elit </a:t>
            </a:r>
            <a:r>
              <a:rPr lang="pl-PL" dirty="0" err="1"/>
              <a:t>leo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sed</a:t>
            </a:r>
            <a:r>
              <a:rPr lang="pl-PL" dirty="0"/>
              <a:t> </a:t>
            </a:r>
            <a:r>
              <a:rPr lang="pl-PL" dirty="0" err="1"/>
              <a:t>volutpat</a:t>
            </a:r>
            <a:r>
              <a:rPr lang="pl-PL" dirty="0"/>
              <a:t> et, </a:t>
            </a:r>
            <a:r>
              <a:rPr lang="pl-PL" dirty="0" err="1"/>
              <a:t>molestie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nunc. </a:t>
            </a:r>
            <a:r>
              <a:rPr lang="pl-PL" dirty="0" err="1"/>
              <a:t>Morbi</a:t>
            </a:r>
            <a:r>
              <a:rPr lang="pl-PL" dirty="0"/>
              <a:t> </a:t>
            </a:r>
            <a:r>
              <a:rPr lang="pl-PL" dirty="0" err="1"/>
              <a:t>sagittis</a:t>
            </a:r>
            <a:r>
              <a:rPr lang="pl-PL" dirty="0"/>
              <a:t> </a:t>
            </a:r>
            <a:r>
              <a:rPr lang="pl-PL" dirty="0" err="1"/>
              <a:t>volutpat</a:t>
            </a:r>
            <a:r>
              <a:rPr lang="pl-PL" dirty="0"/>
              <a:t> </a:t>
            </a:r>
            <a:r>
              <a:rPr lang="pl-PL" dirty="0" err="1"/>
              <a:t>tellus</a:t>
            </a:r>
            <a:r>
              <a:rPr lang="pl-PL" dirty="0"/>
              <a:t> </a:t>
            </a:r>
            <a:r>
              <a:rPr lang="pl-PL" dirty="0" err="1"/>
              <a:t>eu</a:t>
            </a:r>
            <a:r>
              <a:rPr lang="pl-PL" dirty="0"/>
              <a:t> </a:t>
            </a:r>
            <a:r>
              <a:rPr lang="pl-PL" dirty="0" err="1"/>
              <a:t>pharetra</a:t>
            </a:r>
            <a:r>
              <a:rPr lang="pl-PL" dirty="0"/>
              <a:t>. Class </a:t>
            </a:r>
            <a:r>
              <a:rPr lang="pl-PL" dirty="0" err="1"/>
              <a:t>aptent</a:t>
            </a:r>
            <a:r>
              <a:rPr lang="pl-PL" dirty="0"/>
              <a:t> </a:t>
            </a:r>
            <a:r>
              <a:rPr lang="pl-PL" dirty="0" err="1"/>
              <a:t>taciti</a:t>
            </a:r>
            <a:r>
              <a:rPr lang="pl-PL" dirty="0"/>
              <a:t> </a:t>
            </a:r>
            <a:r>
              <a:rPr lang="pl-PL" dirty="0" err="1"/>
              <a:t>sociosqu</a:t>
            </a:r>
            <a:r>
              <a:rPr lang="pl-PL" dirty="0"/>
              <a:t> ad </a:t>
            </a:r>
            <a:r>
              <a:rPr lang="pl-PL" dirty="0" err="1"/>
              <a:t>litora</a:t>
            </a:r>
            <a:r>
              <a:rPr lang="pl-PL" dirty="0"/>
              <a:t> </a:t>
            </a:r>
            <a:r>
              <a:rPr lang="pl-PL" dirty="0" err="1"/>
              <a:t>torquent</a:t>
            </a:r>
            <a:r>
              <a:rPr lang="pl-PL" dirty="0"/>
              <a:t> per </a:t>
            </a:r>
            <a:r>
              <a:rPr lang="pl-PL" dirty="0" err="1"/>
              <a:t>conubia</a:t>
            </a:r>
            <a:r>
              <a:rPr lang="pl-PL" dirty="0"/>
              <a:t> nostra, per </a:t>
            </a:r>
            <a:r>
              <a:rPr lang="pl-PL" dirty="0" err="1"/>
              <a:t>inceptos</a:t>
            </a:r>
            <a:r>
              <a:rPr lang="pl-PL" dirty="0"/>
              <a:t> </a:t>
            </a:r>
            <a:r>
              <a:rPr lang="pl-PL" dirty="0" err="1"/>
              <a:t>himenaeos</a:t>
            </a:r>
            <a:r>
              <a:rPr lang="pl-PL" dirty="0"/>
              <a:t>.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25CD-F578-4560-8EDB-CE50FA032DED}" type="datetime1">
              <a:rPr lang="pl-PL" smtClean="0"/>
              <a:pPr/>
              <a:t>15.06.2018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Autor: Prawa do korzystania z materiałów posiada Software Development Academy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6FFA4-C635-48B6-A424-1A5ECBB8AB72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12" name="Symbol zastępczy obrazu 11"/>
          <p:cNvSpPr>
            <a:spLocks noGrp="1"/>
          </p:cNvSpPr>
          <p:nvPr>
            <p:ph type="pic" sz="quarter" idx="13"/>
          </p:nvPr>
        </p:nvSpPr>
        <p:spPr>
          <a:xfrm>
            <a:off x="1896488" y="1459537"/>
            <a:ext cx="2247900" cy="2246312"/>
          </a:xfrm>
          <a:prstGeom prst="ellipse">
            <a:avLst/>
          </a:prstGeom>
          <a:noFill/>
        </p:spPr>
        <p:txBody>
          <a:bodyPr/>
          <a:lstStyle/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16" name="Symbol zastępczy tekstu 15"/>
          <p:cNvSpPr>
            <a:spLocks noGrp="1"/>
          </p:cNvSpPr>
          <p:nvPr>
            <p:ph type="body" sz="quarter" idx="14" hasCustomPrompt="1"/>
          </p:nvPr>
        </p:nvSpPr>
        <p:spPr>
          <a:xfrm>
            <a:off x="4649924" y="1755605"/>
            <a:ext cx="4406900" cy="505457"/>
          </a:xfrm>
          <a:noFill/>
          <a:effectLst/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baseline="0"/>
            </a:lvl2pPr>
          </a:lstStyle>
          <a:p>
            <a:pPr lvl="0"/>
            <a:r>
              <a:rPr lang="pl-PL" dirty="0"/>
              <a:t>TEKST TEKSTOWY</a:t>
            </a:r>
          </a:p>
        </p:txBody>
      </p:sp>
      <p:pic>
        <p:nvPicPr>
          <p:cNvPr id="17" name="Obraz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94979" y="-23305"/>
            <a:ext cx="2195209" cy="1034019"/>
          </a:xfrm>
          <a:prstGeom prst="rect">
            <a:avLst/>
          </a:prstGeom>
        </p:spPr>
      </p:pic>
      <p:sp>
        <p:nvSpPr>
          <p:cNvPr id="20" name="Symbol zastępczy tekstu 19"/>
          <p:cNvSpPr>
            <a:spLocks noGrp="1"/>
          </p:cNvSpPr>
          <p:nvPr>
            <p:ph type="body" sz="quarter" idx="15" hasCustomPrompt="1"/>
          </p:nvPr>
        </p:nvSpPr>
        <p:spPr>
          <a:xfrm>
            <a:off x="4649788" y="2368550"/>
            <a:ext cx="4406900" cy="1336675"/>
          </a:xfrm>
          <a:noFill/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l-PL" dirty="0"/>
              <a:t>Drugi poziom bla </a:t>
            </a:r>
            <a:r>
              <a:rPr lang="pl-PL" dirty="0" err="1"/>
              <a:t>bla</a:t>
            </a:r>
            <a:r>
              <a:rPr lang="pl-PL" dirty="0"/>
              <a:t> </a:t>
            </a:r>
            <a:r>
              <a:rPr lang="pl-PL" dirty="0" err="1"/>
              <a:t>bla</a:t>
            </a:r>
            <a:r>
              <a:rPr lang="pl-PL" dirty="0"/>
              <a:t> </a:t>
            </a:r>
            <a:r>
              <a:rPr lang="pl-PL" dirty="0" err="1"/>
              <a:t>bla</a:t>
            </a:r>
            <a:r>
              <a:rPr lang="pl-PL" dirty="0"/>
              <a:t> </a:t>
            </a:r>
            <a:r>
              <a:rPr lang="pl-PL" dirty="0" err="1"/>
              <a:t>blablablabla</a:t>
            </a:r>
            <a:r>
              <a:rPr lang="pl-PL" dirty="0"/>
              <a:t> </a:t>
            </a:r>
            <a:r>
              <a:rPr lang="pl-PL" dirty="0" err="1"/>
              <a:t>blablabl</a:t>
            </a:r>
            <a:r>
              <a:rPr lang="pl-PL" dirty="0"/>
              <a:t> </a:t>
            </a:r>
            <a:r>
              <a:rPr lang="pl-PL" dirty="0" err="1"/>
              <a:t>blablabla</a:t>
            </a:r>
            <a:r>
              <a:rPr lang="pl-PL" dirty="0"/>
              <a:t> </a:t>
            </a:r>
            <a:r>
              <a:rPr lang="pl-PL" dirty="0" err="1"/>
              <a:t>blablabl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xmlns="" val="711906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metr212 BkCn BT" panose="020B0603020204020204" pitchFamily="34" charset="0"/>
              </a:defRPr>
            </a:lvl1pPr>
          </a:lstStyle>
          <a:p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endParaRPr lang="pl-PL" dirty="0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lang="pl-PL" b="0" i="0" smtClean="0">
                <a:solidFill>
                  <a:schemeClr val="bg1"/>
                </a:solidFill>
                <a:effectLst/>
                <a:latin typeface="Geometr212 BkCn BT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 </a:t>
            </a:r>
            <a:r>
              <a:rPr lang="pl-PL" dirty="0" err="1"/>
              <a:t>Donec</a:t>
            </a:r>
            <a:r>
              <a:rPr lang="pl-PL" dirty="0"/>
              <a:t> </a:t>
            </a:r>
            <a:r>
              <a:rPr lang="pl-PL" dirty="0" err="1"/>
              <a:t>pharetra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ex </a:t>
            </a:r>
            <a:r>
              <a:rPr lang="pl-PL" dirty="0" err="1"/>
              <a:t>eu</a:t>
            </a:r>
            <a:r>
              <a:rPr lang="pl-PL" dirty="0"/>
              <a:t> </a:t>
            </a:r>
            <a:r>
              <a:rPr lang="pl-PL" dirty="0" err="1"/>
              <a:t>lacinia</a:t>
            </a:r>
            <a:r>
              <a:rPr lang="pl-PL" dirty="0"/>
              <a:t>. </a:t>
            </a:r>
            <a:r>
              <a:rPr lang="pl-PL" dirty="0" err="1"/>
              <a:t>Ut</a:t>
            </a:r>
            <a:r>
              <a:rPr lang="pl-PL" dirty="0"/>
              <a:t> </a:t>
            </a:r>
            <a:r>
              <a:rPr lang="pl-PL" dirty="0" err="1"/>
              <a:t>ac</a:t>
            </a:r>
            <a:r>
              <a:rPr lang="pl-PL" dirty="0"/>
              <a:t> eros </a:t>
            </a:r>
            <a:r>
              <a:rPr lang="pl-PL" dirty="0" err="1"/>
              <a:t>tellus</a:t>
            </a:r>
            <a:r>
              <a:rPr lang="pl-PL" dirty="0"/>
              <a:t>. 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AAD71-DFC7-4B89-BD17-F9FDFBA14D73}" type="datetime1">
              <a:rPr lang="pl-PL" smtClean="0"/>
              <a:pPr/>
              <a:t>15.06.2018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Autor: Prawa do korzystania z materiałów posiada Software Development Academy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6FFA4-C635-48B6-A424-1A5ECBB8AB72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7" name="Prostokąt 6"/>
          <p:cNvSpPr/>
          <p:nvPr userDrawn="1"/>
        </p:nvSpPr>
        <p:spPr>
          <a:xfrm>
            <a:off x="0" y="0"/>
            <a:ext cx="12192000" cy="96303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Obraz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6945" y="-35491"/>
            <a:ext cx="2195209" cy="103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06607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/>
          <p:cNvSpPr/>
          <p:nvPr userDrawn="1"/>
        </p:nvSpPr>
        <p:spPr>
          <a:xfrm>
            <a:off x="0" y="4241260"/>
            <a:ext cx="12192000" cy="26167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rostokąt 9"/>
          <p:cNvSpPr/>
          <p:nvPr userDrawn="1"/>
        </p:nvSpPr>
        <p:spPr>
          <a:xfrm>
            <a:off x="1118679" y="1669913"/>
            <a:ext cx="9954639" cy="4027252"/>
          </a:xfrm>
          <a:prstGeom prst="rect">
            <a:avLst/>
          </a:prstGeom>
          <a:solidFill>
            <a:srgbClr val="5151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 7"/>
          <p:cNvSpPr/>
          <p:nvPr userDrawn="1"/>
        </p:nvSpPr>
        <p:spPr>
          <a:xfrm>
            <a:off x="1066800" y="1595335"/>
            <a:ext cx="10058400" cy="40272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rostokąt 10"/>
          <p:cNvSpPr/>
          <p:nvPr userDrawn="1"/>
        </p:nvSpPr>
        <p:spPr>
          <a:xfrm>
            <a:off x="2841997" y="1595335"/>
            <a:ext cx="6478621" cy="301559"/>
          </a:xfrm>
          <a:prstGeom prst="rect">
            <a:avLst/>
          </a:prstGeom>
          <a:solidFill>
            <a:srgbClr val="5151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892155" y="1111553"/>
            <a:ext cx="6378306" cy="717247"/>
          </a:xfrm>
          <a:solidFill>
            <a:srgbClr val="775973"/>
          </a:solidFill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Geometr212 BkCn BT" panose="020B0603020204020204" pitchFamily="34" charset="0"/>
              </a:defRPr>
            </a:lvl1pPr>
          </a:lstStyle>
          <a:p>
            <a:r>
              <a:rPr lang="pl-PL" dirty="0"/>
              <a:t>LOREM IPSUM</a:t>
            </a:r>
          </a:p>
        </p:txBody>
      </p:sp>
      <p:sp>
        <p:nvSpPr>
          <p:cNvPr id="14" name="Symbol zastępczy tekstu 13"/>
          <p:cNvSpPr>
            <a:spLocks noGrp="1"/>
          </p:cNvSpPr>
          <p:nvPr>
            <p:ph type="body" sz="quarter" idx="10" hasCustomPrompt="1"/>
          </p:nvPr>
        </p:nvSpPr>
        <p:spPr>
          <a:xfrm>
            <a:off x="1962637" y="2101781"/>
            <a:ext cx="8266721" cy="2421782"/>
          </a:xfrm>
        </p:spPr>
        <p:txBody>
          <a:bodyPr>
            <a:normAutofit/>
          </a:bodyPr>
          <a:lstStyle>
            <a:lvl1pPr marL="0" indent="0" algn="ctr">
              <a:buNone/>
              <a:defRPr lang="pl-PL" sz="2400" b="0" i="0" smtClean="0">
                <a:solidFill>
                  <a:srgbClr val="515151"/>
                </a:solidFill>
                <a:effectLst/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 </a:t>
            </a:r>
            <a:r>
              <a:rPr lang="pl-PL" dirty="0" err="1"/>
              <a:t>Donec</a:t>
            </a:r>
            <a:r>
              <a:rPr lang="pl-PL" dirty="0"/>
              <a:t> </a:t>
            </a:r>
            <a:r>
              <a:rPr lang="pl-PL" dirty="0" err="1"/>
              <a:t>pharetra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ex </a:t>
            </a:r>
            <a:r>
              <a:rPr lang="pl-PL" dirty="0" err="1"/>
              <a:t>eu</a:t>
            </a:r>
            <a:r>
              <a:rPr lang="pl-PL" dirty="0"/>
              <a:t> </a:t>
            </a:r>
            <a:r>
              <a:rPr lang="pl-PL" dirty="0" err="1"/>
              <a:t>lacinia</a:t>
            </a:r>
            <a:r>
              <a:rPr lang="pl-PL" dirty="0"/>
              <a:t>. </a:t>
            </a:r>
            <a:r>
              <a:rPr lang="pl-PL" dirty="0" err="1"/>
              <a:t>Ut</a:t>
            </a:r>
            <a:r>
              <a:rPr lang="pl-PL" dirty="0"/>
              <a:t> </a:t>
            </a:r>
            <a:r>
              <a:rPr lang="pl-PL" dirty="0" err="1"/>
              <a:t>ac</a:t>
            </a:r>
            <a:r>
              <a:rPr lang="pl-PL" dirty="0"/>
              <a:t> eros </a:t>
            </a:r>
            <a:r>
              <a:rPr lang="pl-PL" dirty="0" err="1"/>
              <a:t>tellus</a:t>
            </a:r>
            <a:r>
              <a:rPr lang="pl-PL" dirty="0"/>
              <a:t>. </a:t>
            </a:r>
            <a:r>
              <a:rPr lang="pl-PL" dirty="0" err="1"/>
              <a:t>Sed</a:t>
            </a:r>
            <a:r>
              <a:rPr lang="pl-PL" dirty="0"/>
              <a:t> elit </a:t>
            </a:r>
            <a:r>
              <a:rPr lang="pl-PL" dirty="0" err="1"/>
              <a:t>leo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sed</a:t>
            </a:r>
            <a:r>
              <a:rPr lang="pl-PL" dirty="0"/>
              <a:t> </a:t>
            </a:r>
            <a:r>
              <a:rPr lang="pl-PL" dirty="0" err="1"/>
              <a:t>volutpat</a:t>
            </a:r>
            <a:r>
              <a:rPr lang="pl-PL" dirty="0"/>
              <a:t> et, </a:t>
            </a:r>
            <a:r>
              <a:rPr lang="pl-PL" dirty="0" err="1"/>
              <a:t>molestie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nunc.</a:t>
            </a:r>
          </a:p>
        </p:txBody>
      </p:sp>
      <p:pic>
        <p:nvPicPr>
          <p:cNvPr id="17" name="Obraz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86400" y="4554625"/>
            <a:ext cx="2195209" cy="103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72878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wa elementy zawartości"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/>
          <p:cNvSpPr/>
          <p:nvPr userDrawn="1"/>
        </p:nvSpPr>
        <p:spPr>
          <a:xfrm>
            <a:off x="0" y="4388795"/>
            <a:ext cx="12192000" cy="26167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rostokąt 9"/>
          <p:cNvSpPr/>
          <p:nvPr userDrawn="1"/>
        </p:nvSpPr>
        <p:spPr>
          <a:xfrm>
            <a:off x="610360" y="2701045"/>
            <a:ext cx="6177065" cy="4027252"/>
          </a:xfrm>
          <a:prstGeom prst="rect">
            <a:avLst/>
          </a:prstGeom>
          <a:solidFill>
            <a:srgbClr val="5151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 7"/>
          <p:cNvSpPr/>
          <p:nvPr userDrawn="1"/>
        </p:nvSpPr>
        <p:spPr>
          <a:xfrm>
            <a:off x="558480" y="2626467"/>
            <a:ext cx="6241451" cy="40272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1" y="1232337"/>
            <a:ext cx="12191999" cy="717247"/>
          </a:xfrm>
          <a:solidFill>
            <a:srgbClr val="775973"/>
          </a:solidFill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Geometr212 BkCn BT" panose="020B0603020204020204" pitchFamily="34" charset="0"/>
              </a:defRPr>
            </a:lvl1pPr>
          </a:lstStyle>
          <a:p>
            <a:r>
              <a:rPr lang="pl-PL" dirty="0"/>
              <a:t>LOREM IPSUM</a:t>
            </a:r>
          </a:p>
        </p:txBody>
      </p:sp>
      <p:pic>
        <p:nvPicPr>
          <p:cNvPr id="17" name="Obraz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87345" y="123740"/>
            <a:ext cx="2195209" cy="1034019"/>
          </a:xfrm>
          <a:prstGeom prst="rect">
            <a:avLst/>
          </a:prstGeom>
        </p:spPr>
      </p:pic>
      <p:sp>
        <p:nvSpPr>
          <p:cNvPr id="12" name="Prostokąt 11"/>
          <p:cNvSpPr/>
          <p:nvPr userDrawn="1"/>
        </p:nvSpPr>
        <p:spPr>
          <a:xfrm>
            <a:off x="7299190" y="2701045"/>
            <a:ext cx="4285016" cy="4027252"/>
          </a:xfrm>
          <a:prstGeom prst="rect">
            <a:avLst/>
          </a:prstGeom>
          <a:solidFill>
            <a:srgbClr val="5151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obrazu 3"/>
          <p:cNvSpPr>
            <a:spLocks noGrp="1"/>
          </p:cNvSpPr>
          <p:nvPr>
            <p:ph type="pic" sz="quarter" idx="10"/>
          </p:nvPr>
        </p:nvSpPr>
        <p:spPr>
          <a:xfrm>
            <a:off x="7252485" y="2626468"/>
            <a:ext cx="4331503" cy="4027590"/>
          </a:xfrm>
          <a:solidFill>
            <a:srgbClr val="F5F5F5"/>
          </a:solidFill>
        </p:spPr>
        <p:txBody>
          <a:bodyPr/>
          <a:lstStyle/>
          <a:p>
            <a:r>
              <a:rPr lang="pl-PL"/>
              <a:t>Kliknij ikonę, aby dodać obraz</a:t>
            </a:r>
          </a:p>
        </p:txBody>
      </p:sp>
      <p:sp>
        <p:nvSpPr>
          <p:cNvPr id="6" name="Symbol zastępczy tekstu 5"/>
          <p:cNvSpPr>
            <a:spLocks noGrp="1"/>
          </p:cNvSpPr>
          <p:nvPr>
            <p:ph type="body" sz="quarter" idx="11" hasCustomPrompt="1"/>
          </p:nvPr>
        </p:nvSpPr>
        <p:spPr>
          <a:xfrm>
            <a:off x="777875" y="2801938"/>
            <a:ext cx="5807075" cy="3676650"/>
          </a:xfrm>
        </p:spPr>
        <p:txBody>
          <a:bodyPr/>
          <a:lstStyle>
            <a:lvl1pPr marL="0" indent="0">
              <a:buNone/>
              <a:defRPr>
                <a:solidFill>
                  <a:srgbClr val="515151"/>
                </a:solidFill>
                <a:latin typeface="+mj-lt"/>
              </a:defRPr>
            </a:lvl1pPr>
            <a:lvl2pPr>
              <a:defRPr>
                <a:solidFill>
                  <a:srgbClr val="515151"/>
                </a:solidFill>
                <a:latin typeface="+mj-lt"/>
              </a:defRPr>
            </a:lvl2pPr>
            <a:lvl3pPr>
              <a:defRPr>
                <a:solidFill>
                  <a:srgbClr val="515151"/>
                </a:solidFill>
                <a:latin typeface="+mj-lt"/>
              </a:defRPr>
            </a:lvl3pPr>
            <a:lvl4pPr>
              <a:defRPr>
                <a:solidFill>
                  <a:srgbClr val="515151"/>
                </a:solidFill>
                <a:latin typeface="+mj-lt"/>
              </a:defRPr>
            </a:lvl4pPr>
            <a:lvl5pPr>
              <a:defRPr>
                <a:solidFill>
                  <a:srgbClr val="515151"/>
                </a:solidFill>
                <a:latin typeface="+mj-lt"/>
              </a:defRPr>
            </a:lvl5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 </a:t>
            </a:r>
            <a:r>
              <a:rPr lang="pl-PL" dirty="0" err="1"/>
              <a:t>Donec</a:t>
            </a:r>
            <a:r>
              <a:rPr lang="pl-PL" dirty="0"/>
              <a:t> </a:t>
            </a:r>
            <a:r>
              <a:rPr lang="pl-PL" dirty="0" err="1"/>
              <a:t>pharetra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ex </a:t>
            </a:r>
            <a:r>
              <a:rPr lang="pl-PL" dirty="0" err="1"/>
              <a:t>eu</a:t>
            </a:r>
            <a:r>
              <a:rPr lang="pl-PL" dirty="0"/>
              <a:t> </a:t>
            </a:r>
            <a:r>
              <a:rPr lang="pl-PL" dirty="0" err="1"/>
              <a:t>lacinia</a:t>
            </a:r>
            <a:r>
              <a:rPr lang="pl-PL" dirty="0"/>
              <a:t>. </a:t>
            </a:r>
            <a:r>
              <a:rPr lang="pl-PL" dirty="0" err="1"/>
              <a:t>Ut</a:t>
            </a:r>
            <a:r>
              <a:rPr lang="pl-PL" dirty="0"/>
              <a:t> </a:t>
            </a:r>
            <a:r>
              <a:rPr lang="pl-PL" dirty="0" err="1"/>
              <a:t>ac</a:t>
            </a:r>
            <a:r>
              <a:rPr lang="pl-PL" dirty="0"/>
              <a:t> eros </a:t>
            </a:r>
            <a:r>
              <a:rPr lang="pl-PL" dirty="0" err="1"/>
              <a:t>tellus</a:t>
            </a:r>
            <a:r>
              <a:rPr lang="pl-PL" dirty="0"/>
              <a:t>. </a:t>
            </a:r>
            <a:r>
              <a:rPr lang="pl-PL" dirty="0" err="1"/>
              <a:t>Sed</a:t>
            </a:r>
            <a:r>
              <a:rPr lang="pl-PL" dirty="0"/>
              <a:t> elit </a:t>
            </a:r>
            <a:r>
              <a:rPr lang="pl-PL" dirty="0" err="1"/>
              <a:t>leo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sed</a:t>
            </a:r>
            <a:r>
              <a:rPr lang="pl-PL" dirty="0"/>
              <a:t> </a:t>
            </a:r>
            <a:r>
              <a:rPr lang="pl-PL" dirty="0" err="1"/>
              <a:t>volutpat</a:t>
            </a:r>
            <a:r>
              <a:rPr lang="pl-PL" dirty="0"/>
              <a:t> et, </a:t>
            </a:r>
            <a:r>
              <a:rPr lang="pl-PL" dirty="0" err="1"/>
              <a:t>molestie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nunc. </a:t>
            </a:r>
            <a:r>
              <a:rPr lang="pl-PL" dirty="0" err="1"/>
              <a:t>Morbi</a:t>
            </a:r>
            <a:r>
              <a:rPr lang="pl-PL" dirty="0"/>
              <a:t> </a:t>
            </a:r>
            <a:r>
              <a:rPr lang="pl-PL" dirty="0" err="1"/>
              <a:t>sagittis</a:t>
            </a:r>
            <a:r>
              <a:rPr lang="pl-PL" dirty="0"/>
              <a:t> </a:t>
            </a:r>
            <a:r>
              <a:rPr lang="pl-PL" dirty="0" err="1"/>
              <a:t>volutpat</a:t>
            </a:r>
            <a:r>
              <a:rPr lang="pl-PL" dirty="0"/>
              <a:t> </a:t>
            </a:r>
            <a:r>
              <a:rPr lang="pl-PL" dirty="0" err="1"/>
              <a:t>tellus</a:t>
            </a:r>
            <a:r>
              <a:rPr lang="pl-PL" dirty="0"/>
              <a:t> </a:t>
            </a:r>
            <a:r>
              <a:rPr lang="pl-PL" dirty="0" err="1"/>
              <a:t>eu</a:t>
            </a:r>
            <a:r>
              <a:rPr lang="pl-PL" dirty="0"/>
              <a:t> </a:t>
            </a:r>
            <a:r>
              <a:rPr lang="pl-PL" dirty="0" err="1"/>
              <a:t>pharetra</a:t>
            </a:r>
            <a:r>
              <a:rPr lang="pl-PL" dirty="0"/>
              <a:t>. Class </a:t>
            </a:r>
            <a:r>
              <a:rPr lang="pl-PL" dirty="0" err="1"/>
              <a:t>aptent</a:t>
            </a:r>
            <a:r>
              <a:rPr lang="pl-PL" dirty="0"/>
              <a:t> </a:t>
            </a:r>
            <a:r>
              <a:rPr lang="pl-PL" dirty="0" err="1"/>
              <a:t>taciti</a:t>
            </a:r>
            <a:r>
              <a:rPr lang="pl-PL" dirty="0"/>
              <a:t> </a:t>
            </a:r>
            <a:r>
              <a:rPr lang="pl-PL" dirty="0" err="1"/>
              <a:t>sociosqu</a:t>
            </a:r>
            <a:r>
              <a:rPr lang="pl-PL" dirty="0"/>
              <a:t> ad </a:t>
            </a:r>
            <a:r>
              <a:rPr lang="pl-PL" dirty="0" err="1"/>
              <a:t>litora</a:t>
            </a:r>
            <a:r>
              <a:rPr lang="pl-PL" dirty="0"/>
              <a:t> </a:t>
            </a:r>
            <a:r>
              <a:rPr lang="pl-PL" dirty="0" err="1"/>
              <a:t>torquent</a:t>
            </a:r>
            <a:r>
              <a:rPr lang="pl-PL" dirty="0"/>
              <a:t> per </a:t>
            </a:r>
            <a:r>
              <a:rPr lang="pl-PL" dirty="0" err="1"/>
              <a:t>conubia</a:t>
            </a:r>
            <a:r>
              <a:rPr lang="pl-PL" dirty="0"/>
              <a:t> nostra, per </a:t>
            </a:r>
            <a:r>
              <a:rPr lang="pl-PL" dirty="0" err="1"/>
              <a:t>inceptos</a:t>
            </a:r>
            <a:r>
              <a:rPr lang="pl-PL" dirty="0"/>
              <a:t> </a:t>
            </a:r>
            <a:r>
              <a:rPr lang="pl-PL" dirty="0" err="1"/>
              <a:t>himenaeos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473356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0" y="919570"/>
            <a:ext cx="12192000" cy="656279"/>
          </a:xfrm>
          <a:solidFill>
            <a:srgbClr val="F5F5F5"/>
          </a:solidFill>
        </p:spPr>
        <p:txBody>
          <a:bodyPr>
            <a:normAutofit/>
          </a:bodyPr>
          <a:lstStyle>
            <a:lvl1pPr algn="ctr">
              <a:defRPr sz="3200" b="1">
                <a:solidFill>
                  <a:srgbClr val="4A3D53"/>
                </a:solidFill>
                <a:latin typeface="Geometr212 BkCn BT" panose="020B0603020204020204" pitchFamily="34" charset="0"/>
              </a:defRPr>
            </a:lvl1pPr>
          </a:lstStyle>
          <a:p>
            <a:r>
              <a:rPr lang="pl-PL" dirty="0"/>
              <a:t>LOREM IPSUM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noFill/>
        </p:spPr>
        <p:txBody>
          <a:bodyPr anchor="b"/>
          <a:lstStyle>
            <a:lvl1pPr marL="0" indent="0" algn="ctr">
              <a:buNone/>
              <a:defRPr sz="2400" b="1" baseline="0">
                <a:solidFill>
                  <a:schemeClr val="bg1"/>
                </a:solidFill>
                <a:latin typeface="Geometr212 BkCn BT" panose="020B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dirty="0"/>
              <a:t>LOREM IPSUM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noFill/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rgbClr val="515151"/>
                </a:solidFill>
                <a:latin typeface="+mj-lt"/>
              </a:defRPr>
            </a:lvl2pPr>
            <a:lvl3pPr>
              <a:defRPr>
                <a:solidFill>
                  <a:srgbClr val="515151"/>
                </a:solidFill>
                <a:latin typeface="+mj-lt"/>
              </a:defRPr>
            </a:lvl3pPr>
            <a:lvl4pPr>
              <a:defRPr>
                <a:solidFill>
                  <a:srgbClr val="515151"/>
                </a:solidFill>
                <a:latin typeface="+mj-lt"/>
              </a:defRPr>
            </a:lvl4pPr>
            <a:lvl5pPr>
              <a:defRPr>
                <a:solidFill>
                  <a:srgbClr val="515151"/>
                </a:solidFill>
                <a:latin typeface="+mj-lt"/>
              </a:defRPr>
            </a:lvl5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noFill/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metr212 BkCn BT" panose="020B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dirty="0"/>
              <a:t>LOREM IPSUM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noFill/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 sz="2400">
                <a:solidFill>
                  <a:srgbClr val="515151"/>
                </a:solidFill>
                <a:latin typeface="+mj-lt"/>
              </a:defRPr>
            </a:lvl2pPr>
            <a:lvl3pPr>
              <a:defRPr sz="2400">
                <a:solidFill>
                  <a:srgbClr val="515151"/>
                </a:solidFill>
                <a:latin typeface="+mj-lt"/>
              </a:defRPr>
            </a:lvl3pPr>
            <a:lvl4pPr>
              <a:defRPr sz="2400">
                <a:solidFill>
                  <a:srgbClr val="515151"/>
                </a:solidFill>
                <a:latin typeface="+mj-lt"/>
              </a:defRPr>
            </a:lvl4pPr>
            <a:lvl5pPr>
              <a:defRPr sz="2400">
                <a:solidFill>
                  <a:srgbClr val="515151"/>
                </a:solidFill>
                <a:latin typeface="+mj-lt"/>
              </a:defRPr>
            </a:lvl5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endParaRPr lang="pl-PL" dirty="0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BDCAF-D6EF-4B21-8959-5090EE06A897}" type="datetime1">
              <a:rPr lang="pl-PL" smtClean="0"/>
              <a:pPr/>
              <a:t>15.06.2018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Autor: Prawa do korzystania z materiałów posiada Software Development Academy</a:t>
            </a:r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6FFA4-C635-48B6-A424-1A5ECBB8AB72}" type="slidenum">
              <a:rPr lang="pl-PL" smtClean="0"/>
              <a:pPr/>
              <a:t>‹#›</a:t>
            </a:fld>
            <a:endParaRPr lang="pl-PL"/>
          </a:p>
        </p:txBody>
      </p:sp>
      <p:pic>
        <p:nvPicPr>
          <p:cNvPr id="10" name="Obraz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593405" y="16904"/>
            <a:ext cx="1916349" cy="90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98314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Porównanie"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/>
          <p:cNvSpPr/>
          <p:nvPr userDrawn="1"/>
        </p:nvSpPr>
        <p:spPr>
          <a:xfrm>
            <a:off x="838200" y="1681163"/>
            <a:ext cx="10515600" cy="5176837"/>
          </a:xfrm>
          <a:prstGeom prst="rect">
            <a:avLst/>
          </a:prstGeom>
          <a:solidFill>
            <a:srgbClr val="F5F5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0" y="919570"/>
            <a:ext cx="12192000" cy="656279"/>
          </a:xfrm>
          <a:solidFill>
            <a:srgbClr val="F5F5F5"/>
          </a:solidFill>
        </p:spPr>
        <p:txBody>
          <a:bodyPr>
            <a:normAutofit/>
          </a:bodyPr>
          <a:lstStyle>
            <a:lvl1pPr algn="ctr">
              <a:defRPr sz="3200" b="1">
                <a:solidFill>
                  <a:srgbClr val="4A3D53"/>
                </a:solidFill>
                <a:latin typeface="Geometr212 BkCn BT" panose="020B0603020204020204" pitchFamily="34" charset="0"/>
              </a:defRPr>
            </a:lvl1pPr>
          </a:lstStyle>
          <a:p>
            <a:r>
              <a:rPr lang="pl-PL" dirty="0"/>
              <a:t>LOREM IPSUM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noFill/>
        </p:spPr>
        <p:txBody>
          <a:bodyPr anchor="b"/>
          <a:lstStyle>
            <a:lvl1pPr marL="0" indent="0" algn="ctr">
              <a:buNone/>
              <a:defRPr sz="2400" b="1" baseline="0">
                <a:solidFill>
                  <a:srgbClr val="775973"/>
                </a:solidFill>
                <a:latin typeface="Geometr212 BkCn BT" panose="020B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dirty="0"/>
              <a:t>LOREM IPSUM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noFill/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515151"/>
                </a:solidFill>
                <a:latin typeface="+mj-lt"/>
              </a:defRPr>
            </a:lvl1pPr>
            <a:lvl2pPr>
              <a:defRPr>
                <a:solidFill>
                  <a:srgbClr val="515151"/>
                </a:solidFill>
                <a:latin typeface="+mj-lt"/>
              </a:defRPr>
            </a:lvl2pPr>
            <a:lvl3pPr>
              <a:defRPr>
                <a:solidFill>
                  <a:srgbClr val="515151"/>
                </a:solidFill>
                <a:latin typeface="+mj-lt"/>
              </a:defRPr>
            </a:lvl3pPr>
            <a:lvl4pPr>
              <a:defRPr>
                <a:solidFill>
                  <a:srgbClr val="515151"/>
                </a:solidFill>
                <a:latin typeface="+mj-lt"/>
              </a:defRPr>
            </a:lvl4pPr>
            <a:lvl5pPr>
              <a:defRPr>
                <a:solidFill>
                  <a:srgbClr val="515151"/>
                </a:solidFill>
                <a:latin typeface="+mj-lt"/>
              </a:defRPr>
            </a:lvl5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noFill/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775973"/>
                </a:solidFill>
                <a:latin typeface="Geometr212 BkCn BT" panose="020B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dirty="0"/>
              <a:t>LOREM IPSUM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noFill/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515151"/>
                </a:solidFill>
                <a:latin typeface="+mj-lt"/>
              </a:defRPr>
            </a:lvl1pPr>
            <a:lvl2pPr>
              <a:defRPr sz="2400">
                <a:solidFill>
                  <a:srgbClr val="515151"/>
                </a:solidFill>
                <a:latin typeface="+mj-lt"/>
              </a:defRPr>
            </a:lvl2pPr>
            <a:lvl3pPr>
              <a:defRPr sz="2400">
                <a:solidFill>
                  <a:srgbClr val="515151"/>
                </a:solidFill>
                <a:latin typeface="+mj-lt"/>
              </a:defRPr>
            </a:lvl3pPr>
            <a:lvl4pPr>
              <a:defRPr sz="2400">
                <a:solidFill>
                  <a:srgbClr val="515151"/>
                </a:solidFill>
                <a:latin typeface="+mj-lt"/>
              </a:defRPr>
            </a:lvl4pPr>
            <a:lvl5pPr>
              <a:defRPr sz="2400">
                <a:solidFill>
                  <a:srgbClr val="515151"/>
                </a:solidFill>
                <a:latin typeface="+mj-lt"/>
              </a:defRPr>
            </a:lvl5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endParaRPr lang="pl-PL" dirty="0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D095-DF59-4CEE-95DF-D441C177DD2F}" type="datetime1">
              <a:rPr lang="pl-PL" smtClean="0"/>
              <a:pPr/>
              <a:t>15.06.2018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Autor: Prawa do korzystania z materiałów posiada Software Development Academy</a:t>
            </a:r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6FFA4-C635-48B6-A424-1A5ECBB8AB72}" type="slidenum">
              <a:rPr lang="pl-PL" smtClean="0"/>
              <a:pPr/>
              <a:t>‹#›</a:t>
            </a:fld>
            <a:endParaRPr lang="pl-PL"/>
          </a:p>
        </p:txBody>
      </p:sp>
      <p:pic>
        <p:nvPicPr>
          <p:cNvPr id="10" name="Obraz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593405" y="16904"/>
            <a:ext cx="1916349" cy="90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0877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/>
          <p:cNvSpPr/>
          <p:nvPr userDrawn="1"/>
        </p:nvSpPr>
        <p:spPr>
          <a:xfrm>
            <a:off x="0" y="0"/>
            <a:ext cx="5183188" cy="6858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rostokąt 9"/>
          <p:cNvSpPr/>
          <p:nvPr userDrawn="1"/>
        </p:nvSpPr>
        <p:spPr>
          <a:xfrm>
            <a:off x="311286" y="-1"/>
            <a:ext cx="4460739" cy="2057400"/>
          </a:xfrm>
          <a:prstGeom prst="rect">
            <a:avLst/>
          </a:prstGeom>
          <a:solidFill>
            <a:srgbClr val="775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311286" y="1281002"/>
            <a:ext cx="4460739" cy="776397"/>
          </a:xfrm>
          <a:noFill/>
        </p:spPr>
        <p:txBody>
          <a:bodyPr anchor="b"/>
          <a:lstStyle>
            <a:lvl1pPr algn="ctr">
              <a:defRPr sz="3200" b="1">
                <a:solidFill>
                  <a:schemeClr val="bg1"/>
                </a:solidFill>
                <a:latin typeface="Geometr212 BkCn BT" panose="020B0603020204020204" pitchFamily="34" charset="0"/>
              </a:defRPr>
            </a:lvl1pPr>
          </a:lstStyle>
          <a:p>
            <a:r>
              <a:rPr lang="pl-PL" dirty="0"/>
              <a:t>LOREM IPSUM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0"/>
            <a:ext cx="7008812" cy="6858000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 hasCustomPrompt="1"/>
          </p:nvPr>
        </p:nvSpPr>
        <p:spPr>
          <a:xfrm>
            <a:off x="311286" y="2057400"/>
            <a:ext cx="4460739" cy="4800600"/>
          </a:xfrm>
          <a:solidFill>
            <a:srgbClr val="F5F5F5"/>
          </a:solidFill>
        </p:spPr>
        <p:txBody>
          <a:bodyPr/>
          <a:lstStyle>
            <a:lvl1pPr marL="0" indent="0">
              <a:buNone/>
              <a:defRPr lang="pl-PL" b="0" i="0" smtClean="0">
                <a:solidFill>
                  <a:srgbClr val="515151"/>
                </a:solidFill>
                <a:effectLst/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 </a:t>
            </a:r>
            <a:r>
              <a:rPr lang="pl-PL" dirty="0" err="1"/>
              <a:t>Donec</a:t>
            </a:r>
            <a:r>
              <a:rPr lang="pl-PL" dirty="0"/>
              <a:t> </a:t>
            </a:r>
            <a:r>
              <a:rPr lang="pl-PL" dirty="0" err="1"/>
              <a:t>pharetra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ex </a:t>
            </a:r>
            <a:r>
              <a:rPr lang="pl-PL" dirty="0" err="1"/>
              <a:t>eu</a:t>
            </a:r>
            <a:r>
              <a:rPr lang="pl-PL" dirty="0"/>
              <a:t> </a:t>
            </a:r>
            <a:r>
              <a:rPr lang="pl-PL" dirty="0" err="1"/>
              <a:t>lacinia</a:t>
            </a:r>
            <a:r>
              <a:rPr lang="pl-PL" dirty="0"/>
              <a:t>. </a:t>
            </a:r>
            <a:r>
              <a:rPr lang="pl-PL" dirty="0" err="1"/>
              <a:t>Ut</a:t>
            </a:r>
            <a:r>
              <a:rPr lang="pl-PL" dirty="0"/>
              <a:t> </a:t>
            </a:r>
            <a:r>
              <a:rPr lang="pl-PL" dirty="0" err="1"/>
              <a:t>ac</a:t>
            </a:r>
            <a:r>
              <a:rPr lang="pl-PL" dirty="0"/>
              <a:t> eros </a:t>
            </a:r>
            <a:r>
              <a:rPr lang="pl-PL" dirty="0" err="1"/>
              <a:t>tellus</a:t>
            </a:r>
            <a:r>
              <a:rPr lang="pl-PL" dirty="0"/>
              <a:t>. </a:t>
            </a:r>
            <a:r>
              <a:rPr lang="pl-PL" dirty="0" err="1"/>
              <a:t>Sed</a:t>
            </a:r>
            <a:r>
              <a:rPr lang="pl-PL" dirty="0"/>
              <a:t> elit </a:t>
            </a:r>
            <a:r>
              <a:rPr lang="pl-PL" dirty="0" err="1"/>
              <a:t>leo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sed</a:t>
            </a:r>
            <a:r>
              <a:rPr lang="pl-PL" dirty="0"/>
              <a:t> </a:t>
            </a:r>
            <a:r>
              <a:rPr lang="pl-PL" dirty="0" err="1"/>
              <a:t>volutpat</a:t>
            </a:r>
            <a:r>
              <a:rPr lang="pl-PL" dirty="0"/>
              <a:t> et, </a:t>
            </a:r>
            <a:r>
              <a:rPr lang="pl-PL" dirty="0" err="1"/>
              <a:t>molestie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nunc.</a:t>
            </a:r>
          </a:p>
        </p:txBody>
      </p:sp>
      <p:pic>
        <p:nvPicPr>
          <p:cNvPr id="9" name="Obraz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13868" y="224480"/>
            <a:ext cx="2195209" cy="103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3827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lko tytuł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/>
          <p:cNvSpPr/>
          <p:nvPr userDrawn="1"/>
        </p:nvSpPr>
        <p:spPr>
          <a:xfrm>
            <a:off x="0" y="6235430"/>
            <a:ext cx="12192000" cy="62257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 7"/>
          <p:cNvSpPr/>
          <p:nvPr userDrawn="1"/>
        </p:nvSpPr>
        <p:spPr>
          <a:xfrm>
            <a:off x="0" y="0"/>
            <a:ext cx="12192000" cy="96303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07D5-F335-47D3-865C-EF4CC07A5C5A}" type="datetime1">
              <a:rPr lang="pl-PL" smtClean="0"/>
              <a:pPr/>
              <a:t>15.06.2018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Autor: Prawa do korzystania z materiałów posiada Software Development Academy</a:t>
            </a: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6FFA4-C635-48B6-A424-1A5ECBB8AB72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6" name="Tytuł 1"/>
          <p:cNvSpPr txBox="1">
            <a:spLocks/>
          </p:cNvSpPr>
          <p:nvPr userDrawn="1"/>
        </p:nvSpPr>
        <p:spPr>
          <a:xfrm>
            <a:off x="0" y="1"/>
            <a:ext cx="10894979" cy="963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baseline="0">
                <a:solidFill>
                  <a:srgbClr val="4A3D53"/>
                </a:solidFill>
                <a:latin typeface="Geometr212 BkCn BT" panose="020B0603020204020204" pitchFamily="34" charset="0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pic>
        <p:nvPicPr>
          <p:cNvPr id="7" name="Obraz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94979" y="-23305"/>
            <a:ext cx="2195209" cy="1034019"/>
          </a:xfrm>
          <a:prstGeom prst="rect">
            <a:avLst/>
          </a:prstGeom>
        </p:spPr>
      </p:pic>
      <p:sp>
        <p:nvSpPr>
          <p:cNvPr id="11" name="Tytuł 1"/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0894979" cy="963038"/>
          </a:xfrm>
        </p:spPr>
        <p:txBody>
          <a:bodyPr>
            <a:normAutofit/>
          </a:bodyPr>
          <a:lstStyle>
            <a:lvl1pPr>
              <a:defRPr sz="3200" b="1" baseline="0">
                <a:solidFill>
                  <a:srgbClr val="4A3D53"/>
                </a:solidFill>
                <a:latin typeface="Geometr212 BkCn BT" panose="020B0603020204020204" pitchFamily="34" charset="0"/>
              </a:defRPr>
            </a:lvl1pPr>
          </a:lstStyle>
          <a:p>
            <a:r>
              <a:rPr lang="pl-PL" dirty="0"/>
              <a:t>TYTUŁ SLAJDU</a:t>
            </a:r>
          </a:p>
        </p:txBody>
      </p:sp>
    </p:spTree>
    <p:extLst>
      <p:ext uri="{BB962C8B-B14F-4D97-AF65-F5344CB8AC3E}">
        <p14:creationId xmlns:p14="http://schemas.microsoft.com/office/powerpoint/2010/main" xmlns="" val="896443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ylko tytuł"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/>
          <p:cNvSpPr/>
          <p:nvPr userDrawn="1"/>
        </p:nvSpPr>
        <p:spPr>
          <a:xfrm>
            <a:off x="0" y="6235430"/>
            <a:ext cx="12192000" cy="62257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242D4-19E1-4A80-9BCE-4DFFD53A2E31}" type="datetime1">
              <a:rPr lang="pl-PL" smtClean="0"/>
              <a:pPr/>
              <a:t>15.06.2018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Autor: Prawa do korzystania z materiałów posiada Software Development Academy</a:t>
            </a: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6FFA4-C635-48B6-A424-1A5ECBB8AB72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10" name="Tytuł 1"/>
          <p:cNvSpPr>
            <a:spLocks noGrp="1"/>
          </p:cNvSpPr>
          <p:nvPr>
            <p:ph type="title" hasCustomPrompt="1"/>
          </p:nvPr>
        </p:nvSpPr>
        <p:spPr>
          <a:xfrm>
            <a:off x="3586399" y="1034019"/>
            <a:ext cx="5024201" cy="678049"/>
          </a:xfrm>
        </p:spPr>
        <p:txBody>
          <a:bodyPr anchor="b"/>
          <a:lstStyle>
            <a:lvl1pPr algn="ctr">
              <a:defRPr sz="4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metr212 BkCn BT" panose="020B0603020204020204" pitchFamily="34" charset="0"/>
              </a:defRPr>
            </a:lvl1pPr>
          </a:lstStyle>
          <a:p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endParaRPr lang="pl-PL" dirty="0"/>
          </a:p>
        </p:txBody>
      </p:sp>
      <p:sp>
        <p:nvSpPr>
          <p:cNvPr id="11" name="Symbol zastępczy tekstu 2"/>
          <p:cNvSpPr>
            <a:spLocks noGrp="1"/>
          </p:cNvSpPr>
          <p:nvPr>
            <p:ph type="body" idx="1" hasCustomPrompt="1"/>
          </p:nvPr>
        </p:nvSpPr>
        <p:spPr>
          <a:xfrm>
            <a:off x="2328289" y="2344725"/>
            <a:ext cx="3206750" cy="751022"/>
          </a:xfrm>
        </p:spPr>
        <p:txBody>
          <a:bodyPr>
            <a:normAutofit/>
          </a:bodyPr>
          <a:lstStyle>
            <a:lvl1pPr marL="0" indent="0">
              <a:buNone/>
              <a:defRPr lang="pl-PL" sz="1800" b="0" i="0" smtClean="0">
                <a:solidFill>
                  <a:schemeClr val="bg1"/>
                </a:solidFill>
                <a:effectLst/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 </a:t>
            </a:r>
          </a:p>
        </p:txBody>
      </p:sp>
      <p:pic>
        <p:nvPicPr>
          <p:cNvPr id="12" name="Obraz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535039" y="0"/>
            <a:ext cx="2195209" cy="1034019"/>
          </a:xfrm>
          <a:prstGeom prst="rect">
            <a:avLst/>
          </a:prstGeom>
        </p:spPr>
      </p:pic>
      <p:sp>
        <p:nvSpPr>
          <p:cNvPr id="13" name="Symbol zastępczy obrazu 11"/>
          <p:cNvSpPr>
            <a:spLocks noGrp="1"/>
          </p:cNvSpPr>
          <p:nvPr>
            <p:ph type="pic" sz="quarter" idx="13"/>
          </p:nvPr>
        </p:nvSpPr>
        <p:spPr>
          <a:xfrm>
            <a:off x="1027553" y="2178909"/>
            <a:ext cx="1083418" cy="1082653"/>
          </a:xfrm>
          <a:prstGeom prst="ellipse">
            <a:avLst/>
          </a:pr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14" name="Symbol zastępczy tekstu 2"/>
          <p:cNvSpPr>
            <a:spLocks noGrp="1"/>
          </p:cNvSpPr>
          <p:nvPr>
            <p:ph type="body" idx="14" hasCustomPrompt="1"/>
          </p:nvPr>
        </p:nvSpPr>
        <p:spPr>
          <a:xfrm>
            <a:off x="2328289" y="3923581"/>
            <a:ext cx="3206750" cy="751022"/>
          </a:xfrm>
        </p:spPr>
        <p:txBody>
          <a:bodyPr>
            <a:normAutofit/>
          </a:bodyPr>
          <a:lstStyle>
            <a:lvl1pPr marL="0" indent="0">
              <a:buNone/>
              <a:defRPr lang="pl-PL" sz="1800" b="0" i="0" smtClean="0">
                <a:solidFill>
                  <a:schemeClr val="bg1"/>
                </a:solidFill>
                <a:effectLst/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 </a:t>
            </a:r>
          </a:p>
        </p:txBody>
      </p:sp>
      <p:sp>
        <p:nvSpPr>
          <p:cNvPr id="15" name="Symbol zastępczy obrazu 11"/>
          <p:cNvSpPr>
            <a:spLocks noGrp="1"/>
          </p:cNvSpPr>
          <p:nvPr>
            <p:ph type="pic" sz="quarter" idx="15"/>
          </p:nvPr>
        </p:nvSpPr>
        <p:spPr>
          <a:xfrm>
            <a:off x="1027553" y="3757765"/>
            <a:ext cx="1083418" cy="1082653"/>
          </a:xfrm>
          <a:prstGeom prst="ellipse">
            <a:avLst/>
          </a:pr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16" name="Symbol zastępczy tekstu 2"/>
          <p:cNvSpPr>
            <a:spLocks noGrp="1"/>
          </p:cNvSpPr>
          <p:nvPr>
            <p:ph type="body" idx="16" hasCustomPrompt="1"/>
          </p:nvPr>
        </p:nvSpPr>
        <p:spPr>
          <a:xfrm>
            <a:off x="7957293" y="2429031"/>
            <a:ext cx="3206750" cy="751022"/>
          </a:xfrm>
        </p:spPr>
        <p:txBody>
          <a:bodyPr>
            <a:normAutofit/>
          </a:bodyPr>
          <a:lstStyle>
            <a:lvl1pPr marL="0" indent="0">
              <a:buNone/>
              <a:defRPr lang="pl-PL" sz="1800" b="0" i="0" smtClean="0">
                <a:solidFill>
                  <a:schemeClr val="bg1"/>
                </a:solidFill>
                <a:effectLst/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 </a:t>
            </a:r>
          </a:p>
        </p:txBody>
      </p:sp>
      <p:sp>
        <p:nvSpPr>
          <p:cNvPr id="17" name="Symbol zastępczy obrazu 11"/>
          <p:cNvSpPr>
            <a:spLocks noGrp="1"/>
          </p:cNvSpPr>
          <p:nvPr>
            <p:ph type="pic" sz="quarter" idx="17"/>
          </p:nvPr>
        </p:nvSpPr>
        <p:spPr>
          <a:xfrm>
            <a:off x="6656557" y="2263215"/>
            <a:ext cx="1083418" cy="1082653"/>
          </a:xfrm>
          <a:prstGeom prst="ellipse">
            <a:avLst/>
          </a:prstGeom>
          <a:noFill/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20" name="Symbol zastępczy obrazu 11"/>
          <p:cNvSpPr>
            <a:spLocks noGrp="1"/>
          </p:cNvSpPr>
          <p:nvPr>
            <p:ph type="pic" sz="quarter" idx="18"/>
          </p:nvPr>
        </p:nvSpPr>
        <p:spPr>
          <a:xfrm>
            <a:off x="6656557" y="3734711"/>
            <a:ext cx="1083418" cy="1082653"/>
          </a:xfrm>
          <a:prstGeom prst="ellipse">
            <a:avLst/>
          </a:prstGeom>
          <a:noFill/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22" name="Symbol zastępczy tekstu 2"/>
          <p:cNvSpPr>
            <a:spLocks noGrp="1"/>
          </p:cNvSpPr>
          <p:nvPr>
            <p:ph type="body" idx="19" hasCustomPrompt="1"/>
          </p:nvPr>
        </p:nvSpPr>
        <p:spPr>
          <a:xfrm>
            <a:off x="7957293" y="3919889"/>
            <a:ext cx="3206750" cy="751022"/>
          </a:xfrm>
        </p:spPr>
        <p:txBody>
          <a:bodyPr>
            <a:normAutofit/>
          </a:bodyPr>
          <a:lstStyle>
            <a:lvl1pPr marL="0" indent="0">
              <a:buNone/>
              <a:defRPr lang="pl-PL" sz="1800" b="0" i="0" smtClean="0">
                <a:solidFill>
                  <a:schemeClr val="bg1"/>
                </a:solidFill>
                <a:effectLst/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 </a:t>
            </a:r>
          </a:p>
        </p:txBody>
      </p:sp>
    </p:spTree>
    <p:extLst>
      <p:ext uri="{BB962C8B-B14F-4D97-AF65-F5344CB8AC3E}">
        <p14:creationId xmlns:p14="http://schemas.microsoft.com/office/powerpoint/2010/main" xmlns="" val="654813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ylko tytuł"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FDE48-1781-4EF3-88AD-61538A5C2DCB}" type="datetime1">
              <a:rPr lang="pl-PL" smtClean="0"/>
              <a:pPr/>
              <a:t>15.06.2018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Autor: Prawa do korzystania z materiałów posiada Software Development Academy</a:t>
            </a: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6FFA4-C635-48B6-A424-1A5ECBB8AB72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10" name="Tytuł 1"/>
          <p:cNvSpPr>
            <a:spLocks noGrp="1"/>
          </p:cNvSpPr>
          <p:nvPr>
            <p:ph type="title" hasCustomPrompt="1"/>
          </p:nvPr>
        </p:nvSpPr>
        <p:spPr>
          <a:xfrm>
            <a:off x="3586399" y="1034019"/>
            <a:ext cx="5024201" cy="678049"/>
          </a:xfrm>
        </p:spPr>
        <p:txBody>
          <a:bodyPr anchor="b"/>
          <a:lstStyle>
            <a:lvl1pPr algn="ctr">
              <a:defRPr sz="4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metr212 BkCn BT" panose="020B0603020204020204" pitchFamily="34" charset="0"/>
              </a:defRPr>
            </a:lvl1pPr>
          </a:lstStyle>
          <a:p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endParaRPr lang="pl-PL" dirty="0"/>
          </a:p>
        </p:txBody>
      </p:sp>
      <p:pic>
        <p:nvPicPr>
          <p:cNvPr id="12" name="Obraz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535039" y="0"/>
            <a:ext cx="2195209" cy="1034019"/>
          </a:xfrm>
          <a:prstGeom prst="rect">
            <a:avLst/>
          </a:prstGeom>
        </p:spPr>
      </p:pic>
      <p:sp>
        <p:nvSpPr>
          <p:cNvPr id="18" name="Prostokąt 17"/>
          <p:cNvSpPr/>
          <p:nvPr userDrawn="1"/>
        </p:nvSpPr>
        <p:spPr>
          <a:xfrm>
            <a:off x="0" y="4241260"/>
            <a:ext cx="12192000" cy="26167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1" name="Prostokąt 20"/>
          <p:cNvSpPr/>
          <p:nvPr userDrawn="1"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775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Symbol zastępczy tekstu 5"/>
          <p:cNvSpPr>
            <a:spLocks noGrp="1"/>
          </p:cNvSpPr>
          <p:nvPr>
            <p:ph type="body" sz="quarter" idx="13" hasCustomPrompt="1"/>
          </p:nvPr>
        </p:nvSpPr>
        <p:spPr>
          <a:xfrm>
            <a:off x="593725" y="4465638"/>
            <a:ext cx="11118850" cy="1614487"/>
          </a:xfrm>
        </p:spPr>
        <p:txBody>
          <a:bodyPr>
            <a:normAutofit/>
          </a:bodyPr>
          <a:lstStyle>
            <a:lvl1pPr marL="0" indent="0" algn="ctr">
              <a:buNone/>
              <a:defRPr lang="pl-PL" sz="2000" b="0" i="0" smtClean="0">
                <a:solidFill>
                  <a:srgbClr val="515151"/>
                </a:solidFill>
                <a:effectLst/>
              </a:defRPr>
            </a:lvl1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 </a:t>
            </a:r>
            <a:r>
              <a:rPr lang="pl-PL" dirty="0" err="1"/>
              <a:t>Donec</a:t>
            </a:r>
            <a:r>
              <a:rPr lang="pl-PL" dirty="0"/>
              <a:t> </a:t>
            </a:r>
            <a:r>
              <a:rPr lang="pl-PL" dirty="0" err="1"/>
              <a:t>pharetra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ex </a:t>
            </a:r>
            <a:r>
              <a:rPr lang="pl-PL" dirty="0" err="1"/>
              <a:t>eu</a:t>
            </a:r>
            <a:r>
              <a:rPr lang="pl-PL" dirty="0"/>
              <a:t> </a:t>
            </a:r>
            <a:r>
              <a:rPr lang="pl-PL" dirty="0" err="1"/>
              <a:t>lacinia</a:t>
            </a:r>
            <a:r>
              <a:rPr lang="pl-PL" dirty="0"/>
              <a:t>. </a:t>
            </a:r>
            <a:r>
              <a:rPr lang="pl-PL" dirty="0" err="1"/>
              <a:t>Ut</a:t>
            </a:r>
            <a:r>
              <a:rPr lang="pl-PL" dirty="0"/>
              <a:t> </a:t>
            </a:r>
            <a:r>
              <a:rPr lang="pl-PL" dirty="0" err="1"/>
              <a:t>ac</a:t>
            </a:r>
            <a:r>
              <a:rPr lang="pl-PL" dirty="0"/>
              <a:t> eros </a:t>
            </a:r>
            <a:r>
              <a:rPr lang="pl-PL" dirty="0" err="1"/>
              <a:t>tellus</a:t>
            </a:r>
            <a:r>
              <a:rPr lang="pl-PL" dirty="0"/>
              <a:t>. </a:t>
            </a:r>
            <a:r>
              <a:rPr lang="pl-PL" dirty="0" err="1"/>
              <a:t>Sed</a:t>
            </a:r>
            <a:r>
              <a:rPr lang="pl-PL" dirty="0"/>
              <a:t> elit </a:t>
            </a:r>
            <a:r>
              <a:rPr lang="pl-PL" dirty="0" err="1"/>
              <a:t>leo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sed</a:t>
            </a:r>
            <a:r>
              <a:rPr lang="pl-PL" dirty="0"/>
              <a:t> </a:t>
            </a:r>
            <a:r>
              <a:rPr lang="pl-PL" dirty="0" err="1"/>
              <a:t>volutpat</a:t>
            </a:r>
            <a:r>
              <a:rPr lang="pl-PL" dirty="0"/>
              <a:t> et, </a:t>
            </a:r>
            <a:r>
              <a:rPr lang="pl-PL" dirty="0" err="1"/>
              <a:t>molestie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nunc. </a:t>
            </a:r>
            <a:r>
              <a:rPr lang="pl-PL" dirty="0" err="1"/>
              <a:t>Morbi</a:t>
            </a:r>
            <a:r>
              <a:rPr lang="pl-PL" dirty="0"/>
              <a:t> </a:t>
            </a:r>
            <a:r>
              <a:rPr lang="pl-PL" dirty="0" err="1"/>
              <a:t>sagittis</a:t>
            </a:r>
            <a:r>
              <a:rPr lang="pl-PL" dirty="0"/>
              <a:t> </a:t>
            </a:r>
            <a:r>
              <a:rPr lang="pl-PL" dirty="0" err="1"/>
              <a:t>volutpat</a:t>
            </a:r>
            <a:r>
              <a:rPr lang="pl-PL" dirty="0"/>
              <a:t> </a:t>
            </a:r>
            <a:r>
              <a:rPr lang="pl-PL" dirty="0" err="1"/>
              <a:t>tellus</a:t>
            </a:r>
            <a:r>
              <a:rPr lang="pl-PL" dirty="0"/>
              <a:t> </a:t>
            </a:r>
            <a:r>
              <a:rPr lang="pl-PL" dirty="0" err="1"/>
              <a:t>eu</a:t>
            </a:r>
            <a:r>
              <a:rPr lang="pl-PL" dirty="0"/>
              <a:t> </a:t>
            </a:r>
            <a:r>
              <a:rPr lang="pl-PL" dirty="0" err="1"/>
              <a:t>pharetra</a:t>
            </a:r>
            <a:r>
              <a:rPr lang="pl-PL" dirty="0"/>
              <a:t>. Class </a:t>
            </a:r>
            <a:r>
              <a:rPr lang="pl-PL" dirty="0" err="1"/>
              <a:t>aptent</a:t>
            </a:r>
            <a:r>
              <a:rPr lang="pl-PL" dirty="0"/>
              <a:t> </a:t>
            </a:r>
            <a:r>
              <a:rPr lang="pl-PL" dirty="0" err="1"/>
              <a:t>taciti</a:t>
            </a:r>
            <a:r>
              <a:rPr lang="pl-PL" dirty="0"/>
              <a:t> </a:t>
            </a:r>
            <a:r>
              <a:rPr lang="pl-PL" dirty="0" err="1"/>
              <a:t>sociosqu</a:t>
            </a:r>
            <a:r>
              <a:rPr lang="pl-PL" dirty="0"/>
              <a:t> ad </a:t>
            </a:r>
            <a:r>
              <a:rPr lang="pl-PL" dirty="0" err="1"/>
              <a:t>litora</a:t>
            </a:r>
            <a:r>
              <a:rPr lang="pl-PL" dirty="0"/>
              <a:t> </a:t>
            </a:r>
            <a:r>
              <a:rPr lang="pl-PL" dirty="0" err="1"/>
              <a:t>torquent</a:t>
            </a:r>
            <a:r>
              <a:rPr lang="pl-PL" dirty="0"/>
              <a:t> per </a:t>
            </a:r>
            <a:r>
              <a:rPr lang="pl-PL" dirty="0" err="1"/>
              <a:t>conubia</a:t>
            </a:r>
            <a:r>
              <a:rPr lang="pl-PL" dirty="0"/>
              <a:t> nostra, per </a:t>
            </a:r>
            <a:r>
              <a:rPr lang="pl-PL" dirty="0" err="1"/>
              <a:t>inceptos</a:t>
            </a:r>
            <a:r>
              <a:rPr lang="pl-PL" dirty="0"/>
              <a:t> </a:t>
            </a:r>
            <a:r>
              <a:rPr lang="pl-PL" dirty="0" err="1"/>
              <a:t>himenaeos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574603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ylko tytuł"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1316B-2089-48D6-A718-F1CCBAF1729D}" type="datetime1">
              <a:rPr lang="pl-PL" smtClean="0"/>
              <a:pPr/>
              <a:t>15.06.2018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Autor: Prawa do korzystania z materiałów posiada Software Development Academy</a:t>
            </a: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6FFA4-C635-48B6-A424-1A5ECBB8AB72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10" name="Tytuł 1"/>
          <p:cNvSpPr>
            <a:spLocks noGrp="1"/>
          </p:cNvSpPr>
          <p:nvPr>
            <p:ph type="title" hasCustomPrompt="1"/>
          </p:nvPr>
        </p:nvSpPr>
        <p:spPr>
          <a:xfrm>
            <a:off x="3586399" y="1034019"/>
            <a:ext cx="5024201" cy="678049"/>
          </a:xfrm>
        </p:spPr>
        <p:txBody>
          <a:bodyPr anchor="b"/>
          <a:lstStyle>
            <a:lvl1pPr algn="ctr">
              <a:defRPr sz="4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metr212 BkCn BT" panose="020B0603020204020204" pitchFamily="34" charset="0"/>
              </a:defRPr>
            </a:lvl1pPr>
          </a:lstStyle>
          <a:p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endParaRPr lang="pl-PL" dirty="0"/>
          </a:p>
        </p:txBody>
      </p:sp>
      <p:pic>
        <p:nvPicPr>
          <p:cNvPr id="12" name="Obraz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535039" y="0"/>
            <a:ext cx="2195209" cy="1034019"/>
          </a:xfrm>
          <a:prstGeom prst="rect">
            <a:avLst/>
          </a:prstGeom>
        </p:spPr>
      </p:pic>
      <p:sp>
        <p:nvSpPr>
          <p:cNvPr id="18" name="Prostokąt 17"/>
          <p:cNvSpPr/>
          <p:nvPr userDrawn="1"/>
        </p:nvSpPr>
        <p:spPr>
          <a:xfrm>
            <a:off x="0" y="4241260"/>
            <a:ext cx="12192000" cy="26167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1" name="Prostokąt 20"/>
          <p:cNvSpPr/>
          <p:nvPr userDrawn="1"/>
        </p:nvSpPr>
        <p:spPr>
          <a:xfrm>
            <a:off x="0" y="4241259"/>
            <a:ext cx="12192000" cy="107005"/>
          </a:xfrm>
          <a:prstGeom prst="rect">
            <a:avLst/>
          </a:prstGeom>
          <a:solidFill>
            <a:srgbClr val="775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Symbol zastępczy tekstu 5"/>
          <p:cNvSpPr>
            <a:spLocks noGrp="1"/>
          </p:cNvSpPr>
          <p:nvPr>
            <p:ph type="body" sz="quarter" idx="13" hasCustomPrompt="1"/>
          </p:nvPr>
        </p:nvSpPr>
        <p:spPr>
          <a:xfrm>
            <a:off x="593725" y="4465638"/>
            <a:ext cx="11118850" cy="1614487"/>
          </a:xfrm>
        </p:spPr>
        <p:txBody>
          <a:bodyPr>
            <a:normAutofit/>
          </a:bodyPr>
          <a:lstStyle>
            <a:lvl1pPr marL="0" indent="0" algn="ctr">
              <a:buNone/>
              <a:defRPr lang="pl-PL" sz="2000" b="0" i="0" smtClean="0">
                <a:solidFill>
                  <a:srgbClr val="515151"/>
                </a:solidFill>
                <a:effectLst/>
              </a:defRPr>
            </a:lvl1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 </a:t>
            </a:r>
            <a:r>
              <a:rPr lang="pl-PL" dirty="0" err="1"/>
              <a:t>Donec</a:t>
            </a:r>
            <a:r>
              <a:rPr lang="pl-PL" dirty="0"/>
              <a:t> </a:t>
            </a:r>
            <a:r>
              <a:rPr lang="pl-PL" dirty="0" err="1"/>
              <a:t>pharetra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ex </a:t>
            </a:r>
            <a:r>
              <a:rPr lang="pl-PL" dirty="0" err="1"/>
              <a:t>eu</a:t>
            </a:r>
            <a:r>
              <a:rPr lang="pl-PL" dirty="0"/>
              <a:t> </a:t>
            </a:r>
            <a:r>
              <a:rPr lang="pl-PL" dirty="0" err="1"/>
              <a:t>lacinia</a:t>
            </a:r>
            <a:r>
              <a:rPr lang="pl-PL" dirty="0"/>
              <a:t>. </a:t>
            </a:r>
            <a:r>
              <a:rPr lang="pl-PL" dirty="0" err="1"/>
              <a:t>Ut</a:t>
            </a:r>
            <a:r>
              <a:rPr lang="pl-PL" dirty="0"/>
              <a:t> </a:t>
            </a:r>
            <a:r>
              <a:rPr lang="pl-PL" dirty="0" err="1"/>
              <a:t>ac</a:t>
            </a:r>
            <a:r>
              <a:rPr lang="pl-PL" dirty="0"/>
              <a:t> eros </a:t>
            </a:r>
            <a:r>
              <a:rPr lang="pl-PL" dirty="0" err="1"/>
              <a:t>tellus</a:t>
            </a:r>
            <a:r>
              <a:rPr lang="pl-PL" dirty="0"/>
              <a:t>. </a:t>
            </a:r>
            <a:r>
              <a:rPr lang="pl-PL" dirty="0" err="1"/>
              <a:t>Sed</a:t>
            </a:r>
            <a:r>
              <a:rPr lang="pl-PL" dirty="0"/>
              <a:t> elit </a:t>
            </a:r>
            <a:r>
              <a:rPr lang="pl-PL" dirty="0" err="1"/>
              <a:t>leo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sed</a:t>
            </a:r>
            <a:r>
              <a:rPr lang="pl-PL" dirty="0"/>
              <a:t> </a:t>
            </a:r>
            <a:r>
              <a:rPr lang="pl-PL" dirty="0" err="1"/>
              <a:t>volutpat</a:t>
            </a:r>
            <a:r>
              <a:rPr lang="pl-PL" dirty="0"/>
              <a:t> et, </a:t>
            </a:r>
            <a:r>
              <a:rPr lang="pl-PL" dirty="0" err="1"/>
              <a:t>molestie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nunc. </a:t>
            </a:r>
            <a:r>
              <a:rPr lang="pl-PL" dirty="0" err="1"/>
              <a:t>Morbi</a:t>
            </a:r>
            <a:r>
              <a:rPr lang="pl-PL" dirty="0"/>
              <a:t> </a:t>
            </a:r>
            <a:r>
              <a:rPr lang="pl-PL" dirty="0" err="1"/>
              <a:t>sagittis</a:t>
            </a:r>
            <a:r>
              <a:rPr lang="pl-PL" dirty="0"/>
              <a:t> </a:t>
            </a:r>
            <a:r>
              <a:rPr lang="pl-PL" dirty="0" err="1"/>
              <a:t>volutpat</a:t>
            </a:r>
            <a:r>
              <a:rPr lang="pl-PL" dirty="0"/>
              <a:t> </a:t>
            </a:r>
            <a:r>
              <a:rPr lang="pl-PL" dirty="0" err="1"/>
              <a:t>tellus</a:t>
            </a:r>
            <a:r>
              <a:rPr lang="pl-PL" dirty="0"/>
              <a:t> </a:t>
            </a:r>
            <a:r>
              <a:rPr lang="pl-PL" dirty="0" err="1"/>
              <a:t>eu</a:t>
            </a:r>
            <a:r>
              <a:rPr lang="pl-PL" dirty="0"/>
              <a:t> </a:t>
            </a:r>
            <a:r>
              <a:rPr lang="pl-PL" dirty="0" err="1"/>
              <a:t>pharetra</a:t>
            </a:r>
            <a:r>
              <a:rPr lang="pl-PL" dirty="0"/>
              <a:t>. Class </a:t>
            </a:r>
            <a:r>
              <a:rPr lang="pl-PL" dirty="0" err="1"/>
              <a:t>aptent</a:t>
            </a:r>
            <a:r>
              <a:rPr lang="pl-PL" dirty="0"/>
              <a:t> </a:t>
            </a:r>
            <a:r>
              <a:rPr lang="pl-PL" dirty="0" err="1"/>
              <a:t>taciti</a:t>
            </a:r>
            <a:r>
              <a:rPr lang="pl-PL" dirty="0"/>
              <a:t> </a:t>
            </a:r>
            <a:r>
              <a:rPr lang="pl-PL" dirty="0" err="1"/>
              <a:t>sociosqu</a:t>
            </a:r>
            <a:r>
              <a:rPr lang="pl-PL" dirty="0"/>
              <a:t> ad </a:t>
            </a:r>
            <a:r>
              <a:rPr lang="pl-PL" dirty="0" err="1"/>
              <a:t>litora</a:t>
            </a:r>
            <a:r>
              <a:rPr lang="pl-PL" dirty="0"/>
              <a:t> </a:t>
            </a:r>
            <a:r>
              <a:rPr lang="pl-PL" dirty="0" err="1"/>
              <a:t>torquent</a:t>
            </a:r>
            <a:r>
              <a:rPr lang="pl-PL" dirty="0"/>
              <a:t> per </a:t>
            </a:r>
            <a:r>
              <a:rPr lang="pl-PL" dirty="0" err="1"/>
              <a:t>conubia</a:t>
            </a:r>
            <a:r>
              <a:rPr lang="pl-PL" dirty="0"/>
              <a:t> nostra, per </a:t>
            </a:r>
            <a:r>
              <a:rPr lang="pl-PL" dirty="0" err="1"/>
              <a:t>inceptos</a:t>
            </a:r>
            <a:r>
              <a:rPr lang="pl-PL" dirty="0"/>
              <a:t> </a:t>
            </a:r>
            <a:r>
              <a:rPr lang="pl-PL" dirty="0" err="1"/>
              <a:t>himenaeos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993729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sty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173A-5869-4912-9344-F263B5184F59}" type="datetime1">
              <a:rPr lang="pl-PL" smtClean="0"/>
              <a:pPr/>
              <a:t>15.06.2018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Autor: Prawa do korzystania z materiałów posiada Software Development Academy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6FFA4-C635-48B6-A424-1A5ECBB8AB72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5" name="Symbol zastępczy obrazu 11"/>
          <p:cNvSpPr>
            <a:spLocks noGrp="1"/>
          </p:cNvSpPr>
          <p:nvPr>
            <p:ph type="pic" sz="quarter" idx="13"/>
          </p:nvPr>
        </p:nvSpPr>
        <p:spPr>
          <a:xfrm>
            <a:off x="1085850" y="1459537"/>
            <a:ext cx="2247900" cy="2246312"/>
          </a:xfrm>
          <a:prstGeom prst="ellipse">
            <a:avLst/>
          </a:prstGeom>
          <a:noFill/>
        </p:spPr>
        <p:txBody>
          <a:bodyPr/>
          <a:lstStyle/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6" name="Symbol zastępczy obrazu 11"/>
          <p:cNvSpPr>
            <a:spLocks noGrp="1"/>
          </p:cNvSpPr>
          <p:nvPr>
            <p:ph type="pic" sz="quarter" idx="14"/>
          </p:nvPr>
        </p:nvSpPr>
        <p:spPr>
          <a:xfrm>
            <a:off x="4972050" y="1459537"/>
            <a:ext cx="2247900" cy="2246312"/>
          </a:xfrm>
          <a:prstGeom prst="ellipse">
            <a:avLst/>
          </a:prstGeom>
          <a:noFill/>
        </p:spPr>
        <p:txBody>
          <a:bodyPr/>
          <a:lstStyle/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7" name="Symbol zastępczy obrazu 11"/>
          <p:cNvSpPr>
            <a:spLocks noGrp="1"/>
          </p:cNvSpPr>
          <p:nvPr>
            <p:ph type="pic" sz="quarter" idx="15"/>
          </p:nvPr>
        </p:nvSpPr>
        <p:spPr>
          <a:xfrm>
            <a:off x="8858250" y="1459537"/>
            <a:ext cx="2247900" cy="2246312"/>
          </a:xfrm>
          <a:prstGeom prst="ellipse">
            <a:avLst/>
          </a:prstGeom>
          <a:noFill/>
        </p:spPr>
        <p:txBody>
          <a:bodyPr/>
          <a:lstStyle/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8" name="Prostokąt 7"/>
          <p:cNvSpPr/>
          <p:nvPr userDrawn="1"/>
        </p:nvSpPr>
        <p:spPr>
          <a:xfrm>
            <a:off x="0" y="0"/>
            <a:ext cx="12192000" cy="96303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0" name="Obraz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94979" y="-23305"/>
            <a:ext cx="2195209" cy="1034019"/>
          </a:xfrm>
          <a:prstGeom prst="rect">
            <a:avLst/>
          </a:prstGeom>
        </p:spPr>
      </p:pic>
      <p:sp>
        <p:nvSpPr>
          <p:cNvPr id="12" name="Symbol zastępczy tekstu 11"/>
          <p:cNvSpPr>
            <a:spLocks noGrp="1"/>
          </p:cNvSpPr>
          <p:nvPr>
            <p:ph type="body" sz="quarter" idx="16" hasCustomPrompt="1"/>
          </p:nvPr>
        </p:nvSpPr>
        <p:spPr>
          <a:xfrm>
            <a:off x="739775" y="3910013"/>
            <a:ext cx="2946400" cy="154781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515151"/>
                </a:solidFill>
                <a:latin typeface="+mj-lt"/>
              </a:defRPr>
            </a:lvl1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 </a:t>
            </a:r>
            <a:r>
              <a:rPr lang="pl-PL" dirty="0" err="1"/>
              <a:t>Donec</a:t>
            </a:r>
            <a:r>
              <a:rPr lang="pl-PL" dirty="0"/>
              <a:t> </a:t>
            </a:r>
            <a:r>
              <a:rPr lang="pl-PL" dirty="0" err="1"/>
              <a:t>pharetra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ex </a:t>
            </a:r>
            <a:r>
              <a:rPr lang="pl-PL" dirty="0" err="1"/>
              <a:t>eu</a:t>
            </a:r>
            <a:r>
              <a:rPr lang="pl-PL" dirty="0"/>
              <a:t> </a:t>
            </a:r>
            <a:r>
              <a:rPr lang="pl-PL" dirty="0" err="1"/>
              <a:t>lacinia</a:t>
            </a:r>
            <a:r>
              <a:rPr lang="pl-PL" dirty="0"/>
              <a:t>. </a:t>
            </a:r>
          </a:p>
        </p:txBody>
      </p:sp>
      <p:sp>
        <p:nvSpPr>
          <p:cNvPr id="18" name="Symbol zastępczy tekstu 11"/>
          <p:cNvSpPr>
            <a:spLocks noGrp="1"/>
          </p:cNvSpPr>
          <p:nvPr>
            <p:ph type="body" sz="quarter" idx="17" hasCustomPrompt="1"/>
          </p:nvPr>
        </p:nvSpPr>
        <p:spPr>
          <a:xfrm>
            <a:off x="4622800" y="3910013"/>
            <a:ext cx="2946400" cy="154781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515151"/>
                </a:solidFill>
                <a:latin typeface="+mj-lt"/>
              </a:defRPr>
            </a:lvl1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 </a:t>
            </a:r>
            <a:r>
              <a:rPr lang="pl-PL" dirty="0" err="1"/>
              <a:t>Donec</a:t>
            </a:r>
            <a:r>
              <a:rPr lang="pl-PL" dirty="0"/>
              <a:t> </a:t>
            </a:r>
            <a:r>
              <a:rPr lang="pl-PL" dirty="0" err="1"/>
              <a:t>pharetra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ex </a:t>
            </a:r>
            <a:r>
              <a:rPr lang="pl-PL" dirty="0" err="1"/>
              <a:t>eu</a:t>
            </a:r>
            <a:r>
              <a:rPr lang="pl-PL" dirty="0"/>
              <a:t> </a:t>
            </a:r>
            <a:r>
              <a:rPr lang="pl-PL" dirty="0" err="1"/>
              <a:t>lacinia</a:t>
            </a:r>
            <a:r>
              <a:rPr lang="pl-PL" dirty="0"/>
              <a:t>. </a:t>
            </a:r>
          </a:p>
        </p:txBody>
      </p:sp>
      <p:sp>
        <p:nvSpPr>
          <p:cNvPr id="19" name="Symbol zastępczy tekstu 11"/>
          <p:cNvSpPr>
            <a:spLocks noGrp="1"/>
          </p:cNvSpPr>
          <p:nvPr>
            <p:ph type="body" sz="quarter" idx="18" hasCustomPrompt="1"/>
          </p:nvPr>
        </p:nvSpPr>
        <p:spPr>
          <a:xfrm>
            <a:off x="8509000" y="3910013"/>
            <a:ext cx="2946400" cy="154781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515151"/>
                </a:solidFill>
                <a:latin typeface="+mj-lt"/>
              </a:defRPr>
            </a:lvl1pPr>
          </a:lstStyle>
          <a:p>
            <a:pPr lvl="0"/>
            <a:r>
              <a:rPr lang="pl-PL" dirty="0" err="1"/>
              <a:t>Lorem</a:t>
            </a:r>
            <a:r>
              <a:rPr lang="pl-PL" dirty="0"/>
              <a:t> </a:t>
            </a:r>
            <a:r>
              <a:rPr lang="pl-PL" dirty="0" err="1"/>
              <a:t>ipsum</a:t>
            </a:r>
            <a:r>
              <a:rPr lang="pl-PL" dirty="0"/>
              <a:t> </a:t>
            </a:r>
            <a:r>
              <a:rPr lang="pl-PL" dirty="0" err="1"/>
              <a:t>dolor</a:t>
            </a:r>
            <a:r>
              <a:rPr lang="pl-PL" dirty="0"/>
              <a:t> sit </a:t>
            </a:r>
            <a:r>
              <a:rPr lang="pl-PL" dirty="0" err="1"/>
              <a:t>amet</a:t>
            </a:r>
            <a:r>
              <a:rPr lang="pl-PL" dirty="0"/>
              <a:t>, </a:t>
            </a:r>
            <a:r>
              <a:rPr lang="pl-PL" dirty="0" err="1"/>
              <a:t>consectetur</a:t>
            </a:r>
            <a:r>
              <a:rPr lang="pl-PL" dirty="0"/>
              <a:t> </a:t>
            </a:r>
            <a:r>
              <a:rPr lang="pl-PL" dirty="0" err="1"/>
              <a:t>adipiscing</a:t>
            </a:r>
            <a:r>
              <a:rPr lang="pl-PL" dirty="0"/>
              <a:t> elit. </a:t>
            </a:r>
            <a:r>
              <a:rPr lang="pl-PL" dirty="0" err="1"/>
              <a:t>Donec</a:t>
            </a:r>
            <a:r>
              <a:rPr lang="pl-PL" dirty="0"/>
              <a:t> </a:t>
            </a:r>
            <a:r>
              <a:rPr lang="pl-PL" dirty="0" err="1"/>
              <a:t>pharetra</a:t>
            </a:r>
            <a:r>
              <a:rPr lang="pl-PL" dirty="0"/>
              <a:t> </a:t>
            </a:r>
            <a:r>
              <a:rPr lang="pl-PL" dirty="0" err="1"/>
              <a:t>nec</a:t>
            </a:r>
            <a:r>
              <a:rPr lang="pl-PL" dirty="0"/>
              <a:t> ex </a:t>
            </a:r>
            <a:r>
              <a:rPr lang="pl-PL" dirty="0" err="1"/>
              <a:t>eu</a:t>
            </a:r>
            <a:r>
              <a:rPr lang="pl-PL" dirty="0"/>
              <a:t> </a:t>
            </a:r>
            <a:r>
              <a:rPr lang="pl-PL" dirty="0" err="1"/>
              <a:t>lacinia</a:t>
            </a:r>
            <a:r>
              <a:rPr lang="pl-PL" dirty="0"/>
              <a:t>. </a:t>
            </a:r>
          </a:p>
        </p:txBody>
      </p:sp>
      <p:sp>
        <p:nvSpPr>
          <p:cNvPr id="20" name="Tytuł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0894979" cy="963038"/>
          </a:xfrm>
        </p:spPr>
        <p:txBody>
          <a:bodyPr>
            <a:normAutofit/>
          </a:bodyPr>
          <a:lstStyle>
            <a:lvl1pPr>
              <a:defRPr sz="3200" b="1" baseline="0">
                <a:solidFill>
                  <a:srgbClr val="4A3D53"/>
                </a:solidFill>
                <a:latin typeface="Geometr212 BkCn BT" panose="020B0603020204020204" pitchFamily="34" charset="0"/>
              </a:defRPr>
            </a:lvl1pPr>
          </a:lstStyle>
          <a:p>
            <a:r>
              <a:rPr lang="pl-PL" dirty="0"/>
              <a:t>TYTUŁ SLAJDU</a:t>
            </a:r>
          </a:p>
        </p:txBody>
      </p:sp>
    </p:spTree>
    <p:extLst>
      <p:ext uri="{BB962C8B-B14F-4D97-AF65-F5344CB8AC3E}">
        <p14:creationId xmlns:p14="http://schemas.microsoft.com/office/powerpoint/2010/main" xmlns="" val="185314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1F562-6AC0-44DD-9AFE-8A898ED49012}" type="datetime1">
              <a:rPr lang="pl-PL" smtClean="0"/>
              <a:pPr/>
              <a:t>15.06.2018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l-PL"/>
              <a:t>Autor: Prawa do korzystania z materiałów posiada Software Development Academy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6FFA4-C635-48B6-A424-1A5ECBB8AB72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xmlns="" val="1497908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61" r:id="rId6"/>
    <p:sldLayoutId id="2147483653" r:id="rId7"/>
    <p:sldLayoutId id="2147483665" r:id="rId8"/>
    <p:sldLayoutId id="2147483657" r:id="rId9"/>
    <p:sldLayoutId id="2147483654" r:id="rId10"/>
    <p:sldLayoutId id="2147483662" r:id="rId11"/>
    <p:sldLayoutId id="2147483663" r:id="rId12"/>
    <p:sldLayoutId id="2147483664" r:id="rId13"/>
    <p:sldLayoutId id="2147483655" r:id="rId1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smtClean="0"/>
              <a:t>Podstawy HTML, CSS i </a:t>
            </a:r>
            <a:r>
              <a:rPr lang="pl-PL" dirty="0" err="1" smtClean="0"/>
              <a:t>JavaScript</a:t>
            </a:r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 smtClean="0"/>
              <a:t>Autor: Kamil Kowalski</a:t>
            </a:r>
          </a:p>
          <a:p>
            <a:r>
              <a:rPr lang="pl-PL" dirty="0" smtClean="0"/>
              <a:t>Email: </a:t>
            </a:r>
            <a:r>
              <a:rPr lang="pl-PL" dirty="0" err="1" smtClean="0"/>
              <a:t>kamilkowalski@hotmail.com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000397D8-4BDC-4995-9C0D-CB562004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11826" y="6356350"/>
            <a:ext cx="5300870" cy="365125"/>
          </a:xfrm>
        </p:spPr>
        <p:txBody>
          <a:bodyPr/>
          <a:lstStyle/>
          <a:p>
            <a:r>
              <a:rPr lang="pl-PL" dirty="0"/>
              <a:t>Autor: </a:t>
            </a:r>
            <a:r>
              <a:rPr lang="pl-PL" dirty="0" smtClean="0"/>
              <a:t>Kamil Kowalski</a:t>
            </a:r>
            <a:endParaRPr lang="pl-PL" dirty="0"/>
          </a:p>
          <a:p>
            <a:r>
              <a:rPr lang="pl-PL" dirty="0"/>
              <a:t>Prawa do korzystania z materiałów posiada Software Development Academy</a:t>
            </a:r>
          </a:p>
        </p:txBody>
      </p:sp>
    </p:spTree>
    <p:extLst>
      <p:ext uri="{BB962C8B-B14F-4D97-AF65-F5344CB8AC3E}">
        <p14:creationId xmlns:p14="http://schemas.microsoft.com/office/powerpoint/2010/main" xmlns="" val="315656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57A9F86F-1F31-4121-B16D-2D49E22D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Agenda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xmlns="" id="{F1EA67FD-DCDB-4613-BD36-C744F0E5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975"/>
            <a:ext cx="10515600" cy="5114440"/>
          </a:xfrm>
        </p:spPr>
        <p:txBody>
          <a:bodyPr/>
          <a:lstStyle/>
          <a:p>
            <a:pPr algn="l"/>
            <a:endParaRPr lang="pl-PL" dirty="0" smtClean="0"/>
          </a:p>
          <a:p>
            <a:pPr algn="l"/>
            <a:r>
              <a:rPr lang="pl-PL" dirty="0" smtClean="0"/>
              <a:t>Rozkład materiału:</a:t>
            </a:r>
            <a:br>
              <a:rPr lang="pl-PL" dirty="0" smtClean="0"/>
            </a:br>
            <a:r>
              <a:rPr lang="pl-PL" dirty="0" smtClean="0"/>
              <a:t>	1. dzień: HTML5</a:t>
            </a:r>
          </a:p>
          <a:p>
            <a:pPr algn="l"/>
            <a:r>
              <a:rPr lang="pl-PL" dirty="0" smtClean="0"/>
              <a:t>	2. dzień: CSS3</a:t>
            </a:r>
          </a:p>
          <a:p>
            <a:pPr algn="l"/>
            <a:r>
              <a:rPr lang="pl-PL" dirty="0" smtClean="0"/>
              <a:t>	3. dzień: </a:t>
            </a:r>
            <a:r>
              <a:rPr lang="pl-PL" dirty="0" err="1" smtClean="0"/>
              <a:t>JavaScript</a:t>
            </a:r>
            <a:endParaRPr lang="pl-PL" dirty="0" smtClean="0"/>
          </a:p>
          <a:p>
            <a:pPr algn="l"/>
            <a:endParaRPr lang="pl-PL" dirty="0" smtClean="0"/>
          </a:p>
          <a:p>
            <a:pPr algn="l"/>
            <a:endParaRPr lang="pl-PL" dirty="0" smtClean="0"/>
          </a:p>
          <a:p>
            <a:pPr algn="l"/>
            <a:r>
              <a:rPr lang="pl-PL" dirty="0" smtClean="0"/>
              <a:t>Stawiamy na praktykę.</a:t>
            </a:r>
          </a:p>
          <a:p>
            <a:pPr algn="l"/>
            <a:endParaRPr lang="pl-PL" dirty="0" smtClean="0"/>
          </a:p>
          <a:p>
            <a:pPr algn="l"/>
            <a:endParaRPr lang="pl-PL" dirty="0" smtClean="0"/>
          </a:p>
          <a:p>
            <a:pPr algn="l"/>
            <a:endParaRPr lang="pl-PL" dirty="0" smtClean="0"/>
          </a:p>
          <a:p>
            <a:pPr algn="l"/>
            <a:endParaRPr lang="pl-PL" dirty="0"/>
          </a:p>
        </p:txBody>
      </p:sp>
      <p:sp>
        <p:nvSpPr>
          <p:cNvPr id="7" name="Symbol zastępczy stopki 6">
            <a:extLst>
              <a:ext uri="{FF2B5EF4-FFF2-40B4-BE49-F238E27FC236}">
                <a16:creationId xmlns:a16="http://schemas.microsoft.com/office/drawing/2014/main" xmlns="" id="{350290FC-9C7D-43B0-8720-9C93AEE1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8487" y="6356350"/>
            <a:ext cx="5724939" cy="365125"/>
          </a:xfrm>
        </p:spPr>
        <p:txBody>
          <a:bodyPr/>
          <a:lstStyle/>
          <a:p>
            <a:r>
              <a:rPr lang="pl-PL" dirty="0"/>
              <a:t>Autor</a:t>
            </a:r>
            <a:r>
              <a:rPr lang="pl-PL" dirty="0" smtClean="0"/>
              <a:t>: Kamil Kowalski</a:t>
            </a:r>
            <a:endParaRPr lang="pl-PL" dirty="0"/>
          </a:p>
          <a:p>
            <a:r>
              <a:rPr lang="pl-PL" dirty="0"/>
              <a:t>Prawa do korzystania z materiałów posiada Software Development Academy</a:t>
            </a:r>
          </a:p>
        </p:txBody>
      </p:sp>
    </p:spTree>
    <p:extLst>
      <p:ext uri="{BB962C8B-B14F-4D97-AF65-F5344CB8AC3E}">
        <p14:creationId xmlns:p14="http://schemas.microsoft.com/office/powerpoint/2010/main" xmlns="" val="89704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3B314E33-4CE1-4681-AFD9-318B33CBF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Po co? A komu to potrzebne?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xmlns="" id="{4F7F281B-822B-41F6-80A9-9F2A6F0F4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0831"/>
            <a:ext cx="10515600" cy="5176583"/>
          </a:xfrm>
        </p:spPr>
        <p:txBody>
          <a:bodyPr>
            <a:normAutofit/>
          </a:bodyPr>
          <a:lstStyle/>
          <a:p>
            <a:pPr algn="l"/>
            <a:endParaRPr lang="pl-PL" dirty="0" smtClean="0"/>
          </a:p>
          <a:p>
            <a:pPr algn="l"/>
            <a:r>
              <a:rPr lang="pl-PL" dirty="0" smtClean="0"/>
              <a:t>Coraz większy udział aplikacji webowych na rynku.</a:t>
            </a:r>
          </a:p>
          <a:p>
            <a:pPr algn="l"/>
            <a:endParaRPr lang="pl-PL" dirty="0" smtClean="0"/>
          </a:p>
          <a:p>
            <a:pPr algn="l"/>
            <a:endParaRPr lang="pl-PL" dirty="0" smtClean="0"/>
          </a:p>
          <a:p>
            <a:pPr algn="l"/>
            <a:r>
              <a:rPr lang="pl-PL" dirty="0" smtClean="0"/>
              <a:t>Połączenie HTML, CSS i </a:t>
            </a:r>
            <a:r>
              <a:rPr lang="pl-PL" dirty="0" err="1" smtClean="0"/>
              <a:t>JavaScript</a:t>
            </a:r>
            <a:r>
              <a:rPr lang="pl-PL" dirty="0" smtClean="0"/>
              <a:t> to podstawa budowy stron internetowych.</a:t>
            </a:r>
          </a:p>
          <a:p>
            <a:pPr algn="l"/>
            <a:endParaRPr lang="pl-PL" dirty="0" smtClean="0"/>
          </a:p>
          <a:p>
            <a:pPr algn="l"/>
            <a:endParaRPr lang="pl-PL" dirty="0" smtClean="0"/>
          </a:p>
          <a:p>
            <a:pPr algn="l"/>
            <a:r>
              <a:rPr lang="pl-PL" dirty="0" smtClean="0"/>
              <a:t>Prezentacja na przykładzie z użyciem Chrome Developer </a:t>
            </a:r>
            <a:r>
              <a:rPr lang="pl-PL" dirty="0" err="1" smtClean="0"/>
              <a:t>Tools</a:t>
            </a:r>
            <a:r>
              <a:rPr lang="pl-PL" dirty="0" smtClean="0"/>
              <a:t> (klawisz F12 w Chrome)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752BB43C-3784-4D53-BC52-12E2D03D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1009" y="6356350"/>
            <a:ext cx="5618921" cy="365125"/>
          </a:xfrm>
        </p:spPr>
        <p:txBody>
          <a:bodyPr/>
          <a:lstStyle/>
          <a:p>
            <a:r>
              <a:rPr lang="pl-PL" dirty="0"/>
              <a:t>Autor</a:t>
            </a:r>
            <a:r>
              <a:rPr lang="pl-PL" dirty="0" smtClean="0"/>
              <a:t>: Kamil Kowalski</a:t>
            </a:r>
            <a:endParaRPr lang="pl-PL" dirty="0"/>
          </a:p>
          <a:p>
            <a:r>
              <a:rPr lang="pl-PL" dirty="0"/>
              <a:t>Prawa do korzystania z materiałów posiada Software Development Academy</a:t>
            </a:r>
          </a:p>
        </p:txBody>
      </p:sp>
    </p:spTree>
    <p:extLst>
      <p:ext uri="{BB962C8B-B14F-4D97-AF65-F5344CB8AC3E}">
        <p14:creationId xmlns:p14="http://schemas.microsoft.com/office/powerpoint/2010/main" xmlns="" val="92451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– definicja i zarys czasowy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xmlns="" id="{7946A36C-97F6-465D-86B7-66783E148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678"/>
            <a:ext cx="10515600" cy="4439737"/>
          </a:xfrm>
        </p:spPr>
        <p:txBody>
          <a:bodyPr/>
          <a:lstStyle/>
          <a:p>
            <a:pPr algn="l"/>
            <a:r>
              <a:rPr lang="pl-PL" dirty="0" smtClean="0"/>
              <a:t>-Hipertekstowy język znaczników</a:t>
            </a:r>
          </a:p>
          <a:p>
            <a:pPr algn="l">
              <a:buFontTx/>
              <a:buChar char="-"/>
            </a:pPr>
            <a:r>
              <a:rPr lang="pl-PL" dirty="0" smtClean="0"/>
              <a:t>Definiuje strukturę strony internetowej</a:t>
            </a:r>
          </a:p>
          <a:p>
            <a:pPr algn="l">
              <a:buFontTx/>
              <a:buChar char="-"/>
            </a:pPr>
            <a:r>
              <a:rPr lang="pl-PL" dirty="0" smtClean="0"/>
              <a:t>Początki w 1980 r. dla CERN</a:t>
            </a:r>
          </a:p>
          <a:p>
            <a:pPr algn="l">
              <a:buFontTx/>
              <a:buChar char="-"/>
            </a:pPr>
            <a:r>
              <a:rPr lang="pl-PL" dirty="0" smtClean="0"/>
              <a:t>1991r. Pierwsza publiczna wersja - </a:t>
            </a:r>
            <a:r>
              <a:rPr lang="pl-PL" dirty="0" err="1" smtClean="0"/>
              <a:t>Tim</a:t>
            </a:r>
            <a:r>
              <a:rPr lang="pl-PL" dirty="0" smtClean="0"/>
              <a:t> </a:t>
            </a:r>
            <a:r>
              <a:rPr lang="pl-PL" dirty="0" err="1" smtClean="0"/>
              <a:t>Berners-Lee</a:t>
            </a:r>
            <a:endParaRPr lang="pl-PL" dirty="0" smtClean="0"/>
          </a:p>
          <a:p>
            <a:pPr algn="l">
              <a:buFontTx/>
              <a:buChar char="-"/>
            </a:pPr>
            <a:r>
              <a:rPr lang="pl-PL" dirty="0" smtClean="0"/>
              <a:t>2014r. HTML 5 – opublikowany przez W3C(</a:t>
            </a:r>
            <a:r>
              <a:rPr lang="pl-PL" dirty="0" err="1" smtClean="0"/>
              <a:t>World</a:t>
            </a:r>
            <a:r>
              <a:rPr lang="pl-PL" dirty="0" smtClean="0"/>
              <a:t> </a:t>
            </a:r>
            <a:r>
              <a:rPr lang="pl-PL" dirty="0" err="1" smtClean="0"/>
              <a:t>Wide</a:t>
            </a:r>
            <a:r>
              <a:rPr lang="pl-PL" dirty="0" smtClean="0"/>
              <a:t> Web </a:t>
            </a:r>
            <a:r>
              <a:rPr lang="pl-PL" dirty="0" err="1" smtClean="0"/>
              <a:t>Consortium</a:t>
            </a:r>
            <a:r>
              <a:rPr lang="pl-PL" dirty="0" smtClean="0"/>
              <a:t>)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xmlns="" id="{A8F9FAD7-4658-4528-9CFB-CABFA163E4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2728" y="1276211"/>
            <a:ext cx="4406900" cy="505457"/>
          </a:xfrm>
        </p:spPr>
        <p:txBody>
          <a:bodyPr/>
          <a:lstStyle/>
          <a:p>
            <a:r>
              <a:rPr lang="pl-PL" dirty="0" err="1" smtClean="0"/>
              <a:t>HyperText</a:t>
            </a:r>
            <a:r>
              <a:rPr lang="pl-PL" dirty="0" smtClean="0"/>
              <a:t> </a:t>
            </a:r>
            <a:r>
              <a:rPr lang="pl-PL" dirty="0" err="1" smtClean="0"/>
              <a:t>Markup</a:t>
            </a:r>
            <a:r>
              <a:rPr lang="pl-PL" dirty="0" smtClean="0"/>
              <a:t> </a:t>
            </a:r>
            <a:r>
              <a:rPr lang="pl-PL" dirty="0" err="1" smtClean="0"/>
              <a:t>Language</a:t>
            </a:r>
            <a:endParaRPr lang="pl-PL" dirty="0"/>
          </a:p>
        </p:txBody>
      </p:sp>
      <p:pic>
        <p:nvPicPr>
          <p:cNvPr id="8201" name="Picture 9" descr="C:\Users\Kamil\sda\HtmlCssJS\html5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10140" y="1346402"/>
            <a:ext cx="2143125" cy="2143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– Podstawowa struktura strony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pic>
        <p:nvPicPr>
          <p:cNvPr id="8" name="Symbol zastępczy obrazu 7" descr="strukturaStrony.PNG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073829" y="1154473"/>
            <a:ext cx="6298771" cy="38837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509385" y="4805680"/>
            <a:ext cx="11328400" cy="1473200"/>
          </a:xfrm>
        </p:spPr>
        <p:txBody>
          <a:bodyPr>
            <a:normAutofit/>
          </a:bodyPr>
          <a:lstStyle/>
          <a:p>
            <a:pPr algn="ctr"/>
            <a:endParaRPr lang="pl-PL" sz="2800" dirty="0" smtClean="0"/>
          </a:p>
          <a:p>
            <a:pPr algn="ctr"/>
            <a:r>
              <a:rPr lang="pl-PL" sz="2800" dirty="0" smtClean="0"/>
              <a:t>Plik musi mieć rozszerzenie „.</a:t>
            </a:r>
            <a:r>
              <a:rPr lang="pl-PL" sz="2800" dirty="0" err="1" smtClean="0"/>
              <a:t>html</a:t>
            </a:r>
            <a:r>
              <a:rPr lang="pl-PL" sz="2800" dirty="0" smtClean="0"/>
              <a:t>”.</a:t>
            </a: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57A9F86F-1F31-4121-B16D-2D49E22D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- Główne znaczniki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xmlns="" id="{F1EA67FD-DCDB-4613-BD36-C744F0E5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6128"/>
            <a:ext cx="10515600" cy="5051288"/>
          </a:xfrm>
        </p:spPr>
        <p:txBody>
          <a:bodyPr>
            <a:normAutofit/>
          </a:bodyPr>
          <a:lstStyle/>
          <a:p>
            <a:pPr algn="l"/>
            <a:r>
              <a:rPr lang="pl-PL" b="1" dirty="0" smtClean="0"/>
              <a:t>&lt;!DOCTYPE </a:t>
            </a:r>
            <a:r>
              <a:rPr lang="pl-PL" b="1" dirty="0" err="1" smtClean="0"/>
              <a:t>html</a:t>
            </a:r>
            <a:r>
              <a:rPr lang="pl-PL" b="1" dirty="0" smtClean="0"/>
              <a:t>&gt; </a:t>
            </a:r>
            <a:r>
              <a:rPr lang="pl-PL" dirty="0" smtClean="0"/>
              <a:t>- określa „typ dokumentu”. W tym wypadku HTML5. 				Na samej górze dokumentu. Brak referencji do 				DTD(</a:t>
            </a:r>
            <a:r>
              <a:rPr lang="pl-PL" dirty="0" err="1" smtClean="0"/>
              <a:t>Document</a:t>
            </a:r>
            <a:r>
              <a:rPr lang="pl-PL" dirty="0" smtClean="0"/>
              <a:t> </a:t>
            </a:r>
            <a:r>
              <a:rPr lang="pl-PL" dirty="0" err="1" smtClean="0"/>
              <a:t>Type</a:t>
            </a:r>
            <a:r>
              <a:rPr lang="pl-PL" dirty="0" smtClean="0"/>
              <a:t> </a:t>
            </a:r>
            <a:r>
              <a:rPr lang="pl-PL" dirty="0" err="1" smtClean="0"/>
              <a:t>Definition</a:t>
            </a:r>
            <a:r>
              <a:rPr lang="pl-PL" dirty="0" smtClean="0"/>
              <a:t>)	</a:t>
            </a:r>
          </a:p>
          <a:p>
            <a:pPr algn="l"/>
            <a:endParaRPr lang="pl-PL" dirty="0" smtClean="0"/>
          </a:p>
          <a:p>
            <a:pPr algn="l"/>
            <a:r>
              <a:rPr lang="pl-PL" b="1" dirty="0" smtClean="0"/>
              <a:t>&lt;</a:t>
            </a:r>
            <a:r>
              <a:rPr lang="pl-PL" b="1" dirty="0" err="1" smtClean="0"/>
              <a:t>html</a:t>
            </a:r>
            <a:r>
              <a:rPr lang="pl-PL" b="1" dirty="0" smtClean="0"/>
              <a:t>&gt; </a:t>
            </a:r>
            <a:r>
              <a:rPr lang="pl-PL" dirty="0" smtClean="0"/>
              <a:t>- początek i koniec dokumentu HTML</a:t>
            </a:r>
          </a:p>
          <a:p>
            <a:pPr algn="l"/>
            <a:endParaRPr lang="pl-PL" dirty="0" smtClean="0"/>
          </a:p>
          <a:p>
            <a:pPr algn="l"/>
            <a:r>
              <a:rPr lang="pl-PL" b="1" dirty="0" smtClean="0"/>
              <a:t>&lt;</a:t>
            </a:r>
            <a:r>
              <a:rPr lang="pl-PL" b="1" dirty="0" err="1" smtClean="0"/>
              <a:t>head</a:t>
            </a:r>
            <a:r>
              <a:rPr lang="pl-PL" b="1" dirty="0" smtClean="0"/>
              <a:t>&gt; </a:t>
            </a:r>
            <a:r>
              <a:rPr lang="pl-PL" dirty="0" smtClean="0"/>
              <a:t>- początek i koniec nagłówka dokumentu</a:t>
            </a:r>
          </a:p>
          <a:p>
            <a:pPr algn="l"/>
            <a:endParaRPr lang="pl-PL" dirty="0" smtClean="0"/>
          </a:p>
          <a:p>
            <a:pPr algn="l"/>
            <a:r>
              <a:rPr lang="pl-PL" b="1" dirty="0" smtClean="0"/>
              <a:t>&lt;body&gt; </a:t>
            </a:r>
            <a:r>
              <a:rPr lang="pl-PL" dirty="0" smtClean="0"/>
              <a:t>- początek i koniec zawartości dokumentu</a:t>
            </a:r>
            <a:endParaRPr lang="pl-PL" dirty="0"/>
          </a:p>
        </p:txBody>
      </p:sp>
      <p:sp>
        <p:nvSpPr>
          <p:cNvPr id="7" name="Symbol zastępczy stopki 6">
            <a:extLst>
              <a:ext uri="{FF2B5EF4-FFF2-40B4-BE49-F238E27FC236}">
                <a16:creationId xmlns:a16="http://schemas.microsoft.com/office/drawing/2014/main" xmlns="" id="{350290FC-9C7D-43B0-8720-9C93AEE1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8487" y="6356350"/>
            <a:ext cx="5724939" cy="365125"/>
          </a:xfrm>
        </p:spPr>
        <p:txBody>
          <a:bodyPr/>
          <a:lstStyle/>
          <a:p>
            <a:r>
              <a:rPr lang="pl-PL" dirty="0"/>
              <a:t>Autor</a:t>
            </a:r>
            <a:r>
              <a:rPr lang="pl-PL" dirty="0" smtClean="0"/>
              <a:t>: Kamil Kowalski</a:t>
            </a:r>
            <a:endParaRPr lang="pl-PL" dirty="0"/>
          </a:p>
          <a:p>
            <a:r>
              <a:rPr lang="pl-PL" dirty="0"/>
              <a:t>Prawa do korzystania z materiałów posiada Software Development Academy</a:t>
            </a:r>
          </a:p>
        </p:txBody>
      </p:sp>
    </p:spTree>
    <p:extLst>
      <p:ext uri="{BB962C8B-B14F-4D97-AF65-F5344CB8AC3E}">
        <p14:creationId xmlns:p14="http://schemas.microsoft.com/office/powerpoint/2010/main" xmlns="" val="89704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- zadanie</a:t>
            </a:r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smtClean="0"/>
              <a:t>Autor: Prawa do korzystania z materiałów posiada Software Development Academy</a:t>
            </a:r>
            <a:endParaRPr lang="pl-PL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447040" y="2976880"/>
            <a:ext cx="11328400" cy="1473200"/>
          </a:xfrm>
        </p:spPr>
        <p:txBody>
          <a:bodyPr>
            <a:normAutofit/>
          </a:bodyPr>
          <a:lstStyle/>
          <a:p>
            <a:pPr algn="ctr"/>
            <a:r>
              <a:rPr lang="pl-PL" sz="2800" dirty="0" smtClean="0"/>
              <a:t>Stwórzmy „</a:t>
            </a:r>
            <a:r>
              <a:rPr lang="pl-PL" sz="2800" dirty="0" err="1" smtClean="0"/>
              <a:t>Hello</a:t>
            </a:r>
            <a:r>
              <a:rPr lang="pl-PL" sz="2800" dirty="0" smtClean="0"/>
              <a:t> </a:t>
            </a:r>
            <a:r>
              <a:rPr lang="pl-PL" sz="2800" dirty="0" err="1" smtClean="0"/>
              <a:t>World</a:t>
            </a:r>
            <a:r>
              <a:rPr lang="pl-PL" sz="2800" dirty="0" smtClean="0"/>
              <a:t>”</a:t>
            </a:r>
            <a:endParaRPr lang="pl-PL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57A9F86F-1F31-4121-B16D-2D49E22D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– znaczniki strukturalne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xmlns="" id="{F1EA67FD-DCDB-4613-BD36-C744F0E5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473"/>
            <a:ext cx="10515600" cy="4988942"/>
          </a:xfrm>
        </p:spPr>
        <p:txBody>
          <a:bodyPr/>
          <a:lstStyle/>
          <a:p>
            <a:pPr algn="l"/>
            <a:r>
              <a:rPr lang="pl-PL" b="1" dirty="0" smtClean="0"/>
              <a:t>&lt;div&gt; </a:t>
            </a:r>
            <a:r>
              <a:rPr lang="pl-PL" dirty="0" smtClean="0"/>
              <a:t>- podstawowy kontener treściowy</a:t>
            </a:r>
          </a:p>
          <a:p>
            <a:pPr algn="l"/>
            <a:endParaRPr lang="pl-PL" dirty="0" smtClean="0"/>
          </a:p>
          <a:p>
            <a:pPr algn="l"/>
            <a:r>
              <a:rPr lang="pl-PL" b="1" dirty="0" smtClean="0"/>
              <a:t>&lt;p&gt; </a:t>
            </a:r>
            <a:r>
              <a:rPr lang="pl-PL" dirty="0" smtClean="0"/>
              <a:t>- akapit</a:t>
            </a:r>
          </a:p>
          <a:p>
            <a:pPr algn="l"/>
            <a:endParaRPr lang="pl-PL" dirty="0" smtClean="0"/>
          </a:p>
          <a:p>
            <a:pPr algn="l"/>
            <a:r>
              <a:rPr lang="pl-PL" b="1" dirty="0" smtClean="0"/>
              <a:t>&lt;h1&gt; - &lt;h6&gt; </a:t>
            </a:r>
            <a:r>
              <a:rPr lang="pl-PL" dirty="0" smtClean="0"/>
              <a:t>- nagłówki</a:t>
            </a:r>
            <a:endParaRPr lang="pl-PL" dirty="0"/>
          </a:p>
        </p:txBody>
      </p:sp>
      <p:sp>
        <p:nvSpPr>
          <p:cNvPr id="7" name="Symbol zastępczy stopki 6">
            <a:extLst>
              <a:ext uri="{FF2B5EF4-FFF2-40B4-BE49-F238E27FC236}">
                <a16:creationId xmlns:a16="http://schemas.microsoft.com/office/drawing/2014/main" xmlns="" id="{350290FC-9C7D-43B0-8720-9C93AEE1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8487" y="6356350"/>
            <a:ext cx="5724939" cy="365125"/>
          </a:xfrm>
        </p:spPr>
        <p:txBody>
          <a:bodyPr/>
          <a:lstStyle/>
          <a:p>
            <a:r>
              <a:rPr lang="pl-PL" dirty="0"/>
              <a:t>Autor</a:t>
            </a:r>
            <a:r>
              <a:rPr lang="pl-PL" dirty="0" smtClean="0"/>
              <a:t>: Kamil Kowalski</a:t>
            </a:r>
            <a:endParaRPr lang="pl-PL" dirty="0"/>
          </a:p>
          <a:p>
            <a:r>
              <a:rPr lang="pl-PL" dirty="0"/>
              <a:t>Prawa do korzystania z materiałów posiada Software Development Academy</a:t>
            </a:r>
          </a:p>
        </p:txBody>
      </p:sp>
    </p:spTree>
    <p:extLst>
      <p:ext uri="{BB962C8B-B14F-4D97-AF65-F5344CB8AC3E}">
        <p14:creationId xmlns:p14="http://schemas.microsoft.com/office/powerpoint/2010/main" xmlns="" val="89704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– przykładowe zagnieżdżenie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pic>
        <p:nvPicPr>
          <p:cNvPr id="10" name="Symbol zastępczy obrazu 7" descr="strukturaStron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1275" y="1417118"/>
            <a:ext cx="10605352" cy="40184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57A9F86F-1F31-4121-B16D-2D49E22D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– przykładowe znaczniki formatujące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xmlns="" id="{F1EA67FD-DCDB-4613-BD36-C744F0E5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473"/>
            <a:ext cx="10515600" cy="4988942"/>
          </a:xfrm>
        </p:spPr>
        <p:txBody>
          <a:bodyPr>
            <a:normAutofit lnSpcReduction="10000"/>
          </a:bodyPr>
          <a:lstStyle/>
          <a:p>
            <a:pPr algn="l"/>
            <a:r>
              <a:rPr lang="pl-PL" b="1" dirty="0" smtClean="0"/>
              <a:t>&lt;</a:t>
            </a:r>
            <a:r>
              <a:rPr lang="pl-PL" b="1" dirty="0" err="1" smtClean="0"/>
              <a:t>strong</a:t>
            </a:r>
            <a:r>
              <a:rPr lang="pl-PL" b="1" dirty="0" smtClean="0"/>
              <a:t>&gt; </a:t>
            </a:r>
            <a:r>
              <a:rPr lang="pl-PL" dirty="0" smtClean="0"/>
              <a:t>- wzmocnienie treści; przykład semantycznego znacznika</a:t>
            </a:r>
          </a:p>
          <a:p>
            <a:pPr algn="l"/>
            <a:r>
              <a:rPr lang="pl-PL" b="1" dirty="0" err="1" smtClean="0"/>
              <a:t>&lt;e</a:t>
            </a:r>
            <a:r>
              <a:rPr lang="pl-PL" b="1" dirty="0" smtClean="0"/>
              <a:t>m&gt; </a:t>
            </a:r>
            <a:r>
              <a:rPr lang="pl-PL" dirty="0" smtClean="0"/>
              <a:t>- wyróżnienie treści</a:t>
            </a:r>
          </a:p>
          <a:p>
            <a:pPr algn="l"/>
            <a:r>
              <a:rPr lang="pl-PL" b="1" dirty="0" err="1" smtClean="0"/>
              <a:t>&lt;mar</a:t>
            </a:r>
            <a:r>
              <a:rPr lang="pl-PL" b="1" dirty="0" smtClean="0"/>
              <a:t>k&gt; </a:t>
            </a:r>
            <a:r>
              <a:rPr lang="pl-PL" dirty="0" smtClean="0"/>
              <a:t>- zaznaczenie</a:t>
            </a:r>
          </a:p>
          <a:p>
            <a:pPr algn="l"/>
            <a:r>
              <a:rPr lang="pl-PL" b="1" dirty="0" smtClean="0"/>
              <a:t>&lt;</a:t>
            </a:r>
            <a:r>
              <a:rPr lang="pl-PL" b="1" dirty="0" err="1" smtClean="0"/>
              <a:t>sub</a:t>
            </a:r>
            <a:r>
              <a:rPr lang="pl-PL" b="1" dirty="0" smtClean="0"/>
              <a:t>&gt; </a:t>
            </a:r>
            <a:r>
              <a:rPr lang="pl-PL" dirty="0" smtClean="0"/>
              <a:t>- indeks dolny</a:t>
            </a:r>
          </a:p>
          <a:p>
            <a:pPr algn="l"/>
            <a:r>
              <a:rPr lang="pl-PL" b="1" dirty="0" err="1" smtClean="0"/>
              <a:t>&lt;su</a:t>
            </a:r>
            <a:r>
              <a:rPr lang="pl-PL" b="1" dirty="0" smtClean="0"/>
              <a:t>p&gt; </a:t>
            </a:r>
            <a:r>
              <a:rPr lang="pl-PL" dirty="0" smtClean="0"/>
              <a:t>- indeks górny</a:t>
            </a:r>
          </a:p>
          <a:p>
            <a:pPr algn="l"/>
            <a:r>
              <a:rPr lang="pl-PL" b="1" dirty="0" smtClean="0"/>
              <a:t>&lt;</a:t>
            </a:r>
            <a:r>
              <a:rPr lang="pl-PL" b="1" dirty="0" err="1" smtClean="0"/>
              <a:t>pre</a:t>
            </a:r>
            <a:r>
              <a:rPr lang="pl-PL" b="1" dirty="0" smtClean="0"/>
              <a:t>&gt; </a:t>
            </a:r>
            <a:r>
              <a:rPr lang="pl-PL" dirty="0" smtClean="0"/>
              <a:t>- </a:t>
            </a:r>
            <a:r>
              <a:rPr lang="pl-PL" dirty="0" err="1" smtClean="0"/>
              <a:t>zformatowany</a:t>
            </a:r>
            <a:r>
              <a:rPr lang="pl-PL" dirty="0" smtClean="0"/>
              <a:t> tekst </a:t>
            </a:r>
          </a:p>
          <a:p>
            <a:pPr algn="l"/>
            <a:r>
              <a:rPr lang="pl-PL" b="1" dirty="0" smtClean="0"/>
              <a:t>&lt;b&gt; </a:t>
            </a:r>
            <a:r>
              <a:rPr lang="pl-PL" dirty="0" smtClean="0"/>
              <a:t>- pogrubienie; </a:t>
            </a:r>
            <a:r>
              <a:rPr lang="pl-PL" dirty="0" err="1" smtClean="0"/>
              <a:t>niesemantyczny</a:t>
            </a:r>
            <a:r>
              <a:rPr lang="pl-PL" dirty="0" smtClean="0"/>
              <a:t> znacznik</a:t>
            </a:r>
          </a:p>
          <a:p>
            <a:pPr algn="l"/>
            <a:r>
              <a:rPr lang="pl-PL" b="1" dirty="0" smtClean="0"/>
              <a:t>&lt;i&gt; </a:t>
            </a:r>
            <a:r>
              <a:rPr lang="pl-PL" dirty="0" smtClean="0"/>
              <a:t>- kursywa</a:t>
            </a:r>
          </a:p>
          <a:p>
            <a:pPr algn="l"/>
            <a:r>
              <a:rPr lang="pl-PL" b="1" dirty="0" smtClean="0"/>
              <a:t>&lt;s&gt; </a:t>
            </a:r>
            <a:r>
              <a:rPr lang="pl-PL" dirty="0" smtClean="0"/>
              <a:t>- przekreślenie</a:t>
            </a:r>
          </a:p>
          <a:p>
            <a:pPr algn="l"/>
            <a:r>
              <a:rPr lang="pl-PL" b="1" dirty="0" smtClean="0"/>
              <a:t>&lt;u&gt; </a:t>
            </a:r>
            <a:r>
              <a:rPr lang="pl-PL" dirty="0" smtClean="0"/>
              <a:t>- podkreślenie</a:t>
            </a:r>
          </a:p>
          <a:p>
            <a:pPr algn="l"/>
            <a:endParaRPr lang="pl-PL" dirty="0" smtClean="0"/>
          </a:p>
          <a:p>
            <a:pPr algn="l"/>
            <a:endParaRPr lang="pl-PL" dirty="0" smtClean="0"/>
          </a:p>
        </p:txBody>
      </p:sp>
      <p:sp>
        <p:nvSpPr>
          <p:cNvPr id="7" name="Symbol zastępczy stopki 6">
            <a:extLst>
              <a:ext uri="{FF2B5EF4-FFF2-40B4-BE49-F238E27FC236}">
                <a16:creationId xmlns:a16="http://schemas.microsoft.com/office/drawing/2014/main" xmlns="" id="{350290FC-9C7D-43B0-8720-9C93AEE1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8487" y="6356350"/>
            <a:ext cx="5724939" cy="365125"/>
          </a:xfrm>
        </p:spPr>
        <p:txBody>
          <a:bodyPr/>
          <a:lstStyle/>
          <a:p>
            <a:r>
              <a:rPr lang="pl-PL" dirty="0"/>
              <a:t>Autor</a:t>
            </a:r>
            <a:r>
              <a:rPr lang="pl-PL" dirty="0" smtClean="0"/>
              <a:t>: Kamil Kowalski</a:t>
            </a:r>
            <a:endParaRPr lang="pl-PL" dirty="0"/>
          </a:p>
          <a:p>
            <a:r>
              <a:rPr lang="pl-PL" dirty="0"/>
              <a:t>Prawa do korzystania z materiałów posiada Software Development Academy</a:t>
            </a:r>
          </a:p>
        </p:txBody>
      </p:sp>
    </p:spTree>
    <p:extLst>
      <p:ext uri="{BB962C8B-B14F-4D97-AF65-F5344CB8AC3E}">
        <p14:creationId xmlns:p14="http://schemas.microsoft.com/office/powerpoint/2010/main" xmlns="" val="89704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57A9F86F-1F31-4121-B16D-2D49E22D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– kolejne znaczniki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xmlns="" id="{F1EA67FD-DCDB-4613-BD36-C744F0E5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9255"/>
            <a:ext cx="10515600" cy="4968160"/>
          </a:xfrm>
        </p:spPr>
        <p:txBody>
          <a:bodyPr/>
          <a:lstStyle/>
          <a:p>
            <a:pPr algn="l"/>
            <a:r>
              <a:rPr lang="pl-PL" b="1" dirty="0" smtClean="0"/>
              <a:t>&lt;</a:t>
            </a:r>
            <a:r>
              <a:rPr lang="pl-PL" b="1" dirty="0" err="1" smtClean="0"/>
              <a:t>br</a:t>
            </a:r>
            <a:r>
              <a:rPr lang="pl-PL" b="1" dirty="0" smtClean="0"/>
              <a:t> /&gt; </a:t>
            </a:r>
            <a:r>
              <a:rPr lang="pl-PL" dirty="0" smtClean="0"/>
              <a:t>- załamanie </a:t>
            </a:r>
            <a:r>
              <a:rPr lang="pl-PL" dirty="0" err="1" smtClean="0"/>
              <a:t>lini</a:t>
            </a:r>
            <a:endParaRPr lang="pl-PL" dirty="0" smtClean="0"/>
          </a:p>
          <a:p>
            <a:pPr algn="l"/>
            <a:r>
              <a:rPr lang="pl-PL" b="1" dirty="0" smtClean="0"/>
              <a:t>&lt;!- - … --&gt; </a:t>
            </a:r>
            <a:r>
              <a:rPr lang="pl-PL" dirty="0" smtClean="0"/>
              <a:t>- komentarz</a:t>
            </a:r>
          </a:p>
          <a:p>
            <a:pPr algn="l"/>
            <a:r>
              <a:rPr lang="pl-PL" b="1" dirty="0" smtClean="0"/>
              <a:t>&lt;</a:t>
            </a:r>
            <a:r>
              <a:rPr lang="pl-PL" b="1" dirty="0" err="1" smtClean="0"/>
              <a:t>img</a:t>
            </a:r>
            <a:r>
              <a:rPr lang="pl-PL" b="1" dirty="0" smtClean="0"/>
              <a:t>&gt; </a:t>
            </a:r>
            <a:r>
              <a:rPr lang="pl-PL" dirty="0" smtClean="0"/>
              <a:t>- obrazek</a:t>
            </a:r>
          </a:p>
          <a:p>
            <a:pPr algn="l"/>
            <a:r>
              <a:rPr lang="pl-PL" b="1" dirty="0" smtClean="0"/>
              <a:t>&lt;a&gt; </a:t>
            </a:r>
            <a:r>
              <a:rPr lang="pl-PL" dirty="0" smtClean="0"/>
              <a:t>- link/łącze do innej strony</a:t>
            </a:r>
          </a:p>
          <a:p>
            <a:pPr algn="l"/>
            <a:r>
              <a:rPr lang="pl-PL" b="1" dirty="0" smtClean="0"/>
              <a:t>&lt;style&gt; </a:t>
            </a:r>
            <a:r>
              <a:rPr lang="pl-PL" dirty="0" smtClean="0"/>
              <a:t>- </a:t>
            </a:r>
            <a:r>
              <a:rPr lang="pl-PL" dirty="0" err="1" smtClean="0"/>
              <a:t>style</a:t>
            </a:r>
            <a:r>
              <a:rPr lang="pl-PL" dirty="0" smtClean="0"/>
              <a:t> CSS wewnątrz dokumentu HTML</a:t>
            </a:r>
          </a:p>
          <a:p>
            <a:pPr algn="l"/>
            <a:r>
              <a:rPr lang="pl-PL" b="1" dirty="0" smtClean="0"/>
              <a:t>&lt;</a:t>
            </a:r>
            <a:r>
              <a:rPr lang="pl-PL" b="1" dirty="0" err="1" smtClean="0"/>
              <a:t>script</a:t>
            </a:r>
            <a:r>
              <a:rPr lang="pl-PL" b="1" dirty="0" smtClean="0"/>
              <a:t>&gt; </a:t>
            </a:r>
            <a:r>
              <a:rPr lang="pl-PL" dirty="0" smtClean="0"/>
              <a:t>- skrypty </a:t>
            </a:r>
            <a:r>
              <a:rPr lang="pl-PL" dirty="0" err="1" smtClean="0"/>
              <a:t>JavaScript</a:t>
            </a:r>
            <a:r>
              <a:rPr lang="pl-PL" dirty="0" smtClean="0"/>
              <a:t> wewnątrz dokumentu HTML</a:t>
            </a:r>
          </a:p>
          <a:p>
            <a:pPr algn="l"/>
            <a:r>
              <a:rPr lang="pl-PL" b="1" dirty="0" smtClean="0"/>
              <a:t>&lt;</a:t>
            </a:r>
            <a:r>
              <a:rPr lang="pl-PL" b="1" dirty="0" err="1" smtClean="0"/>
              <a:t>span</a:t>
            </a:r>
            <a:r>
              <a:rPr lang="pl-PL" b="1" dirty="0" smtClean="0"/>
              <a:t>&gt; </a:t>
            </a:r>
            <a:r>
              <a:rPr lang="pl-PL" dirty="0" smtClean="0"/>
              <a:t>- kontener liniowy </a:t>
            </a:r>
            <a:r>
              <a:rPr lang="pl-PL" dirty="0" err="1" smtClean="0"/>
              <a:t>słyżący</a:t>
            </a:r>
            <a:r>
              <a:rPr lang="pl-PL" dirty="0" smtClean="0"/>
              <a:t> do odróżniania, podobne do &lt;div&gt;, ale 	znacznie mniejsza zawartość</a:t>
            </a:r>
          </a:p>
        </p:txBody>
      </p:sp>
      <p:sp>
        <p:nvSpPr>
          <p:cNvPr id="7" name="Symbol zastępczy stopki 6">
            <a:extLst>
              <a:ext uri="{FF2B5EF4-FFF2-40B4-BE49-F238E27FC236}">
                <a16:creationId xmlns:a16="http://schemas.microsoft.com/office/drawing/2014/main" xmlns="" id="{350290FC-9C7D-43B0-8720-9C93AEE1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8487" y="6356350"/>
            <a:ext cx="5724939" cy="365125"/>
          </a:xfrm>
        </p:spPr>
        <p:txBody>
          <a:bodyPr/>
          <a:lstStyle/>
          <a:p>
            <a:r>
              <a:rPr lang="pl-PL" dirty="0"/>
              <a:t>Autor</a:t>
            </a:r>
            <a:r>
              <a:rPr lang="pl-PL" dirty="0" smtClean="0"/>
              <a:t>: Kamil Kowalski</a:t>
            </a:r>
            <a:endParaRPr lang="pl-PL" dirty="0"/>
          </a:p>
          <a:p>
            <a:r>
              <a:rPr lang="pl-PL" dirty="0"/>
              <a:t>Prawa do korzystania z materiałów posiada Software Development Academy</a:t>
            </a:r>
          </a:p>
        </p:txBody>
      </p:sp>
    </p:spTree>
    <p:extLst>
      <p:ext uri="{BB962C8B-B14F-4D97-AF65-F5344CB8AC3E}">
        <p14:creationId xmlns:p14="http://schemas.microsoft.com/office/powerpoint/2010/main" xmlns="" val="89704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57A9F86F-1F31-4121-B16D-2D49E22D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– kolejne znaczniki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xmlns="" id="{F1EA67FD-DCDB-4613-BD36-C744F0E5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9255"/>
            <a:ext cx="10515600" cy="4968160"/>
          </a:xfrm>
        </p:spPr>
        <p:txBody>
          <a:bodyPr/>
          <a:lstStyle/>
          <a:p>
            <a:pPr algn="l"/>
            <a:r>
              <a:rPr lang="pl-PL" b="1" dirty="0" smtClean="0"/>
              <a:t>&lt;meta&gt; </a:t>
            </a:r>
            <a:r>
              <a:rPr lang="pl-PL" dirty="0" smtClean="0"/>
              <a:t>- </a:t>
            </a:r>
            <a:r>
              <a:rPr lang="pl-PL" dirty="0" err="1" smtClean="0"/>
              <a:t>metadane</a:t>
            </a:r>
            <a:r>
              <a:rPr lang="pl-PL" dirty="0" smtClean="0"/>
              <a:t> w &lt;</a:t>
            </a:r>
            <a:r>
              <a:rPr lang="pl-PL" dirty="0" err="1" smtClean="0"/>
              <a:t>head</a:t>
            </a:r>
            <a:r>
              <a:rPr lang="pl-PL" dirty="0" smtClean="0"/>
              <a:t>&gt;; dodatkowe informacje o dokumencie</a:t>
            </a:r>
          </a:p>
          <a:p>
            <a:pPr algn="l"/>
            <a:r>
              <a:rPr lang="pl-PL" b="1" dirty="0" smtClean="0"/>
              <a:t>&lt;</a:t>
            </a:r>
            <a:r>
              <a:rPr lang="pl-PL" b="1" dirty="0" err="1" smtClean="0"/>
              <a:t>title</a:t>
            </a:r>
            <a:r>
              <a:rPr lang="pl-PL" b="1" dirty="0" smtClean="0"/>
              <a:t>&gt; </a:t>
            </a:r>
            <a:r>
              <a:rPr lang="pl-PL" dirty="0" smtClean="0"/>
              <a:t>- tytuł strony</a:t>
            </a:r>
          </a:p>
          <a:p>
            <a:pPr algn="l"/>
            <a:r>
              <a:rPr lang="pl-PL" b="1" dirty="0" smtClean="0"/>
              <a:t>&lt;audio&gt; </a:t>
            </a:r>
            <a:r>
              <a:rPr lang="pl-PL" dirty="0" smtClean="0"/>
              <a:t>- wstawianie dźwięku</a:t>
            </a:r>
          </a:p>
          <a:p>
            <a:pPr algn="l"/>
            <a:r>
              <a:rPr lang="pl-PL" b="1" dirty="0" smtClean="0"/>
              <a:t>&lt;video&gt; </a:t>
            </a:r>
            <a:r>
              <a:rPr lang="pl-PL" dirty="0" smtClean="0"/>
              <a:t>- wstawianie filmu</a:t>
            </a:r>
          </a:p>
          <a:p>
            <a:pPr algn="l"/>
            <a:r>
              <a:rPr lang="pl-PL" b="1" dirty="0" smtClean="0"/>
              <a:t>&lt;</a:t>
            </a:r>
            <a:r>
              <a:rPr lang="pl-PL" b="1" dirty="0" err="1" smtClean="0"/>
              <a:t>canvas</a:t>
            </a:r>
            <a:r>
              <a:rPr lang="pl-PL" b="1" dirty="0" smtClean="0"/>
              <a:t>&gt; </a:t>
            </a:r>
            <a:r>
              <a:rPr lang="pl-PL" dirty="0" smtClean="0"/>
              <a:t>- element po którym można malować za pomocą </a:t>
            </a:r>
            <a:r>
              <a:rPr lang="pl-PL" dirty="0" err="1" smtClean="0"/>
              <a:t>JavaScript</a:t>
            </a:r>
            <a:endParaRPr lang="pl-PL" dirty="0" smtClean="0"/>
          </a:p>
          <a:p>
            <a:pPr algn="l"/>
            <a:endParaRPr lang="pl-PL" dirty="0" smtClean="0"/>
          </a:p>
        </p:txBody>
      </p:sp>
      <p:sp>
        <p:nvSpPr>
          <p:cNvPr id="7" name="Symbol zastępczy stopki 6">
            <a:extLst>
              <a:ext uri="{FF2B5EF4-FFF2-40B4-BE49-F238E27FC236}">
                <a16:creationId xmlns:a16="http://schemas.microsoft.com/office/drawing/2014/main" xmlns="" id="{350290FC-9C7D-43B0-8720-9C93AEE1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8487" y="6356350"/>
            <a:ext cx="5724939" cy="365125"/>
          </a:xfrm>
        </p:spPr>
        <p:txBody>
          <a:bodyPr/>
          <a:lstStyle/>
          <a:p>
            <a:r>
              <a:rPr lang="pl-PL" dirty="0"/>
              <a:t>Autor</a:t>
            </a:r>
            <a:r>
              <a:rPr lang="pl-PL" dirty="0" smtClean="0"/>
              <a:t>: Kamil Kowalski</a:t>
            </a:r>
            <a:endParaRPr lang="pl-PL" dirty="0"/>
          </a:p>
          <a:p>
            <a:r>
              <a:rPr lang="pl-PL" dirty="0"/>
              <a:t>Prawa do korzystania z materiałów posiada Software Development Academy</a:t>
            </a:r>
          </a:p>
        </p:txBody>
      </p:sp>
    </p:spTree>
    <p:extLst>
      <p:ext uri="{BB962C8B-B14F-4D97-AF65-F5344CB8AC3E}">
        <p14:creationId xmlns:p14="http://schemas.microsoft.com/office/powerpoint/2010/main" xmlns="" val="89704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57A9F86F-1F31-4121-B16D-2D49E22D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– Dlaczego wybór znaczników jest ważny?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xmlns="" id="{F1EA67FD-DCDB-4613-BD36-C744F0E5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9255"/>
            <a:ext cx="10515600" cy="4968160"/>
          </a:xfrm>
        </p:spPr>
        <p:txBody>
          <a:bodyPr/>
          <a:lstStyle/>
          <a:p>
            <a:pPr algn="l">
              <a:buFontTx/>
              <a:buChar char="-"/>
            </a:pPr>
            <a:r>
              <a:rPr lang="pl-PL" dirty="0" smtClean="0"/>
              <a:t>Przestrzeganie ustalonych standardów</a:t>
            </a:r>
          </a:p>
          <a:p>
            <a:pPr algn="l">
              <a:buFontTx/>
              <a:buChar char="-"/>
            </a:pPr>
            <a:r>
              <a:rPr lang="pl-PL" dirty="0" smtClean="0"/>
              <a:t>Czytelność kodu – samo opisujący się kod</a:t>
            </a:r>
          </a:p>
          <a:p>
            <a:pPr algn="l">
              <a:buFontTx/>
              <a:buChar char="-"/>
            </a:pPr>
            <a:r>
              <a:rPr lang="pl-PL" dirty="0" smtClean="0"/>
              <a:t>Domyślne typy wyświetlania</a:t>
            </a:r>
          </a:p>
          <a:p>
            <a:pPr algn="l">
              <a:buFontTx/>
              <a:buChar char="-"/>
            </a:pPr>
            <a:r>
              <a:rPr lang="pl-PL" dirty="0" smtClean="0"/>
              <a:t>Im lepszy dobór znaczników tym mniej </a:t>
            </a:r>
            <a:r>
              <a:rPr lang="pl-PL" dirty="0" err="1" smtClean="0"/>
              <a:t>stylowania</a:t>
            </a:r>
            <a:endParaRPr lang="pl-PL" dirty="0" smtClean="0"/>
          </a:p>
          <a:p>
            <a:pPr algn="l">
              <a:buFontTx/>
              <a:buChar char="-"/>
            </a:pPr>
            <a:r>
              <a:rPr lang="pl-PL" dirty="0" smtClean="0"/>
              <a:t>Pozycjonowanie stron(SEO)</a:t>
            </a:r>
          </a:p>
        </p:txBody>
      </p:sp>
      <p:sp>
        <p:nvSpPr>
          <p:cNvPr id="7" name="Symbol zastępczy stopki 6">
            <a:extLst>
              <a:ext uri="{FF2B5EF4-FFF2-40B4-BE49-F238E27FC236}">
                <a16:creationId xmlns:a16="http://schemas.microsoft.com/office/drawing/2014/main" xmlns="" id="{350290FC-9C7D-43B0-8720-9C93AEE1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8487" y="6356350"/>
            <a:ext cx="5724939" cy="365125"/>
          </a:xfrm>
        </p:spPr>
        <p:txBody>
          <a:bodyPr/>
          <a:lstStyle/>
          <a:p>
            <a:r>
              <a:rPr lang="pl-PL" dirty="0"/>
              <a:t>Autor</a:t>
            </a:r>
            <a:r>
              <a:rPr lang="pl-PL" dirty="0" smtClean="0"/>
              <a:t>: Kamil Kowalski</a:t>
            </a:r>
            <a:endParaRPr lang="pl-PL" dirty="0"/>
          </a:p>
          <a:p>
            <a:r>
              <a:rPr lang="pl-PL" dirty="0"/>
              <a:t>Prawa do korzystania z materiałów posiada Software Development Academy</a:t>
            </a:r>
          </a:p>
        </p:txBody>
      </p:sp>
    </p:spTree>
    <p:extLst>
      <p:ext uri="{BB962C8B-B14F-4D97-AF65-F5344CB8AC3E}">
        <p14:creationId xmlns:p14="http://schemas.microsoft.com/office/powerpoint/2010/main" xmlns="" val="89704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- zadanie</a:t>
            </a:r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smtClean="0"/>
              <a:t>Autor: Prawa do korzystania z materiałów posiada Software Development Academy</a:t>
            </a:r>
            <a:endParaRPr lang="pl-PL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1517073" y="1704109"/>
            <a:ext cx="8998528" cy="3906982"/>
          </a:xfrm>
        </p:spPr>
        <p:txBody>
          <a:bodyPr>
            <a:normAutofit/>
          </a:bodyPr>
          <a:lstStyle/>
          <a:p>
            <a:pPr algn="ctr"/>
            <a:r>
              <a:rPr lang="pl-PL" dirty="0" smtClean="0"/>
              <a:t>Rozbudujmy „</a:t>
            </a:r>
            <a:r>
              <a:rPr lang="pl-PL" dirty="0" err="1" smtClean="0"/>
              <a:t>Hello</a:t>
            </a:r>
            <a:r>
              <a:rPr lang="pl-PL" dirty="0" smtClean="0"/>
              <a:t> </a:t>
            </a:r>
            <a:r>
              <a:rPr lang="pl-PL" dirty="0" err="1" smtClean="0"/>
              <a:t>World</a:t>
            </a:r>
            <a:r>
              <a:rPr lang="pl-PL" dirty="0" smtClean="0"/>
              <a:t>” </a:t>
            </a:r>
          </a:p>
          <a:p>
            <a:pPr algn="ctr"/>
            <a:endParaRPr lang="pl-PL" dirty="0" smtClean="0"/>
          </a:p>
          <a:p>
            <a:r>
              <a:rPr lang="pl-PL" dirty="0" smtClean="0"/>
              <a:t>Dokument zgodny z HTML5. Niech zawiera:</a:t>
            </a:r>
          </a:p>
          <a:p>
            <a:pPr>
              <a:buFontTx/>
              <a:buChar char="-"/>
            </a:pPr>
            <a:r>
              <a:rPr lang="pl-PL" dirty="0" smtClean="0"/>
              <a:t>Tytuł strony</a:t>
            </a:r>
          </a:p>
          <a:p>
            <a:pPr>
              <a:buFontTx/>
              <a:buChar char="-"/>
            </a:pPr>
            <a:r>
              <a:rPr lang="pl-PL" dirty="0" smtClean="0"/>
              <a:t>Trzy różne nagłówki (h1 – h6)</a:t>
            </a:r>
          </a:p>
          <a:p>
            <a:pPr>
              <a:buFontTx/>
              <a:buChar char="-"/>
            </a:pPr>
            <a:r>
              <a:rPr lang="pl-PL" dirty="0" smtClean="0"/>
              <a:t>Dwa akapity</a:t>
            </a:r>
          </a:p>
          <a:p>
            <a:pPr>
              <a:buFontTx/>
              <a:buChar char="-"/>
            </a:pPr>
            <a:r>
              <a:rPr lang="pl-PL" dirty="0" smtClean="0"/>
              <a:t>Tekst wyróżniony </a:t>
            </a:r>
            <a:r>
              <a:rPr lang="pl-PL" smtClean="0"/>
              <a:t>na różn </a:t>
            </a:r>
            <a:r>
              <a:rPr lang="pl-PL" dirty="0" smtClean="0"/>
              <a:t>sposoby</a:t>
            </a:r>
          </a:p>
          <a:p>
            <a:pPr>
              <a:buFontTx/>
              <a:buChar char="-"/>
            </a:pPr>
            <a:r>
              <a:rPr lang="pl-PL" dirty="0" smtClean="0"/>
              <a:t>Element </a:t>
            </a:r>
            <a:r>
              <a:rPr lang="pl-PL" dirty="0" err="1" smtClean="0"/>
              <a:t>span</a:t>
            </a:r>
            <a:endParaRPr lang="pl-PL" dirty="0" smtClean="0"/>
          </a:p>
          <a:p>
            <a:pPr algn="ctr">
              <a:buFontTx/>
              <a:buChar char="-"/>
            </a:pPr>
            <a:endParaRPr lang="pl-PL" dirty="0" smtClean="0"/>
          </a:p>
          <a:p>
            <a:pPr algn="ctr"/>
            <a:endParaRPr lang="pl-PL" dirty="0" smtClean="0"/>
          </a:p>
          <a:p>
            <a:pPr algn="ctr"/>
            <a:endParaRPr lang="pl-PL" dirty="0" smtClean="0"/>
          </a:p>
          <a:p>
            <a:pPr algn="ctr"/>
            <a:endParaRPr lang="pl-PL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– elementy blokowe i liniowe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xmlns="" id="{A8F9FAD7-4658-4528-9CFB-CABFA163E4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4724" y="1105365"/>
            <a:ext cx="4406900" cy="505457"/>
          </a:xfrm>
        </p:spPr>
        <p:txBody>
          <a:bodyPr/>
          <a:lstStyle/>
          <a:p>
            <a:r>
              <a:rPr lang="pl-PL" dirty="0" smtClean="0"/>
              <a:t>Elementy blokowe</a:t>
            </a:r>
            <a:endParaRPr lang="pl-PL" dirty="0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xmlns="" id="{73E6F36A-7E7D-4A4B-9E6C-61CD380FA8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33787" y="1637030"/>
            <a:ext cx="7048068" cy="1336675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pl-PL" dirty="0" smtClean="0"/>
              <a:t>np. &lt;div&gt;, &lt;p&gt;, &lt;h1&gt;, &lt;form&gt;, &lt;</a:t>
            </a:r>
            <a:r>
              <a:rPr lang="pl-PL" dirty="0" err="1" smtClean="0"/>
              <a:t>nav</a:t>
            </a:r>
            <a:r>
              <a:rPr lang="pl-PL" dirty="0" smtClean="0"/>
              <a:t>&gt;, &lt;ul&gt;, &lt;</a:t>
            </a:r>
            <a:r>
              <a:rPr lang="pl-PL" dirty="0" err="1" smtClean="0"/>
              <a:t>table</a:t>
            </a:r>
            <a:r>
              <a:rPr lang="pl-PL" dirty="0" smtClean="0"/>
              <a:t>&gt;</a:t>
            </a:r>
          </a:p>
          <a:p>
            <a:pPr>
              <a:buFontTx/>
              <a:buChar char="-"/>
            </a:pPr>
            <a:r>
              <a:rPr lang="pl-PL" dirty="0" smtClean="0"/>
              <a:t>Zajmują całą dostępną szerokość</a:t>
            </a:r>
          </a:p>
          <a:p>
            <a:pPr>
              <a:buFontTx/>
              <a:buChar char="-"/>
            </a:pPr>
            <a:r>
              <a:rPr lang="pl-PL" dirty="0" smtClean="0"/>
              <a:t>Zaczynają się od nowej </a:t>
            </a:r>
            <a:r>
              <a:rPr lang="pl-PL" dirty="0" err="1" smtClean="0"/>
              <a:t>lini</a:t>
            </a:r>
            <a:endParaRPr lang="pl-PL" dirty="0"/>
          </a:p>
        </p:txBody>
      </p:sp>
      <p:sp>
        <p:nvSpPr>
          <p:cNvPr id="8" name="Symbol zastępczy tekstu 5">
            <a:extLst>
              <a:ext uri="{FF2B5EF4-FFF2-40B4-BE49-F238E27FC236}">
                <a16:creationId xmlns:a16="http://schemas.microsoft.com/office/drawing/2014/main" xmlns="" id="{A8F9FAD7-4658-4528-9CFB-CABFA163E4B2}"/>
              </a:ext>
            </a:extLst>
          </p:cNvPr>
          <p:cNvSpPr txBox="1">
            <a:spLocks/>
          </p:cNvSpPr>
          <p:nvPr/>
        </p:nvSpPr>
        <p:spPr>
          <a:xfrm>
            <a:off x="3663480" y="3832633"/>
            <a:ext cx="4406900" cy="505457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7597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Elementy liniowe</a:t>
            </a:r>
            <a:endParaRPr kumimoji="0" lang="pl-PL" sz="2800" b="0" i="0" u="none" strike="noStrike" kern="1200" cap="none" spc="0" normalizeH="0" baseline="0" noProof="0" dirty="0">
              <a:ln>
                <a:noFill/>
              </a:ln>
              <a:solidFill>
                <a:srgbClr val="77597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ymbol zastępczy tekstu 6">
            <a:extLst>
              <a:ext uri="{FF2B5EF4-FFF2-40B4-BE49-F238E27FC236}">
                <a16:creationId xmlns:a16="http://schemas.microsoft.com/office/drawing/2014/main" xmlns="" id="{73E6F36A-7E7D-4A4B-9E6C-61CD380FA89B}"/>
              </a:ext>
            </a:extLst>
          </p:cNvPr>
          <p:cNvSpPr txBox="1">
            <a:spLocks/>
          </p:cNvSpPr>
          <p:nvPr/>
        </p:nvSpPr>
        <p:spPr>
          <a:xfrm>
            <a:off x="3661497" y="4366375"/>
            <a:ext cx="7415212" cy="133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pl-PL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np. &lt;</a:t>
            </a:r>
            <a:r>
              <a:rPr kumimoji="0" lang="pl-PL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span</a:t>
            </a:r>
            <a:r>
              <a:rPr kumimoji="0" lang="pl-PL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&gt;,</a:t>
            </a:r>
            <a:r>
              <a:rPr kumimoji="0" lang="pl-PL" sz="2400" b="0" i="0" u="none" strike="noStrike" kern="1200" cap="none" spc="0" normalizeH="0" noProof="0" dirty="0" smtClean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&lt;</a:t>
            </a:r>
            <a:r>
              <a:rPr kumimoji="0" lang="pl-PL" sz="2400" b="0" i="0" u="none" strike="noStrike" kern="1200" cap="none" spc="0" normalizeH="0" noProof="0" dirty="0" err="1" smtClean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strong</a:t>
            </a:r>
            <a:r>
              <a:rPr kumimoji="0" lang="pl-PL" sz="2400" b="0" i="0" u="none" strike="noStrike" kern="1200" cap="none" spc="0" normalizeH="0" noProof="0" dirty="0" smtClean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&gt;, &lt;</a:t>
            </a:r>
            <a:r>
              <a:rPr kumimoji="0" lang="pl-PL" sz="2400" b="0" i="0" u="none" strike="noStrike" kern="1200" cap="none" spc="0" normalizeH="0" noProof="0" dirty="0" err="1" smtClean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br</a:t>
            </a:r>
            <a:r>
              <a:rPr kumimoji="0" lang="pl-PL" sz="2400" b="0" i="0" u="none" strike="noStrike" kern="1200" cap="none" spc="0" normalizeH="0" noProof="0" dirty="0" smtClean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&gt;, &lt;a&gt;</a:t>
            </a:r>
            <a:endParaRPr kumimoji="0" lang="pl-PL" sz="2400" b="0" i="0" u="none" strike="noStrike" kern="1200" cap="none" spc="0" normalizeH="0" baseline="0" noProof="0" dirty="0" smtClean="0">
              <a:ln>
                <a:noFill/>
              </a:ln>
              <a:solidFill>
                <a:srgbClr val="51515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pl-PL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Zajmują minimalną szerokość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pl-PL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Nie zaczynają się od nowej </a:t>
            </a:r>
            <a:r>
              <a:rPr kumimoji="0" lang="pl-PL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5151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lini</a:t>
            </a:r>
            <a:endParaRPr kumimoji="0" lang="pl-PL" sz="2400" b="0" i="0" u="none" strike="noStrike" kern="1200" cap="none" spc="0" normalizeH="0" baseline="0" noProof="0" dirty="0">
              <a:ln>
                <a:noFill/>
              </a:ln>
              <a:solidFill>
                <a:srgbClr val="51515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– atrybuty znaczników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sp>
        <p:nvSpPr>
          <p:cNvPr id="12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727364" y="1932708"/>
            <a:ext cx="10764981" cy="706583"/>
          </a:xfrm>
        </p:spPr>
        <p:txBody>
          <a:bodyPr>
            <a:normAutofit/>
          </a:bodyPr>
          <a:lstStyle/>
          <a:p>
            <a:r>
              <a:rPr lang="pl-PL" dirty="0" smtClean="0"/>
              <a:t>Nadawanie cech znacznikom. Dostarczają one dodatkowych informacji o elemencie</a:t>
            </a:r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</p:txBody>
      </p:sp>
      <p:sp>
        <p:nvSpPr>
          <p:cNvPr id="13" name="Symbol zastępczy tekstu 5">
            <a:extLst>
              <a:ext uri="{FF2B5EF4-FFF2-40B4-BE49-F238E27FC236}">
                <a16:creationId xmlns:a16="http://schemas.microsoft.com/office/drawing/2014/main" xmlns="" id="{A8F9FAD7-4658-4528-9CFB-CABFA163E4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78182" y="1105365"/>
            <a:ext cx="7938654" cy="640308"/>
          </a:xfrm>
        </p:spPr>
        <p:txBody>
          <a:bodyPr>
            <a:normAutofit/>
          </a:bodyPr>
          <a:lstStyle/>
          <a:p>
            <a:pPr algn="ctr"/>
            <a:r>
              <a:rPr lang="pl-PL" dirty="0" smtClean="0"/>
              <a:t>&lt;znacznik </a:t>
            </a:r>
            <a:r>
              <a:rPr lang="pl-PL" dirty="0" err="1" smtClean="0"/>
              <a:t>atrybut=„wartość</a:t>
            </a:r>
            <a:r>
              <a:rPr lang="pl-PL" dirty="0" smtClean="0"/>
              <a:t>”&gt;&lt;/znacznik&gt;</a:t>
            </a:r>
            <a:endParaRPr lang="pl-PL" dirty="0"/>
          </a:p>
        </p:txBody>
      </p:sp>
      <p:pic>
        <p:nvPicPr>
          <p:cNvPr id="14" name="Obraz 13" descr="PrzykladyAtrybutó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17" y="2782444"/>
            <a:ext cx="10377303" cy="347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– listy, grafiki, linki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pic>
        <p:nvPicPr>
          <p:cNvPr id="8" name="Symbol zastępczy obrazu 7" descr="strukturaStron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24360" y="1280160"/>
            <a:ext cx="10267008" cy="4673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- zadanie</a:t>
            </a:r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smtClean="0"/>
              <a:t>Autor: Prawa do korzystania z materiałów posiada Software Development Academy</a:t>
            </a:r>
            <a:endParaRPr lang="pl-PL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1953491" y="2036619"/>
            <a:ext cx="8312728" cy="3117272"/>
          </a:xfrm>
        </p:spPr>
        <p:txBody>
          <a:bodyPr>
            <a:normAutofit/>
          </a:bodyPr>
          <a:lstStyle/>
          <a:p>
            <a:pPr algn="ctr"/>
            <a:r>
              <a:rPr lang="pl-PL" dirty="0" smtClean="0"/>
              <a:t>Nowa strona – „Zdjęcie z opisem”</a:t>
            </a:r>
          </a:p>
          <a:p>
            <a:pPr algn="ctr"/>
            <a:endParaRPr lang="pl-PL" dirty="0" smtClean="0"/>
          </a:p>
          <a:p>
            <a:r>
              <a:rPr lang="pl-PL" dirty="0" smtClean="0"/>
              <a:t>Wymagania:</a:t>
            </a:r>
          </a:p>
          <a:p>
            <a:r>
              <a:rPr lang="pl-PL" dirty="0" smtClean="0"/>
              <a:t>- Dostęp przez link za strony „</a:t>
            </a:r>
            <a:r>
              <a:rPr lang="pl-PL" dirty="0" err="1" smtClean="0"/>
              <a:t>Hello</a:t>
            </a:r>
            <a:r>
              <a:rPr lang="pl-PL" dirty="0" smtClean="0"/>
              <a:t> </a:t>
            </a:r>
            <a:r>
              <a:rPr lang="pl-PL" dirty="0" err="1" smtClean="0"/>
              <a:t>World</a:t>
            </a:r>
            <a:r>
              <a:rPr lang="pl-PL" dirty="0" smtClean="0"/>
              <a:t>” </a:t>
            </a:r>
          </a:p>
          <a:p>
            <a:pPr>
              <a:buFontTx/>
              <a:buChar char="-"/>
            </a:pPr>
            <a:r>
              <a:rPr lang="pl-PL" dirty="0" smtClean="0"/>
              <a:t>Wstaw zdjęcie</a:t>
            </a:r>
          </a:p>
          <a:p>
            <a:pPr>
              <a:buFontTx/>
              <a:buChar char="-"/>
            </a:pPr>
            <a:r>
              <a:rPr lang="pl-PL" dirty="0" smtClean="0"/>
              <a:t>Wypunktuj co jest na zdjęciu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– formularz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pic>
        <p:nvPicPr>
          <p:cNvPr id="8" name="Symbol zastępczy obrazu 7" descr="strukturaStron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24359" y="1534412"/>
            <a:ext cx="10510107" cy="42637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- zadanie</a:t>
            </a:r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smtClean="0"/>
              <a:t>Autor: Prawa do korzystania z materiałów posiada Software Development Academy</a:t>
            </a:r>
            <a:endParaRPr lang="pl-PL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1787237" y="2057400"/>
            <a:ext cx="8520546" cy="3387436"/>
          </a:xfrm>
        </p:spPr>
        <p:txBody>
          <a:bodyPr>
            <a:normAutofit/>
          </a:bodyPr>
          <a:lstStyle/>
          <a:p>
            <a:pPr algn="ctr"/>
            <a:r>
              <a:rPr lang="pl-PL" dirty="0" smtClean="0"/>
              <a:t>Nowa strona – „</a:t>
            </a:r>
            <a:r>
              <a:rPr lang="pl-PL" dirty="0" err="1" smtClean="0"/>
              <a:t>Strona</a:t>
            </a:r>
            <a:r>
              <a:rPr lang="pl-PL" dirty="0" smtClean="0"/>
              <a:t> kontaktowa”</a:t>
            </a:r>
          </a:p>
          <a:p>
            <a:pPr algn="ctr"/>
            <a:endParaRPr lang="pl-PL" dirty="0" smtClean="0"/>
          </a:p>
          <a:p>
            <a:r>
              <a:rPr lang="pl-PL" dirty="0" smtClean="0"/>
              <a:t>Wymagania:</a:t>
            </a:r>
          </a:p>
          <a:p>
            <a:pPr>
              <a:buFontTx/>
              <a:buChar char="-"/>
            </a:pPr>
            <a:r>
              <a:rPr lang="pl-PL" dirty="0" smtClean="0"/>
              <a:t>Dostęp z „</a:t>
            </a:r>
            <a:r>
              <a:rPr lang="pl-PL" dirty="0" err="1" smtClean="0"/>
              <a:t>Hello</a:t>
            </a:r>
            <a:r>
              <a:rPr lang="pl-PL" dirty="0" smtClean="0"/>
              <a:t> </a:t>
            </a:r>
            <a:r>
              <a:rPr lang="pl-PL" dirty="0" err="1" smtClean="0"/>
              <a:t>World</a:t>
            </a:r>
            <a:r>
              <a:rPr lang="pl-PL" dirty="0" smtClean="0"/>
              <a:t>”</a:t>
            </a:r>
          </a:p>
          <a:p>
            <a:pPr>
              <a:buFontTx/>
              <a:buChar char="-"/>
            </a:pPr>
            <a:r>
              <a:rPr lang="pl-PL" dirty="0" smtClean="0"/>
              <a:t> Formularz z polami na imię, nazwisko, </a:t>
            </a:r>
            <a:r>
              <a:rPr lang="pl-PL" dirty="0" err="1" smtClean="0"/>
              <a:t>wybor</a:t>
            </a:r>
            <a:r>
              <a:rPr lang="pl-PL" dirty="0" smtClean="0"/>
              <a:t> płci, elementem &lt;</a:t>
            </a:r>
            <a:r>
              <a:rPr lang="pl-PL" dirty="0" err="1" smtClean="0"/>
              <a:t>textarea</a:t>
            </a:r>
            <a:r>
              <a:rPr lang="pl-PL" dirty="0" smtClean="0"/>
              <a:t>&gt; i przyciskiem zatwierdzającym 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– elementy semantyczne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pic>
        <p:nvPicPr>
          <p:cNvPr id="8" name="Symbol zastępczy obrazu 7" descr="strukturaStron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83658" y="1130380"/>
            <a:ext cx="4074542" cy="50683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– definicja i zarys czasowy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xmlns="" id="{7946A36C-97F6-465D-86B7-66783E148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678"/>
            <a:ext cx="10515600" cy="4439737"/>
          </a:xfrm>
        </p:spPr>
        <p:txBody>
          <a:bodyPr/>
          <a:lstStyle/>
          <a:p>
            <a:pPr algn="l"/>
            <a:r>
              <a:rPr lang="pl-PL" dirty="0" smtClean="0"/>
              <a:t>-Kaskadowe arkusze stylów</a:t>
            </a:r>
          </a:p>
          <a:p>
            <a:pPr algn="l">
              <a:buFontTx/>
              <a:buChar char="-"/>
            </a:pPr>
            <a:r>
              <a:rPr lang="pl-PL" dirty="0" smtClean="0"/>
              <a:t>Definiuje w jaki sposób prezentować elementy</a:t>
            </a:r>
          </a:p>
          <a:p>
            <a:pPr algn="l">
              <a:buFontTx/>
              <a:buChar char="-"/>
            </a:pPr>
            <a:r>
              <a:rPr lang="pl-PL" dirty="0" smtClean="0"/>
              <a:t>Początki w 1996r.</a:t>
            </a:r>
          </a:p>
          <a:p>
            <a:pPr algn="l">
              <a:buFontTx/>
              <a:buChar char="-"/>
            </a:pPr>
            <a:r>
              <a:rPr lang="pl-PL" dirty="0" smtClean="0"/>
              <a:t>2012r. CSS3</a:t>
            </a:r>
          </a:p>
          <a:p>
            <a:pPr algn="l">
              <a:buFontTx/>
              <a:buChar char="-"/>
            </a:pPr>
            <a:r>
              <a:rPr lang="pl-PL" dirty="0" smtClean="0"/>
              <a:t>Wdrażane stopniowo – kwestia kompatybilności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xmlns="" id="{A8F9FAD7-4658-4528-9CFB-CABFA163E4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2728" y="1276211"/>
            <a:ext cx="4406900" cy="505457"/>
          </a:xfrm>
        </p:spPr>
        <p:txBody>
          <a:bodyPr/>
          <a:lstStyle/>
          <a:p>
            <a:r>
              <a:rPr lang="pl-PL" dirty="0" err="1" smtClean="0"/>
              <a:t>Cascading</a:t>
            </a:r>
            <a:r>
              <a:rPr lang="pl-PL" dirty="0" smtClean="0"/>
              <a:t> Style </a:t>
            </a:r>
            <a:r>
              <a:rPr lang="pl-PL" dirty="0" err="1" smtClean="0"/>
              <a:t>Sheets</a:t>
            </a:r>
            <a:endParaRPr lang="pl-PL" dirty="0"/>
          </a:p>
        </p:txBody>
      </p:sp>
      <p:pic>
        <p:nvPicPr>
          <p:cNvPr id="8201" name="Picture 9" descr="C:\Users\Kamil\sda\HtmlCssJS\html5Logo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9016301" y="1346402"/>
            <a:ext cx="1530803" cy="2143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– Przykładowe podstawowe właściwości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pic>
        <p:nvPicPr>
          <p:cNvPr id="6" name="Obraz 5" descr="PrzykładC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782" y="1334185"/>
            <a:ext cx="5063110" cy="467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– Umieszczanie na stronie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447040" y="2468880"/>
            <a:ext cx="11328400" cy="2661920"/>
          </a:xfrm>
        </p:spPr>
        <p:txBody>
          <a:bodyPr>
            <a:normAutofit/>
          </a:bodyPr>
          <a:lstStyle/>
          <a:p>
            <a:r>
              <a:rPr lang="pl-PL" dirty="0" smtClean="0"/>
              <a:t>Trzy sposoby:</a:t>
            </a:r>
          </a:p>
          <a:p>
            <a:r>
              <a:rPr lang="pl-PL" dirty="0" smtClean="0"/>
              <a:t>- W elemencie(</a:t>
            </a:r>
            <a:r>
              <a:rPr lang="pl-PL" dirty="0" err="1" smtClean="0"/>
              <a:t>inline</a:t>
            </a:r>
            <a:r>
              <a:rPr lang="pl-PL" dirty="0" smtClean="0"/>
              <a:t>)</a:t>
            </a:r>
          </a:p>
          <a:p>
            <a:r>
              <a:rPr lang="pl-PL" dirty="0" smtClean="0"/>
              <a:t>- Za pomocą znacznika &lt;style&gt;</a:t>
            </a:r>
          </a:p>
          <a:p>
            <a:r>
              <a:rPr lang="pl-PL" dirty="0" smtClean="0"/>
              <a:t>- Jako zewnętrzny plik &lt;- </a:t>
            </a:r>
            <a:r>
              <a:rPr lang="pl-PL" b="1" dirty="0" smtClean="0"/>
              <a:t>najlepsza metoda</a:t>
            </a:r>
            <a:endParaRPr lang="pl-PL" b="1" dirty="0"/>
          </a:p>
        </p:txBody>
      </p:sp>
      <p:pic>
        <p:nvPicPr>
          <p:cNvPr id="5" name="Obraz 4" descr="UmieszczanieSty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252" y="2057271"/>
            <a:ext cx="6126232" cy="263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- zadanie</a:t>
            </a:r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smtClean="0"/>
              <a:t>Autor: Prawa do korzystania z materiałów posiada Software Development Academy</a:t>
            </a:r>
            <a:endParaRPr lang="pl-PL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447040" y="2976880"/>
            <a:ext cx="11328400" cy="1473200"/>
          </a:xfrm>
        </p:spPr>
        <p:txBody>
          <a:bodyPr/>
          <a:lstStyle/>
          <a:p>
            <a:pPr algn="ctr"/>
            <a:r>
              <a:rPr lang="pl-PL" dirty="0" smtClean="0"/>
              <a:t>Delikatnie poprawmy wygląd „</a:t>
            </a:r>
            <a:r>
              <a:rPr lang="pl-PL" dirty="0" err="1" smtClean="0"/>
              <a:t>Hello</a:t>
            </a:r>
            <a:r>
              <a:rPr lang="pl-PL" dirty="0" smtClean="0"/>
              <a:t> </a:t>
            </a:r>
            <a:r>
              <a:rPr lang="pl-PL" dirty="0" err="1" smtClean="0"/>
              <a:t>World</a:t>
            </a:r>
            <a:r>
              <a:rPr lang="pl-PL" dirty="0" smtClean="0"/>
              <a:t>”</a:t>
            </a:r>
          </a:p>
          <a:p>
            <a:pPr algn="ctr"/>
            <a:r>
              <a:rPr lang="pl-PL" dirty="0" smtClean="0"/>
              <a:t>Załączmy zewnętrzny arkusz styli i zmieńmy kolor tekstu paragrafów oraz rozmiar czcionki dla elementów &lt;div&gt;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– selektory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pic>
        <p:nvPicPr>
          <p:cNvPr id="8" name="Obraz 7" descr="Selektory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193" y="1080655"/>
            <a:ext cx="5156390" cy="503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- zadanie</a:t>
            </a:r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smtClean="0"/>
              <a:t>Autor: Prawa do korzystania z materiałów posiada Software Development Academy</a:t>
            </a:r>
            <a:endParaRPr lang="pl-PL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447040" y="2976880"/>
            <a:ext cx="11328400" cy="1473200"/>
          </a:xfrm>
        </p:spPr>
        <p:txBody>
          <a:bodyPr/>
          <a:lstStyle/>
          <a:p>
            <a:pPr algn="ctr"/>
            <a:r>
              <a:rPr lang="pl-PL" dirty="0" smtClean="0"/>
              <a:t>Sprawdźmy selektory w praktyce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– podstawowe właściwości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sp>
        <p:nvSpPr>
          <p:cNvPr id="5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386080" y="1168400"/>
            <a:ext cx="4726247" cy="5059680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pl-PL" dirty="0" smtClean="0"/>
              <a:t>Czcionka</a:t>
            </a:r>
          </a:p>
          <a:p>
            <a:pPr>
              <a:buFontTx/>
              <a:buChar char="-"/>
            </a:pPr>
            <a:r>
              <a:rPr lang="pl-PL" dirty="0" smtClean="0"/>
              <a:t>Tło</a:t>
            </a:r>
          </a:p>
          <a:p>
            <a:pPr>
              <a:buFontTx/>
              <a:buChar char="-"/>
            </a:pPr>
            <a:r>
              <a:rPr lang="pl-PL" dirty="0" smtClean="0"/>
              <a:t>Formatowanie </a:t>
            </a:r>
          </a:p>
        </p:txBody>
      </p:sp>
      <p:pic>
        <p:nvPicPr>
          <p:cNvPr id="6" name="Obraz 5" descr="CssFont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432" y="1092962"/>
            <a:ext cx="8881088" cy="347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– podstawowe właściwości c.d.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sp>
        <p:nvSpPr>
          <p:cNvPr id="5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386080" y="1168400"/>
            <a:ext cx="4726247" cy="5059680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pl-PL" dirty="0" smtClean="0"/>
              <a:t>Marginesy i odstępy</a:t>
            </a:r>
          </a:p>
          <a:p>
            <a:pPr>
              <a:buFontTx/>
              <a:buChar char="-"/>
            </a:pPr>
            <a:r>
              <a:rPr lang="pl-PL" dirty="0" smtClean="0"/>
              <a:t>Obramowanie</a:t>
            </a:r>
          </a:p>
        </p:txBody>
      </p:sp>
      <p:pic>
        <p:nvPicPr>
          <p:cNvPr id="7" name="Obraz 6" descr="CssMarginPaddingB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109" y="1291189"/>
            <a:ext cx="7045036" cy="405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– Model pudełkowy (ang. </a:t>
            </a:r>
            <a:r>
              <a:rPr lang="pl-PL" dirty="0" err="1" smtClean="0"/>
              <a:t>Box</a:t>
            </a:r>
            <a:r>
              <a:rPr lang="pl-PL" dirty="0" smtClean="0"/>
              <a:t> Model)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pic>
        <p:nvPicPr>
          <p:cNvPr id="6" name="Obraz 5" descr="CssBox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672" y="1144842"/>
            <a:ext cx="6130637" cy="491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– podstawowe właściwości c.d.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sp>
        <p:nvSpPr>
          <p:cNvPr id="5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386080" y="1168400"/>
            <a:ext cx="4726247" cy="5059680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pl-PL" dirty="0" smtClean="0"/>
              <a:t>Listy</a:t>
            </a:r>
          </a:p>
          <a:p>
            <a:pPr>
              <a:buFontTx/>
              <a:buChar char="-"/>
            </a:pPr>
            <a:r>
              <a:rPr lang="pl-PL" dirty="0" smtClean="0"/>
              <a:t>Widoczność</a:t>
            </a:r>
          </a:p>
          <a:p>
            <a:pPr>
              <a:buFontTx/>
              <a:buChar char="-"/>
            </a:pPr>
            <a:r>
              <a:rPr lang="pl-PL" dirty="0" smtClean="0"/>
              <a:t>Położenie</a:t>
            </a:r>
          </a:p>
          <a:p>
            <a:pPr>
              <a:buFontTx/>
              <a:buChar char="-"/>
            </a:pPr>
            <a:r>
              <a:rPr lang="pl-PL" dirty="0" smtClean="0"/>
              <a:t>Wymiary</a:t>
            </a:r>
          </a:p>
        </p:txBody>
      </p:sp>
      <p:pic>
        <p:nvPicPr>
          <p:cNvPr id="6" name="Obraz 5" descr="CssListAndO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964" y="1165038"/>
            <a:ext cx="6213763" cy="492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- zadanie</a:t>
            </a:r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smtClean="0"/>
              <a:t>Autor: Prawa do korzystania z materiałów posiada Software Development Academy</a:t>
            </a:r>
            <a:endParaRPr lang="pl-PL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447040" y="2976880"/>
            <a:ext cx="11328400" cy="1473200"/>
          </a:xfrm>
        </p:spPr>
        <p:txBody>
          <a:bodyPr/>
          <a:lstStyle/>
          <a:p>
            <a:pPr algn="ctr"/>
            <a:r>
              <a:rPr lang="pl-PL" dirty="0" smtClean="0"/>
              <a:t>Poprawmy wygląd stron z ćwiczeń HTML</a:t>
            </a:r>
          </a:p>
          <a:p>
            <a:pPr algn="ctr"/>
            <a:r>
              <a:rPr lang="pl-PL" dirty="0" smtClean="0"/>
              <a:t>Zmiana wyglądu tekstu, dodanie tła, obramowania, </a:t>
            </a:r>
            <a:r>
              <a:rPr lang="pl-PL" dirty="0" err="1" smtClean="0"/>
              <a:t>ostylowanie</a:t>
            </a:r>
            <a:r>
              <a:rPr lang="pl-PL" dirty="0" smtClean="0"/>
              <a:t> listy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– </a:t>
            </a:r>
            <a:r>
              <a:rPr lang="pl-PL" dirty="0" err="1" smtClean="0"/>
              <a:t>pseudoklasy</a:t>
            </a:r>
            <a:r>
              <a:rPr lang="pl-PL" dirty="0" smtClean="0"/>
              <a:t> i </a:t>
            </a:r>
            <a:r>
              <a:rPr lang="pl-PL" dirty="0" err="1" smtClean="0"/>
              <a:t>pseudoelementy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sp>
        <p:nvSpPr>
          <p:cNvPr id="5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386080" y="1168400"/>
            <a:ext cx="11328400" cy="5059680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pl-PL" dirty="0" smtClean="0"/>
              <a:t> :link, :</a:t>
            </a:r>
            <a:r>
              <a:rPr lang="pl-PL" dirty="0" err="1" smtClean="0"/>
              <a:t>visited</a:t>
            </a:r>
            <a:r>
              <a:rPr lang="pl-PL" dirty="0" smtClean="0"/>
              <a:t>, :</a:t>
            </a:r>
            <a:r>
              <a:rPr lang="pl-PL" dirty="0" err="1" smtClean="0"/>
              <a:t>hover</a:t>
            </a:r>
            <a:r>
              <a:rPr lang="pl-PL" dirty="0" smtClean="0"/>
              <a:t>, :</a:t>
            </a:r>
            <a:r>
              <a:rPr lang="pl-PL" dirty="0" err="1" smtClean="0"/>
              <a:t>active</a:t>
            </a:r>
            <a:r>
              <a:rPr lang="pl-PL" dirty="0" smtClean="0"/>
              <a:t>, :</a:t>
            </a:r>
            <a:r>
              <a:rPr lang="pl-PL" dirty="0" err="1" smtClean="0"/>
              <a:t>nth-child</a:t>
            </a:r>
            <a:r>
              <a:rPr lang="pl-PL" dirty="0" smtClean="0"/>
              <a:t>(), :</a:t>
            </a:r>
            <a:r>
              <a:rPr lang="pl-PL" dirty="0" err="1" smtClean="0"/>
              <a:t>first-child</a:t>
            </a:r>
            <a:endParaRPr lang="pl-PL" dirty="0" smtClean="0"/>
          </a:p>
          <a:p>
            <a:pPr>
              <a:buFontTx/>
              <a:buChar char="-"/>
            </a:pPr>
            <a:r>
              <a:rPr lang="pl-PL" dirty="0" smtClean="0"/>
              <a:t> ::</a:t>
            </a:r>
            <a:r>
              <a:rPr lang="pl-PL" dirty="0" err="1" smtClean="0"/>
              <a:t>before</a:t>
            </a:r>
            <a:r>
              <a:rPr lang="pl-PL" dirty="0" smtClean="0"/>
              <a:t>, ::</a:t>
            </a:r>
            <a:r>
              <a:rPr lang="pl-PL" dirty="0" err="1" smtClean="0"/>
              <a:t>after</a:t>
            </a:r>
            <a:r>
              <a:rPr lang="pl-PL" dirty="0" smtClean="0"/>
              <a:t>, ::</a:t>
            </a:r>
            <a:r>
              <a:rPr lang="pl-PL" dirty="0" err="1" smtClean="0"/>
              <a:t>first-line</a:t>
            </a:r>
            <a:r>
              <a:rPr lang="pl-PL" dirty="0" smtClean="0"/>
              <a:t>, ::</a:t>
            </a:r>
            <a:r>
              <a:rPr lang="pl-PL" dirty="0" err="1" smtClean="0"/>
              <a:t>first-letter</a:t>
            </a:r>
            <a:r>
              <a:rPr lang="pl-PL" dirty="0" smtClean="0"/>
              <a:t>, ::</a:t>
            </a:r>
            <a:r>
              <a:rPr lang="pl-PL" dirty="0" err="1" smtClean="0"/>
              <a:t>selection</a:t>
            </a:r>
            <a:endParaRPr lang="pl-PL" dirty="0" smtClean="0"/>
          </a:p>
        </p:txBody>
      </p:sp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- zadanie</a:t>
            </a:r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smtClean="0"/>
              <a:t>Autor: Prawa do korzystania z materiałów posiada Software Development Academy</a:t>
            </a:r>
            <a:endParaRPr lang="pl-PL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447040" y="2976880"/>
            <a:ext cx="11328400" cy="1473200"/>
          </a:xfrm>
        </p:spPr>
        <p:txBody>
          <a:bodyPr/>
          <a:lstStyle/>
          <a:p>
            <a:pPr algn="ctr"/>
            <a:r>
              <a:rPr lang="pl-PL" dirty="0" smtClean="0"/>
              <a:t>Poprawmy wygląd stron z ćwiczeń HTML</a:t>
            </a:r>
          </a:p>
          <a:p>
            <a:pPr algn="ctr"/>
            <a:r>
              <a:rPr lang="pl-PL" dirty="0" smtClean="0"/>
              <a:t>Zmodyfikujmy wygląd linków dla „:</a:t>
            </a:r>
            <a:r>
              <a:rPr lang="pl-PL" dirty="0" err="1" smtClean="0"/>
              <a:t>hover</a:t>
            </a:r>
            <a:r>
              <a:rPr lang="pl-PL" dirty="0" smtClean="0"/>
              <a:t>”, „:</a:t>
            </a:r>
            <a:r>
              <a:rPr lang="pl-PL" dirty="0" err="1" smtClean="0"/>
              <a:t>visited</a:t>
            </a:r>
            <a:r>
              <a:rPr lang="pl-PL" dirty="0" smtClean="0"/>
              <a:t>”, „:</a:t>
            </a:r>
            <a:r>
              <a:rPr lang="pl-PL" dirty="0" err="1" smtClean="0"/>
              <a:t>active</a:t>
            </a:r>
            <a:r>
              <a:rPr lang="pl-PL" dirty="0" smtClean="0"/>
              <a:t>”.</a:t>
            </a:r>
            <a:br>
              <a:rPr lang="pl-PL" dirty="0" smtClean="0"/>
            </a:br>
            <a:r>
              <a:rPr lang="pl-PL" dirty="0" smtClean="0"/>
              <a:t>Zmieńmy pierwszą literę paragrafów oraz co drugi element listy.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– podstawowy </a:t>
            </a:r>
            <a:r>
              <a:rPr lang="pl-PL" dirty="0" err="1" smtClean="0"/>
              <a:t>layout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sp>
        <p:nvSpPr>
          <p:cNvPr id="5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386080" y="1168400"/>
            <a:ext cx="11328400" cy="5059680"/>
          </a:xfrm>
        </p:spPr>
        <p:txBody>
          <a:bodyPr>
            <a:normAutofit/>
          </a:bodyPr>
          <a:lstStyle/>
          <a:p>
            <a:r>
              <a:rPr lang="pl-PL" dirty="0" smtClean="0"/>
              <a:t>Display – określa wyświetlania prostokąta(pudełka) elementu</a:t>
            </a:r>
          </a:p>
          <a:p>
            <a:endParaRPr lang="pl-PL" dirty="0" smtClean="0"/>
          </a:p>
          <a:p>
            <a:r>
              <a:rPr lang="pl-PL" dirty="0" smtClean="0"/>
              <a:t>display: </a:t>
            </a:r>
            <a:r>
              <a:rPr lang="pl-PL" dirty="0" err="1" smtClean="0"/>
              <a:t>block</a:t>
            </a:r>
            <a:r>
              <a:rPr lang="pl-PL" dirty="0" smtClean="0"/>
              <a:t>;                            display: </a:t>
            </a:r>
            <a:r>
              <a:rPr lang="pl-PL" dirty="0" err="1" smtClean="0"/>
              <a:t>inline</a:t>
            </a:r>
            <a:r>
              <a:rPr lang="pl-PL" dirty="0" smtClean="0"/>
              <a:t>;                                       display: </a:t>
            </a:r>
            <a:r>
              <a:rPr lang="pl-PL" dirty="0" err="1" smtClean="0"/>
              <a:t>inline-block</a:t>
            </a:r>
            <a:r>
              <a:rPr lang="pl-PL" dirty="0" smtClean="0"/>
              <a:t>;</a:t>
            </a:r>
          </a:p>
          <a:p>
            <a:endParaRPr lang="pl-PL" dirty="0" smtClean="0"/>
          </a:p>
          <a:p>
            <a:endParaRPr lang="pl-PL" dirty="0" smtClean="0"/>
          </a:p>
        </p:txBody>
      </p:sp>
      <p:pic>
        <p:nvPicPr>
          <p:cNvPr id="6" name="Obraz 5" descr="Display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2515636"/>
            <a:ext cx="3200849" cy="2487933"/>
          </a:xfrm>
          <a:prstGeom prst="rect">
            <a:avLst/>
          </a:prstGeom>
        </p:spPr>
      </p:pic>
      <p:pic>
        <p:nvPicPr>
          <p:cNvPr id="7" name="Obraz 6" descr="DisplayIn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8753" y="2609109"/>
            <a:ext cx="4095669" cy="1531091"/>
          </a:xfrm>
          <a:prstGeom prst="rect">
            <a:avLst/>
          </a:prstGeom>
        </p:spPr>
      </p:pic>
      <p:pic>
        <p:nvPicPr>
          <p:cNvPr id="8" name="Obraz 7" descr="DisplayInlineB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421" y="2624290"/>
            <a:ext cx="3412014" cy="171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– podstawowy </a:t>
            </a:r>
            <a:r>
              <a:rPr lang="pl-PL" dirty="0" err="1" smtClean="0"/>
              <a:t>layout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  <p:sp>
        <p:nvSpPr>
          <p:cNvPr id="5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386080" y="1168400"/>
            <a:ext cx="11328400" cy="5059680"/>
          </a:xfrm>
        </p:spPr>
        <p:txBody>
          <a:bodyPr>
            <a:normAutofit/>
          </a:bodyPr>
          <a:lstStyle/>
          <a:p>
            <a:r>
              <a:rPr lang="pl-PL" dirty="0" err="1" smtClean="0"/>
              <a:t>Float</a:t>
            </a:r>
            <a:r>
              <a:rPr lang="pl-PL" dirty="0" smtClean="0"/>
              <a:t> – przesuwa element na lewo lub prawo; Określamy do której strony ma „spłynąć”/”przykleić się”</a:t>
            </a:r>
          </a:p>
          <a:p>
            <a:endParaRPr lang="pl-PL" dirty="0" smtClean="0"/>
          </a:p>
          <a:p>
            <a:r>
              <a:rPr lang="pl-PL" dirty="0" err="1" smtClean="0"/>
              <a:t>float</a:t>
            </a:r>
            <a:r>
              <a:rPr lang="pl-PL" dirty="0" smtClean="0"/>
              <a:t>: </a:t>
            </a:r>
            <a:r>
              <a:rPr lang="pl-PL" dirty="0" err="1" smtClean="0"/>
              <a:t>left</a:t>
            </a:r>
            <a:r>
              <a:rPr lang="pl-PL" dirty="0" smtClean="0"/>
              <a:t>;                                       </a:t>
            </a:r>
            <a:r>
              <a:rPr lang="pl-PL" dirty="0" err="1" smtClean="0"/>
              <a:t>float</a:t>
            </a:r>
            <a:r>
              <a:rPr lang="pl-PL" dirty="0" smtClean="0"/>
              <a:t>: </a:t>
            </a:r>
            <a:r>
              <a:rPr lang="pl-PL" dirty="0" err="1" smtClean="0"/>
              <a:t>right</a:t>
            </a:r>
            <a:r>
              <a:rPr lang="pl-PL" dirty="0" smtClean="0"/>
              <a:t>;                                       </a:t>
            </a:r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r>
              <a:rPr lang="pl-PL" dirty="0" smtClean="0"/>
              <a:t>Clear – czyści </a:t>
            </a:r>
            <a:r>
              <a:rPr lang="pl-PL" dirty="0" err="1" smtClean="0"/>
              <a:t>float</a:t>
            </a:r>
            <a:r>
              <a:rPr lang="pl-PL" dirty="0" smtClean="0"/>
              <a:t> z danej strony; Podajemy z której strony nie chcemy mieć innego </a:t>
            </a:r>
            <a:r>
              <a:rPr lang="pl-PL" dirty="0" err="1" smtClean="0"/>
              <a:t>elemetu</a:t>
            </a:r>
            <a:r>
              <a:rPr lang="pl-PL" dirty="0" smtClean="0"/>
              <a:t> ze zdefiniowanym </a:t>
            </a:r>
            <a:r>
              <a:rPr lang="pl-PL" dirty="0" err="1" smtClean="0"/>
              <a:t>float</a:t>
            </a: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err="1" smtClean="0"/>
              <a:t>Overflow</a:t>
            </a:r>
            <a:r>
              <a:rPr lang="pl-PL" dirty="0" smtClean="0"/>
              <a:t> – definiuje np. czy „przyciąć” zawartość, czy  dodać suwaki</a:t>
            </a:r>
          </a:p>
        </p:txBody>
      </p:sp>
      <p:pic>
        <p:nvPicPr>
          <p:cNvPr id="9" name="Obraz 8" descr="Float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05" y="2837635"/>
            <a:ext cx="3592795" cy="1986537"/>
          </a:xfrm>
          <a:prstGeom prst="rect">
            <a:avLst/>
          </a:prstGeom>
        </p:spPr>
      </p:pic>
      <p:pic>
        <p:nvPicPr>
          <p:cNvPr id="10" name="Obraz 9" descr="Float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790303"/>
            <a:ext cx="3759200" cy="2082562"/>
          </a:xfrm>
          <a:prstGeom prst="rect">
            <a:avLst/>
          </a:prstGeom>
        </p:spPr>
      </p:pic>
      <p:pic>
        <p:nvPicPr>
          <p:cNvPr id="11" name="Obraz 10" descr="FloatOverflowCl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600" y="1822982"/>
            <a:ext cx="3103864" cy="315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- zadanie</a:t>
            </a:r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smtClean="0"/>
              <a:t>Autor: Prawa do korzystania z materiałów posiada Software Development Academy</a:t>
            </a:r>
            <a:endParaRPr lang="pl-PL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447040" y="1808017"/>
            <a:ext cx="11328400" cy="3304309"/>
          </a:xfrm>
        </p:spPr>
        <p:txBody>
          <a:bodyPr>
            <a:normAutofit/>
          </a:bodyPr>
          <a:lstStyle/>
          <a:p>
            <a:pPr algn="ctr"/>
            <a:r>
              <a:rPr lang="pl-PL" dirty="0" smtClean="0"/>
              <a:t>Stwórzmy nową </a:t>
            </a:r>
            <a:r>
              <a:rPr lang="pl-PL" dirty="0" err="1" smtClean="0"/>
              <a:t>podstrone</a:t>
            </a:r>
            <a:r>
              <a:rPr lang="pl-PL" dirty="0" smtClean="0"/>
              <a:t> z semantycznymi elementami HTML</a:t>
            </a:r>
          </a:p>
          <a:p>
            <a:pPr algn="ctr"/>
            <a:endParaRPr lang="pl-PL" dirty="0"/>
          </a:p>
          <a:p>
            <a:pPr algn="ctr"/>
            <a:r>
              <a:rPr lang="pl-PL" dirty="0" smtClean="0"/>
              <a:t>Rozgospodarować elementy schludnie na stronie:</a:t>
            </a:r>
          </a:p>
          <a:p>
            <a:pPr algn="ctr">
              <a:buFontTx/>
              <a:buChar char="-"/>
            </a:pPr>
            <a:r>
              <a:rPr lang="pl-PL" dirty="0" smtClean="0"/>
              <a:t>U góry strony </a:t>
            </a:r>
            <a:r>
              <a:rPr lang="pl-PL" dirty="0" err="1" smtClean="0"/>
              <a:t>header</a:t>
            </a:r>
            <a:r>
              <a:rPr lang="pl-PL" dirty="0" smtClean="0"/>
              <a:t> ze zdjęciem i nagłówkiem. Dodaj też tło.</a:t>
            </a:r>
          </a:p>
          <a:p>
            <a:pPr algn="ctr"/>
            <a:r>
              <a:rPr lang="pl-PL" dirty="0" smtClean="0"/>
              <a:t>-Niżej menu(poziomy pasek z linkami do innych </a:t>
            </a:r>
            <a:r>
              <a:rPr lang="pl-PL" dirty="0" err="1" smtClean="0"/>
              <a:t>podstron</a:t>
            </a:r>
            <a:r>
              <a:rPr lang="pl-PL" dirty="0" smtClean="0"/>
              <a:t>)</a:t>
            </a:r>
          </a:p>
          <a:p>
            <a:pPr algn="ctr"/>
            <a:r>
              <a:rPr lang="pl-PL" dirty="0" smtClean="0"/>
              <a:t>-Po lewej panel boczny</a:t>
            </a:r>
          </a:p>
          <a:p>
            <a:pPr algn="ctr"/>
            <a:r>
              <a:rPr lang="pl-PL" dirty="0" smtClean="0"/>
              <a:t>-Po prawej sekcja główna z artykułami</a:t>
            </a:r>
          </a:p>
          <a:p>
            <a:pPr algn="ctr"/>
            <a:endParaRPr lang="pl-PL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xmlns="" id="{77D3F8F1-D132-4B08-B947-0637DE88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– Na czym polega kaskadowość?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xmlns="" id="{7946A36C-97F6-465D-86B7-66783E148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074"/>
            <a:ext cx="10515600" cy="476034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l-PL" dirty="0" smtClean="0">
                <a:solidFill>
                  <a:schemeClr val="tx1"/>
                </a:solidFill>
              </a:rPr>
              <a:t>- Zwykłe style domyślne przeglądarki.</a:t>
            </a:r>
          </a:p>
          <a:p>
            <a:pPr algn="l"/>
            <a:r>
              <a:rPr lang="pl-PL" dirty="0" smtClean="0">
                <a:solidFill>
                  <a:schemeClr val="tx1"/>
                </a:solidFill>
              </a:rPr>
              <a:t>- Domyślne style przeglądarki z !</a:t>
            </a:r>
            <a:r>
              <a:rPr lang="pl-PL" dirty="0" err="1" smtClean="0">
                <a:solidFill>
                  <a:schemeClr val="tx1"/>
                </a:solidFill>
              </a:rPr>
              <a:t>important</a:t>
            </a:r>
            <a:r>
              <a:rPr lang="pl-PL" dirty="0" smtClean="0">
                <a:solidFill>
                  <a:schemeClr val="tx1"/>
                </a:solidFill>
              </a:rPr>
              <a:t>.</a:t>
            </a:r>
          </a:p>
          <a:p>
            <a:pPr algn="l"/>
            <a:r>
              <a:rPr lang="pl-PL" dirty="0" smtClean="0">
                <a:solidFill>
                  <a:schemeClr val="tx1"/>
                </a:solidFill>
              </a:rPr>
              <a:t>- Zwykłe style zdefiniowane przez użytkownika.</a:t>
            </a:r>
          </a:p>
          <a:p>
            <a:pPr algn="l"/>
            <a:r>
              <a:rPr lang="pl-PL" dirty="0" smtClean="0">
                <a:solidFill>
                  <a:schemeClr val="tx1"/>
                </a:solidFill>
              </a:rPr>
              <a:t>- Zwykłe style zdefiniowane przez programistę strony.</a:t>
            </a:r>
          </a:p>
          <a:p>
            <a:pPr algn="l"/>
            <a:r>
              <a:rPr lang="pl-PL" dirty="0" smtClean="0">
                <a:solidFill>
                  <a:schemeClr val="tx1"/>
                </a:solidFill>
              </a:rPr>
              <a:t>- Style zdefiniowane przez programistę strony z użyciem !</a:t>
            </a:r>
            <a:r>
              <a:rPr lang="pl-PL" dirty="0" err="1" smtClean="0">
                <a:solidFill>
                  <a:schemeClr val="tx1"/>
                </a:solidFill>
              </a:rPr>
              <a:t>important</a:t>
            </a:r>
            <a:r>
              <a:rPr lang="pl-PL" dirty="0" smtClean="0">
                <a:solidFill>
                  <a:schemeClr val="tx1"/>
                </a:solidFill>
              </a:rPr>
              <a:t>.</a:t>
            </a:r>
          </a:p>
          <a:p>
            <a:pPr algn="l"/>
            <a:r>
              <a:rPr lang="pl-PL" dirty="0" smtClean="0">
                <a:solidFill>
                  <a:schemeClr val="tx1"/>
                </a:solidFill>
              </a:rPr>
              <a:t>- Style zdefiniowane po stronie użytkownika z użyciem !</a:t>
            </a:r>
            <a:r>
              <a:rPr lang="pl-PL" dirty="0" err="1" smtClean="0">
                <a:solidFill>
                  <a:schemeClr val="tx1"/>
                </a:solidFill>
              </a:rPr>
              <a:t>important</a:t>
            </a:r>
            <a:r>
              <a:rPr lang="pl-PL" dirty="0" smtClean="0">
                <a:solidFill>
                  <a:schemeClr val="tx1"/>
                </a:solidFill>
              </a:rPr>
              <a:t>.</a:t>
            </a: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>System (!NICE) = (!</a:t>
            </a:r>
            <a:r>
              <a:rPr lang="pl-PL" dirty="0" err="1" smtClean="0"/>
              <a:t>important</a:t>
            </a:r>
            <a:r>
              <a:rPr lang="pl-PL" dirty="0" smtClean="0"/>
              <a:t>, </a:t>
            </a:r>
            <a:r>
              <a:rPr lang="pl-PL" dirty="0" err="1" smtClean="0"/>
              <a:t>iNline</a:t>
            </a:r>
            <a:r>
              <a:rPr lang="pl-PL" dirty="0" smtClean="0"/>
              <a:t>, Id, </a:t>
            </a:r>
            <a:r>
              <a:rPr lang="pl-PL" dirty="0" err="1" smtClean="0"/>
              <a:t>Class</a:t>
            </a:r>
            <a:r>
              <a:rPr lang="pl-PL" dirty="0" smtClean="0"/>
              <a:t>, Element)</a:t>
            </a:r>
          </a:p>
          <a:p>
            <a:pPr algn="l"/>
            <a:endParaRPr lang="pl-PL" dirty="0" smtClean="0"/>
          </a:p>
          <a:p>
            <a:pPr algn="l"/>
            <a:r>
              <a:rPr lang="pl-PL" dirty="0" smtClean="0"/>
              <a:t>(1,0,0,0,0) &gt; (0,1,0,0,0) &gt; (0,0,1,2,0) &gt; (0,0,1,1,1) &gt; (0,0,0,0,1)</a:t>
            </a: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xmlns="" id="{C525A794-9BF7-450C-8512-FCE507F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356350"/>
            <a:ext cx="5491853" cy="365125"/>
          </a:xfrm>
        </p:spPr>
        <p:txBody>
          <a:bodyPr/>
          <a:lstStyle/>
          <a:p>
            <a:r>
              <a:rPr lang="pl-PL" dirty="0" smtClean="0"/>
              <a:t>Autor: Kamil Kowalski </a:t>
            </a:r>
          </a:p>
          <a:p>
            <a:r>
              <a:rPr lang="pl-PL" dirty="0" smtClean="0"/>
              <a:t>Prawa do korzystania z materiałów posiada Software Development </a:t>
            </a:r>
            <a:r>
              <a:rPr lang="pl-PL" dirty="0" err="1" smtClean="0"/>
              <a:t>Academy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xmlns="" val="2728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CSS - jednostki</a:t>
            </a:r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smtClean="0"/>
              <a:t>Autor: Prawa do korzystania z materiałów posiada Software Development Academy</a:t>
            </a:r>
            <a:endParaRPr lang="pl-PL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5"/>
          </p:nvPr>
        </p:nvSpPr>
        <p:spPr>
          <a:xfrm>
            <a:off x="447040" y="1193800"/>
            <a:ext cx="11328400" cy="4978400"/>
          </a:xfrm>
        </p:spPr>
        <p:txBody>
          <a:bodyPr/>
          <a:lstStyle/>
          <a:p>
            <a:pPr algn="ctr"/>
            <a:r>
              <a:rPr lang="pl-PL" dirty="0" err="1" smtClean="0"/>
              <a:t>px</a:t>
            </a:r>
            <a:r>
              <a:rPr lang="pl-PL" dirty="0" smtClean="0"/>
              <a:t> – wartość w pikselach, wartość bezwzględna</a:t>
            </a:r>
          </a:p>
          <a:p>
            <a:pPr algn="ctr"/>
            <a:r>
              <a:rPr lang="pl-PL" dirty="0" smtClean="0"/>
              <a:t>% - wartość procentowa względem bezpośredniego rodzica np. 50%</a:t>
            </a:r>
          </a:p>
          <a:p>
            <a:pPr algn="ctr"/>
            <a:r>
              <a:rPr lang="pl-PL" dirty="0" err="1" smtClean="0"/>
              <a:t>em</a:t>
            </a:r>
            <a:r>
              <a:rPr lang="pl-PL" dirty="0" smtClean="0"/>
              <a:t> – wartość względem bezpośredniego rodzica np. 1.5em</a:t>
            </a:r>
          </a:p>
          <a:p>
            <a:pPr algn="ctr"/>
            <a:r>
              <a:rPr lang="pl-PL" dirty="0" smtClean="0"/>
              <a:t>rem</a:t>
            </a:r>
            <a:r>
              <a:rPr lang="pl-PL" dirty="0" err="1" smtClean="0"/>
              <a:t>(roo</a:t>
            </a:r>
            <a:r>
              <a:rPr lang="pl-PL" dirty="0" smtClean="0"/>
              <a:t>t </a:t>
            </a:r>
            <a:r>
              <a:rPr lang="pl-PL" dirty="0" err="1" smtClean="0"/>
              <a:t>em</a:t>
            </a:r>
            <a:r>
              <a:rPr lang="pl-PL" dirty="0" smtClean="0"/>
              <a:t>) -  względem korzenia tj. elementu &lt;</a:t>
            </a:r>
            <a:r>
              <a:rPr lang="pl-PL" dirty="0" err="1" smtClean="0"/>
              <a:t>html</a:t>
            </a:r>
            <a:r>
              <a:rPr lang="pl-PL" dirty="0" smtClean="0"/>
              <a:t>&gt; </a:t>
            </a:r>
          </a:p>
          <a:p>
            <a:pPr algn="ctr"/>
            <a:r>
              <a:rPr lang="pl-PL" dirty="0" err="1" smtClean="0"/>
              <a:t>vw</a:t>
            </a:r>
            <a:r>
              <a:rPr lang="pl-PL" dirty="0" smtClean="0"/>
              <a:t> i </a:t>
            </a:r>
            <a:r>
              <a:rPr lang="pl-PL" dirty="0" err="1" smtClean="0"/>
              <a:t>vh</a:t>
            </a:r>
            <a:r>
              <a:rPr lang="pl-PL" dirty="0" smtClean="0"/>
              <a:t> – względem wymiarów okna przeglądarki np. 20vw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yw sdacademy.pl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dacademy" id="{67893016-66CC-4482-A66D-1B54E2F35FCD}" vid="{1650B47F-78C2-4EEF-8853-D723D0A5DEAF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SDA - szablon prezentacji</Template>
  <TotalTime>3275</TotalTime>
  <Words>2734</Words>
  <Application>Microsoft Office PowerPoint</Application>
  <PresentationFormat>Niestandardowy</PresentationFormat>
  <Paragraphs>845</Paragraphs>
  <Slides>39</Slides>
  <Notes>37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39</vt:i4>
      </vt:variant>
    </vt:vector>
  </HeadingPairs>
  <TitlesOfParts>
    <vt:vector size="40" baseType="lpstr">
      <vt:lpstr>Motyw sdacademy.pl</vt:lpstr>
      <vt:lpstr>Podstawy HTML, CSS i JavaScript</vt:lpstr>
      <vt:lpstr>Agenda</vt:lpstr>
      <vt:lpstr>Po co? A komu to potrzebne?</vt:lpstr>
      <vt:lpstr>HTML – definicja i zarys czasowy</vt:lpstr>
      <vt:lpstr>HTML – Podstawowa struktura strony</vt:lpstr>
      <vt:lpstr>HTML - Główne znaczniki</vt:lpstr>
      <vt:lpstr>HTML - zadanie</vt:lpstr>
      <vt:lpstr>HTML – znaczniki strukturalne</vt:lpstr>
      <vt:lpstr>HTML – przykładowe zagnieżdżenie</vt:lpstr>
      <vt:lpstr>HTML – przykładowe znaczniki formatujące</vt:lpstr>
      <vt:lpstr>HTML – kolejne znaczniki</vt:lpstr>
      <vt:lpstr>HTML – kolejne znaczniki</vt:lpstr>
      <vt:lpstr>HTML – Dlaczego wybór znaczników jest ważny?</vt:lpstr>
      <vt:lpstr>HTML - zadanie</vt:lpstr>
      <vt:lpstr>HTML – elementy blokowe i liniowe</vt:lpstr>
      <vt:lpstr>HTML – atrybuty znaczników</vt:lpstr>
      <vt:lpstr>HTML – listy, grafiki, linki</vt:lpstr>
      <vt:lpstr>HTML - zadanie</vt:lpstr>
      <vt:lpstr>HTML – formularz</vt:lpstr>
      <vt:lpstr>HTML - zadanie</vt:lpstr>
      <vt:lpstr>HTML – elementy semantyczne</vt:lpstr>
      <vt:lpstr>CSS – definicja i zarys czasowy</vt:lpstr>
      <vt:lpstr>CSS – Przykładowe podstawowe właściwości</vt:lpstr>
      <vt:lpstr>CSS – Umieszczanie na stronie</vt:lpstr>
      <vt:lpstr>CSS - zadanie</vt:lpstr>
      <vt:lpstr>CSS – selektory</vt:lpstr>
      <vt:lpstr>CSS - zadanie</vt:lpstr>
      <vt:lpstr>CSS – podstawowe właściwości</vt:lpstr>
      <vt:lpstr>CSS – podstawowe właściwości c.d.</vt:lpstr>
      <vt:lpstr>CSS – Model pudełkowy (ang. Box Model)</vt:lpstr>
      <vt:lpstr>CSS – podstawowe właściwości c.d.</vt:lpstr>
      <vt:lpstr>CSS - zadanie</vt:lpstr>
      <vt:lpstr>CSS – pseudoklasy i pseudoelementy</vt:lpstr>
      <vt:lpstr>CSS - zadanie</vt:lpstr>
      <vt:lpstr>CSS – podstawowy layout</vt:lpstr>
      <vt:lpstr>CSS – podstawowy layout</vt:lpstr>
      <vt:lpstr>CSS - zadanie</vt:lpstr>
      <vt:lpstr>CSS – Na czym polega kaskadowość?</vt:lpstr>
      <vt:lpstr>CSS - jednostki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Pomorska Fundacja Inicjatyw Gospodarczych</dc:creator>
  <cp:lastModifiedBy>bkow1</cp:lastModifiedBy>
  <cp:revision>207</cp:revision>
  <dcterms:created xsi:type="dcterms:W3CDTF">2016-06-24T11:21:15Z</dcterms:created>
  <dcterms:modified xsi:type="dcterms:W3CDTF">2018-06-15T15:16:17Z</dcterms:modified>
</cp:coreProperties>
</file>